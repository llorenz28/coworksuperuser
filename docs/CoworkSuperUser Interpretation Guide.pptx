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0" cy="109728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Cowork Super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78992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Aptos"/>
              </a:rPr>
              <a:t>Interpretation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0">
                <a:solidFill>
                  <a:srgbClr val="D8E8E2"/>
                </a:solidFill>
                <a:latin typeface="Aptos"/>
              </a:rPr>
              <a:t>A consultant’s page-by-page guide to reading adoption, concentration, trends, value assumptions, and share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977639"/>
            <a:ext cx="3840480" cy="1143000"/>
          </a:xfrm>
          <a:prstGeom prst="roundRect">
            <a:avLst/>
          </a:prstGeom>
          <a:solidFill>
            <a:srgbClr val="22544B"/>
          </a:solidFill>
          <a:ln>
            <a:solidFill>
              <a:srgbClr val="225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24528"/>
            <a:ext cx="3429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70B1A3"/>
                </a:solidFill>
                <a:latin typeface="Aptos"/>
              </a:rPr>
              <a:t>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35424"/>
            <a:ext cx="34290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Screenshots captured from the PBIX using fully synthetic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72200"/>
            <a:ext cx="10789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BED3CC"/>
                </a:solidFill>
                <a:latin typeface="Aptos"/>
              </a:rPr>
              <a:t>Source report: Cowork Super User V1 PBIX.pbix  |  Created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The three numbers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Start every executive conversation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18872" cy="2834640"/>
          </a:xfrm>
          <a:prstGeom prst="rect">
            <a:avLst/>
          </a:prstGeom>
          <a:solidFill>
            <a:srgbClr val="12239E"/>
          </a:solidFill>
          <a:ln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2239E"/>
                </a:solidFill>
                <a:latin typeface="Aptos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 i="0">
                <a:solidFill>
                  <a:srgbClr val="174039"/>
                </a:solidFill>
                <a:latin typeface="Aptos"/>
              </a:rPr>
              <a:t>219 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27889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 i="0">
                <a:solidFill>
                  <a:srgbClr val="605E5C"/>
                </a:solidFill>
                <a:latin typeface="Aptos"/>
              </a:rPr>
              <a:t>How broadly Cowork is being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118872" cy="2834640"/>
          </a:xfrm>
          <a:prstGeom prst="rect">
            <a:avLst/>
          </a:prstGeom>
          <a:solidFill>
            <a:srgbClr val="C5892D"/>
          </a:solidFill>
          <a:ln>
            <a:solidFill>
              <a:srgbClr val="C5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600200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C5892D"/>
                </a:solidFill>
                <a:latin typeface="Aptos"/>
              </a:rPr>
              <a:t>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03120"/>
            <a:ext cx="28346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 i="0">
                <a:solidFill>
                  <a:srgbClr val="174039"/>
                </a:solidFill>
                <a:latin typeface="Aptos"/>
              </a:rPr>
              <a:t>170K credits / user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27889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 i="0">
                <a:solidFill>
                  <a:srgbClr val="605E5C"/>
                </a:solidFill>
                <a:latin typeface="Aptos"/>
              </a:rPr>
              <a:t>How deeply users consume the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32588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325880"/>
            <a:ext cx="118872" cy="2834640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70B1A3"/>
                </a:solidFill>
                <a:latin typeface="Aptos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103120"/>
            <a:ext cx="28346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300" b="1" i="0">
                <a:solidFill>
                  <a:srgbClr val="174039"/>
                </a:solidFill>
                <a:latin typeface="Aptos"/>
              </a:rPr>
              <a:t>6.09× value / credit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80360"/>
            <a:ext cx="27889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0" i="0">
                <a:solidFill>
                  <a:srgbClr val="605E5C"/>
                </a:solidFill>
                <a:latin typeface="Aptos"/>
              </a:rPr>
              <a:t>Modeled value relative to attributable credit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10972800" cy="128016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681728"/>
            <a:ext cx="10515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12239E"/>
                </a:solidFill>
                <a:latin typeface="Aptos"/>
              </a:rPr>
              <a:t>Consultant storyline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47488"/>
            <a:ext cx="10424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0" i="0">
                <a:solidFill>
                  <a:srgbClr val="174039"/>
                </a:solidFill>
                <a:latin typeface="Aptos"/>
              </a:rPr>
              <a:t>Reach establishes scale. Intensity reveals concentration and operating behavior. Modeled value tests whether selected assumptions make the consumption economically meaningful.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These figures are from the synthetic demo state and will change with filters and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How to use this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Move from evidence to interpretation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371600"/>
            <a:ext cx="475488" cy="475488"/>
          </a:xfrm>
          <a:prstGeom prst="round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35608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7160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74039"/>
                </a:solidFill>
                <a:latin typeface="Aptos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371600"/>
            <a:ext cx="7772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Read the page headline, period comparison, filters, and dominant visual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" y="2514600"/>
            <a:ext cx="475488" cy="475488"/>
          </a:xfrm>
          <a:prstGeom prst="round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51460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74039"/>
                </a:solidFill>
                <a:latin typeface="Aptos"/>
              </a:rPr>
              <a:t>Interpret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14600"/>
            <a:ext cx="7772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Explain the business mechanism: breadth, intensity, task mix, price, or time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3657600"/>
            <a:ext cx="475488" cy="475488"/>
          </a:xfrm>
          <a:prstGeom prst="round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721608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65760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74039"/>
                </a:solidFill>
                <a:latin typeface="Aptos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657600"/>
            <a:ext cx="7772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Test alternative groupings, periods, departments, and assumptions before drawing conclusions.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2688" y="4800600"/>
            <a:ext cx="475488" cy="475488"/>
          </a:xfrm>
          <a:prstGeom prst="round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864607"/>
            <a:ext cx="475488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80060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74039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800600"/>
            <a:ext cx="7772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Translate the pattern into an enablement, governance, validation, or measurement 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70448"/>
            <a:ext cx="10698480" cy="5029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998464"/>
            <a:ext cx="103327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C5892D"/>
                </a:solidFill>
                <a:latin typeface="Aptos"/>
              </a:rPr>
              <a:t>Important: modeled value is directional—not guaranteed realized savings. Validate assumptions with customer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The consultant’s reading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Build the story from scale to economics, then validate the definitions.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5331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9844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0934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Establish reach, activity, and task-type mix.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7043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29844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Cost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0934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Find high-intensity cohorts and behaviors.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0487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58775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3288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4378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Separate volume growth from credits-per-task movement.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40487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58775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3288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Group Breakdown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4378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Diagnose when and what drove cohort spend.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3931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82219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76732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Share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7822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See which cohorts and departments are gaining influence.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63931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82219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76732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Category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07822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Validate the time-saved inputs.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7375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505663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Value Assumptions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31266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Translate usage into directional economics.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873752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5056632"/>
            <a:ext cx="3657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12239E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001768"/>
            <a:ext cx="21945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74039"/>
                </a:solidFill>
                <a:latin typeface="Aptos"/>
              </a:rPr>
              <a:t>Metric Glossary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12664"/>
            <a:ext cx="4297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Confirm definitions, sources, and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1. Cowork Usage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Who uses Cowork, for what, and at what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Is adoption broad, sustained, and economically understandable?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Read KPI cards first; then compare weekly tasks with credits.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Use tier and department tables to test concentration.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Confirm whether growth is broad or driven by a few users.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Choose the next drill-down: concentration or task mix.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Credits are consumption, not business value. Do not equate higher credits with better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2. Cost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Where spend is concentrated—and what high-usage cohorts do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-cost-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Do the highest-usage users consume more because they do more tasks or because each task costs more?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Compare credit share with task share.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Use “vs rest” heatmaps to isolate category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Interview high-intensity cohorts for repeatable practices.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Flag unusual credits/task patterns for governance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Tier labels rank users by credits; they are descriptive cohorts, not performance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3. Trends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Distinguish volume-led growth from price or task-complexity movement.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-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What changed—and was it more tasks, more credits per task, or both?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Start with the three change cards and growth driver.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Use bubble quadrants and the contribution table to identify causes.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Investigate categories in the upper-right quadrant first.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Connect spikes to launches, campaigns, or workflow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A higher credits/task ratio can reflect complexity or inefficiency; the report alone cannot decide which.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4. Group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Diagnose the weeks, categories, and task types behind cohort consumption.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-group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Which cohort drove the spend, when did it happen, and what work was behind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Click heatmap peaks, then read category and task-type mix.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Drill from tiers to users only when a specific pattern warrants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Turn recurring high-value patterns into enablement examples.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Escalate anomalous scheduled-task concentrations for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Avoid presenting individual-user drill-downs as employee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5. Appendix – Share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See who is gaining or losing share of total credit consumption.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-share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Which cohorts or departments are becoming more influential—even if total usage also grows?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Ribbon crossings show cohort overtakes over time.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Separate absolute growth from percentage-point share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Target enablement where share and absolute credits rise together.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Investigate share loss before assuming adoption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Share can fall while credits rise if other cohorts grow faster.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6. Category Time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Validate the minutes-saved assumptions that drive modeled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-category-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Are the selected minutes per task credible for this customer and use case?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Compare customer minutes with research low/typical/high.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Review department-level hours for scale implications.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Run a stakeholder calibration workshop.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Document overrides and evidence before executive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Research ranges are starting points; customer validation is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7. Value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Translate observed activity into directional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-value-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 dirty="0">
                <a:solidFill>
                  <a:srgbClr val="174039"/>
                </a:solidFill>
                <a:latin typeface="Aptos"/>
              </a:rPr>
              <a:t>Under the selected assumptions, where is modeled value strongest and most sensitive?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Set estimate basis, realization, labor value, and credit rate.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Compare category and department economics, then audit the calculation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Present a low/typical/high sensitivity range.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Use the model to prioritize validation—not to claim realized savings.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Value per credit cost is a scenario multiple, not enterprise ROI or booked savings.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8. Metric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Confirm definitions, lineage, controls, and known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-metric-gloss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635"/>
            <a:ext cx="7452360" cy="398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078992"/>
            <a:ext cx="3566160" cy="960120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225296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KEY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499616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174039"/>
                </a:solidFill>
                <a:latin typeface="Aptos"/>
              </a:rPr>
              <a:t>Does everyone mean the same thing when they quote a metric?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2176272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23134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HOW TO READ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Filter by page before reviewing terms.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Check the Source column: source data, calculated, estimated, control, or needs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3822191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395935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CONSULTANT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3246120" cy="822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Resolve “needs review” items before business decisions.</a:t>
            </a:r>
          </a:p>
          <a:p>
            <a:pPr>
              <a:spcAft>
                <a:spcPts val="500"/>
              </a:spcAft>
              <a:defRPr sz="1100">
                <a:solidFill>
                  <a:srgbClr val="242424"/>
                </a:solidFill>
                <a:latin typeface="Aptos"/>
              </a:defRPr>
            </a:pPr>
            <a:r>
              <a:t>• Use glossary language in executive readouts and 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5376672"/>
            <a:ext cx="3566160" cy="960120"/>
          </a:xfrm>
          <a:prstGeom prst="roundRect">
            <a:avLst/>
          </a:prstGeom>
          <a:solidFill>
            <a:srgbClr val="FFF8EB"/>
          </a:solidFill>
          <a:ln>
            <a:solidFill>
              <a:srgbClr val="E7C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5513832"/>
            <a:ext cx="3200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C5892D"/>
                </a:solidFill>
                <a:latin typeface="Aptos"/>
              </a:rPr>
              <a:t>WATCH-OUT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5797296"/>
            <a:ext cx="3154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05E5C"/>
                </a:solidFill>
                <a:latin typeface="Aptos"/>
              </a:rPr>
              <a:t>A precise definition matters more than a persuasive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Interpretation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Use the report confidently without overstating what the data proves.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1417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70B1A3"/>
                </a:solidFill>
                <a:latin typeface="Aptos"/>
              </a:rP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344168"/>
            <a:ext cx="864108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Users, tasks, credits, categories, and timing come from the connected source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1417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12239E"/>
                </a:solidFill>
                <a:latin typeface="Aptos"/>
              </a:rPr>
              <a:t>Calculated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41448"/>
            <a:ext cx="864108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Shares, ranks, trends, and comparisons are computed from observed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1417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C5892D"/>
                </a:solidFill>
                <a:latin typeface="Aptos"/>
              </a:rPr>
              <a:t>Modeled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538728"/>
            <a:ext cx="864108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Time saved, gross value, net value, and value multiples depend on selected assumptions.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59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1417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C54841"/>
                </a:solidFill>
                <a:latin typeface="Aptos"/>
              </a:rPr>
              <a:t>Not inferred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636007"/>
            <a:ext cx="864108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The report does not prove task quality, employee performance, causality, or realized savings.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96712"/>
            <a:ext cx="10698480" cy="621792"/>
          </a:xfrm>
          <a:prstGeom prst="roundRect">
            <a:avLst/>
          </a:prstGeom>
          <a:solidFill>
            <a:srgbClr val="F1F6F4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879592"/>
            <a:ext cx="10195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174039"/>
                </a:solidFill>
                <a:latin typeface="Aptos"/>
              </a:rPr>
              <a:t>Consultant standard: state the evidence layer explicitly whenever presenting a conclusion.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8813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 i="0">
                <a:solidFill>
                  <a:srgbClr val="174039"/>
                </a:solidFill>
                <a:latin typeface="Aptos"/>
              </a:rPr>
              <a:t>Your first 30 days with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  <a:latin typeface="Aptos"/>
              </a:rPr>
              <a:t>A practical consultant cadence for moving from demo to governed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92608"/>
            <a:ext cx="3200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605E5C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560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2560320" cy="475488"/>
          </a:xfrm>
          <a:prstGeom prst="rect">
            <a:avLst/>
          </a:prstGeom>
          <a:solidFill>
            <a:srgbClr val="12239E"/>
          </a:solidFill>
          <a:ln>
            <a:solidFill>
              <a:srgbClr val="122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81328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174039"/>
                </a:solidFill>
                <a:latin typeface="Aptos"/>
              </a:rPr>
              <a:t>Confirm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40"/>
            <a:ext cx="214884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Validate file schema, date range, user joins, categories, and synthetic-vs-production source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09160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010912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74039"/>
                </a:solidFill>
                <a:latin typeface="Aptos"/>
              </a:rPr>
              <a:t>Data-quality sign-off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560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371600"/>
            <a:ext cx="2560320" cy="475488"/>
          </a:xfrm>
          <a:prstGeom prst="rect">
            <a:avLst/>
          </a:prstGeom>
          <a:solidFill>
            <a:srgbClr val="70B1A3"/>
          </a:solidFill>
          <a:ln>
            <a:solidFill>
              <a:srgbClr val="70B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481328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031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174039"/>
                </a:solidFill>
                <a:latin typeface="Aptos"/>
              </a:rPr>
              <a:t>Calibrate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214884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Agree time-saved ranges, labor value, realization factor, and attributable credit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09160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Deliverable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10912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74039"/>
                </a:solidFill>
                <a:latin typeface="Aptos"/>
              </a:rPr>
              <a:t>Assumption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71600"/>
            <a:ext cx="2560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560320" cy="475488"/>
          </a:xfrm>
          <a:prstGeom prst="rect">
            <a:avLst/>
          </a:prstGeom>
          <a:solidFill>
            <a:srgbClr val="C5892D"/>
          </a:solidFill>
          <a:ln>
            <a:solidFill>
              <a:srgbClr val="C5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1481328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174039"/>
                </a:solidFill>
                <a:latin typeface="Aptos"/>
              </a:rPr>
              <a:t>Diagnose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214884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Review concentration, growth drivers, cohort shifts, and department outliers with owners.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9160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10912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74039"/>
                </a:solidFill>
                <a:latin typeface="Aptos"/>
              </a:rPr>
              <a:t>Insight and risk 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371600"/>
            <a:ext cx="2560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2560320" cy="475488"/>
          </a:xfrm>
          <a:prstGeom prst="rect">
            <a:avLst/>
          </a:prstGeom>
          <a:solidFill>
            <a:srgbClr val="174039"/>
          </a:solidFill>
          <a:ln>
            <a:solidFill>
              <a:srgbClr val="174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1481328"/>
            <a:ext cx="22402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03120"/>
            <a:ext cx="214884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174039"/>
                </a:solidFill>
                <a:latin typeface="Aptos"/>
              </a:rPr>
              <a:t>Commit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834640"/>
            <a:ext cx="2148840" cy="1508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605E5C"/>
                </a:solidFill>
                <a:latin typeface="Aptos"/>
              </a:rPr>
              <a:t>Select enablement experiments, governance checks, owners, success metrics, and review dates.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709160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2239E"/>
                </a:solidFill>
                <a:latin typeface="Aptos"/>
              </a:rPr>
              <a:t>Deliverable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010912"/>
            <a:ext cx="2148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74039"/>
                </a:solidFill>
                <a:latin typeface="Aptos"/>
              </a:rPr>
              <a:t>30/60/90-day action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0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89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 i="0">
                <a:solidFill>
                  <a:srgbClr val="70B1A3"/>
                </a:solidFill>
                <a:latin typeface="Aptos"/>
              </a:rPr>
              <a:t>The consultant’s closing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What decision will change because of this insight?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987552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i="0">
                <a:solidFill>
                  <a:srgbClr val="D8E8E2"/>
                </a:solidFill>
                <a:latin typeface="Aptos"/>
              </a:rPr>
              <a:t>If the answer is unclear, return to the evidence layer, challenge the assumptions, and narrow the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10698480" cy="822960"/>
          </a:xfrm>
          <a:prstGeom prst="roundRect">
            <a:avLst/>
          </a:prstGeom>
          <a:solidFill>
            <a:srgbClr val="22544B"/>
          </a:solidFill>
          <a:ln>
            <a:solidFill>
              <a:srgbClr val="225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956048"/>
            <a:ext cx="10241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Observe → Interpret → Challenge →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BED3CC"/>
                </a:solidFill>
                <a:latin typeface="Aptos"/>
              </a:rPr>
              <a:t>Cowork Super User V1 · Interpretation Guide · Synthetic demonstration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1392</Words>
  <Application>Microsoft Office PowerPoint</Application>
  <PresentationFormat>Widescreen</PresentationFormat>
  <Paragraphs>208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 Super User V1 - Interpretation Guide</dc:title>
  <dc:subject>Page-by-page consultant interpretation guide using synthetic PBIX screenshots</dc:subject>
  <dc:creator>Microsoft Copilot</dc:creator>
  <cp:keywords/>
  <dc:description>generated using python-pptx</dc:description>
  <cp:lastModifiedBy>Luz Lorenz</cp:lastModifiedBy>
  <cp:revision>2</cp:revision>
  <dcterms:created xsi:type="dcterms:W3CDTF">2013-01-27T09:14:16Z</dcterms:created>
  <dcterms:modified xsi:type="dcterms:W3CDTF">2026-10-27T14:34:15Z</dcterms:modified>
  <cp:category/>
</cp:coreProperties>
</file>