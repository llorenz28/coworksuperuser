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8F7FB"/>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6B4EA2"/>
          </a:solidFill>
          <a:ln w="12700">
            <a:solidFill>
              <a:srgbClr val="6B4EA2"/>
            </a:solidFill>
            <a:prstDash val="solid"/>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11F5E"/>
        </a:solidFill>
      </p:bgPr>
    </p:bg>
    <p:spTree>
      <p:nvGrpSpPr>
        <p:cNvPr id="1" name=""/>
        <p:cNvGrpSpPr/>
        <p:nvPr/>
      </p:nvGrpSpPr>
      <p:grpSpPr>
        <a:xfrm>
          <a:off x="0" y="0"/>
          <a:ext cx="0" cy="0"/>
          <a:chOff x="0" y="0"/>
          <a:chExt cx="0" cy="0"/>
        </a:xfrm>
      </p:grpSpPr>
      <p:sp>
        <p:nvSpPr>
          <p:cNvPr id="2" name="Shape 0"/>
          <p:cNvSpPr/>
          <p:nvPr/>
        </p:nvSpPr>
        <p:spPr>
          <a:xfrm>
            <a:off x="8046720" y="-1554480"/>
            <a:ext cx="5669280" cy="5669280"/>
          </a:xfrm>
          <a:prstGeom prst="ellipse">
            <a:avLst/>
          </a:prstGeom>
          <a:solidFill>
            <a:srgbClr val="6B4EA2">
              <a:alpha val="82000"/>
            </a:srgbClr>
          </a:solidFill>
          <a:ln w="12700">
            <a:solidFill>
              <a:srgbClr val="6B4EA2">
                <a:alpha val="0"/>
              </a:srgbClr>
            </a:solidFill>
            <a:prstDash val="solid"/>
          </a:ln>
        </p:spPr>
      </p:sp>
      <p:sp>
        <p:nvSpPr>
          <p:cNvPr id="3" name="Shape 1"/>
          <p:cNvSpPr/>
          <p:nvPr/>
        </p:nvSpPr>
        <p:spPr>
          <a:xfrm>
            <a:off x="594360" y="475488"/>
            <a:ext cx="1691640" cy="310896"/>
          </a:xfrm>
          <a:prstGeom prst="roundRect">
            <a:avLst>
              <a:gd name="adj" fmla="val 23529"/>
            </a:avLst>
          </a:prstGeom>
          <a:solidFill>
            <a:srgbClr val="168B82"/>
          </a:solidFill>
          <a:ln w="12700">
            <a:solidFill>
              <a:srgbClr val="168B82"/>
            </a:solidFill>
            <a:prstDash val="solid"/>
          </a:ln>
        </p:spPr>
      </p:sp>
      <p:sp>
        <p:nvSpPr>
          <p:cNvPr id="4" name="Text 2"/>
          <p:cNvSpPr/>
          <p:nvPr/>
        </p:nvSpPr>
        <p:spPr>
          <a:xfrm>
            <a:off x="667512" y="530352"/>
            <a:ext cx="1545336" cy="155448"/>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VERSION 1.0 | PUBLIC</a:t>
            </a:r>
            <a:endParaRPr lang="en-US" sz="900" dirty="0"/>
          </a:p>
        </p:txBody>
      </p:sp>
      <p:sp>
        <p:nvSpPr>
          <p:cNvPr id="5" name="Text 3"/>
          <p:cNvSpPr/>
          <p:nvPr/>
        </p:nvSpPr>
        <p:spPr>
          <a:xfrm>
            <a:off x="594360" y="1298448"/>
            <a:ext cx="4892040" cy="658368"/>
          </a:xfrm>
          <a:prstGeom prst="rect">
            <a:avLst/>
          </a:prstGeom>
          <a:noFill/>
          <a:ln/>
        </p:spPr>
        <p:txBody>
          <a:bodyPr wrap="square" lIns="0" tIns="0" rIns="0" bIns="0" rtlCol="0" anchor="ctr"/>
          <a:lstStyle/>
          <a:p>
            <a:pPr indent="0" marL="0">
              <a:buNone/>
            </a:pPr>
            <a:r>
              <a:rPr lang="en-US" sz="3500" b="1" dirty="0">
                <a:solidFill>
                  <a:srgbClr val="FFFFFF"/>
                </a:solidFill>
                <a:latin typeface="Segoe UI Semibold" pitchFamily="34" charset="0"/>
                <a:ea typeface="Segoe UI Semibold" pitchFamily="34" charset="-122"/>
                <a:cs typeface="Segoe UI Semibold" pitchFamily="34" charset="-120"/>
              </a:rPr>
              <a:t>CoworkSuperUser</a:t>
            </a:r>
            <a:endParaRPr lang="en-US" sz="3500" dirty="0"/>
          </a:p>
        </p:txBody>
      </p:sp>
      <p:sp>
        <p:nvSpPr>
          <p:cNvPr id="6" name="Text 4"/>
          <p:cNvSpPr/>
          <p:nvPr/>
        </p:nvSpPr>
        <p:spPr>
          <a:xfrm>
            <a:off x="594360" y="2011680"/>
            <a:ext cx="5029200" cy="411480"/>
          </a:xfrm>
          <a:prstGeom prst="rect">
            <a:avLst/>
          </a:prstGeom>
          <a:noFill/>
          <a:ln/>
        </p:spPr>
        <p:txBody>
          <a:bodyPr wrap="square" lIns="0" tIns="0" rIns="0" bIns="0" rtlCol="0" anchor="ctr"/>
          <a:lstStyle/>
          <a:p>
            <a:pPr indent="0" marL="0">
              <a:buNone/>
            </a:pPr>
            <a:r>
              <a:rPr lang="en-US" sz="2100" dirty="0">
                <a:solidFill>
                  <a:srgbClr val="D8CCE9"/>
                </a:solidFill>
                <a:latin typeface="Segoe UI" pitchFamily="34" charset="0"/>
                <a:ea typeface="Segoe UI" pitchFamily="34" charset="-122"/>
                <a:cs typeface="Segoe UI" pitchFamily="34" charset="-120"/>
              </a:rPr>
              <a:t>Interpretation Storyboard</a:t>
            </a:r>
            <a:endParaRPr lang="en-US" sz="2100" dirty="0"/>
          </a:p>
        </p:txBody>
      </p:sp>
      <p:sp>
        <p:nvSpPr>
          <p:cNvPr id="7" name="Text 5"/>
          <p:cNvSpPr/>
          <p:nvPr/>
        </p:nvSpPr>
        <p:spPr>
          <a:xfrm>
            <a:off x="594360" y="2743200"/>
            <a:ext cx="4754880" cy="1005840"/>
          </a:xfrm>
          <a:prstGeom prst="rect">
            <a:avLst/>
          </a:prstGeom>
          <a:noFill/>
          <a:ln/>
        </p:spPr>
        <p:txBody>
          <a:bodyPr wrap="square" lIns="0" tIns="0" rIns="0" bIns="0" rtlCol="0" anchor="ctr"/>
          <a:lstStyle/>
          <a:p>
            <a:pPr indent="0" marL="0">
              <a:buNone/>
            </a:pPr>
            <a:r>
              <a:rPr lang="en-US" sz="1600" dirty="0">
                <a:solidFill>
                  <a:srgbClr val="FFFFFF"/>
                </a:solidFill>
                <a:latin typeface="Segoe UI" pitchFamily="34" charset="0"/>
                <a:ea typeface="Segoe UI" pitchFamily="34" charset="-122"/>
                <a:cs typeface="Segoe UI" pitchFamily="34" charset="-120"/>
              </a:rPr>
              <a:t>A practical operating guide for Cowork reach, return, usage stages, consumption, potential champions, work-pattern context, and defensible action.</a:t>
            </a:r>
            <a:endParaRPr lang="en-US" sz="1600" dirty="0"/>
          </a:p>
        </p:txBody>
      </p:sp>
      <p:sp>
        <p:nvSpPr>
          <p:cNvPr id="8" name="Shape 6"/>
          <p:cNvSpPr/>
          <p:nvPr/>
        </p:nvSpPr>
        <p:spPr>
          <a:xfrm>
            <a:off x="5623560" y="685800"/>
            <a:ext cx="5943600" cy="5257800"/>
          </a:xfrm>
          <a:prstGeom prst="roundRect">
            <a:avLst>
              <a:gd name="adj" fmla="val 1391"/>
            </a:avLst>
          </a:prstGeom>
          <a:solidFill>
            <a:srgbClr val="FFFFFF"/>
          </a:solidFill>
          <a:ln w="17780">
            <a:solidFill>
              <a:srgbClr val="A997C8"/>
            </a:solidFill>
            <a:prstDash val="solid"/>
          </a:ln>
          <a:effectLst>
            <a:outerShdw sx="100000" sy="100000" kx="0" ky="0" algn="bl" rotWithShape="0" blurRad="38100" dist="50800" dir="2700000">
              <a:srgbClr val="160E2C">
                <a:alpha val="34000"/>
              </a:srgbClr>
            </a:outerShdw>
          </a:effectLst>
        </p:spPr>
      </p:sp>
      <p:pic>
        <p:nvPicPr>
          <p:cNvPr id="9" name="Image 0" descr="C:\Users\luzlorenz\OneDrive - Microsoft\Documents\Microsoft Scout\CoworkSuperUser\images\report-pages\02-executive-adoption.png">    </p:cNvPr>
          <p:cNvPicPr>
            <a:picLocks noChangeAspect="1"/>
          </p:cNvPicPr>
          <p:nvPr/>
        </p:nvPicPr>
        <p:blipFill>
          <a:blip r:embed="rId1"/>
          <a:stretch>
            <a:fillRect/>
          </a:stretch>
        </p:blipFill>
        <p:spPr>
          <a:xfrm>
            <a:off x="5779008" y="859536"/>
            <a:ext cx="5632704" cy="3172968"/>
          </a:xfrm>
          <a:prstGeom prst="rect">
            <a:avLst/>
          </a:prstGeom>
        </p:spPr>
      </p:pic>
      <p:pic>
        <p:nvPicPr>
          <p:cNvPr id="10" name="Image 1" descr="C:\Users\luzlorenz\OneDrive - Microsoft\Documents\Microsoft Scout\CoworkSuperUser\images\report-pages\08-work-pattern-context.png">    </p:cNvPr>
          <p:cNvPicPr>
            <a:picLocks noChangeAspect="1"/>
          </p:cNvPicPr>
          <p:nvPr/>
        </p:nvPicPr>
        <p:blipFill>
          <a:blip r:embed="rId2"/>
          <a:stretch>
            <a:fillRect/>
          </a:stretch>
        </p:blipFill>
        <p:spPr>
          <a:xfrm>
            <a:off x="5779008" y="4187952"/>
            <a:ext cx="2743200" cy="1545336"/>
          </a:xfrm>
          <a:prstGeom prst="rect">
            <a:avLst/>
          </a:prstGeom>
        </p:spPr>
      </p:pic>
      <p:pic>
        <p:nvPicPr>
          <p:cNvPr id="11" name="Image 2" descr="C:\Users\luzlorenz\OneDrive - Microsoft\Documents\Microsoft Scout\CoworkSuperUser\images\report-pages\06-champion-identification.png">    </p:cNvPr>
          <p:cNvPicPr>
            <a:picLocks noChangeAspect="1"/>
          </p:cNvPicPr>
          <p:nvPr/>
        </p:nvPicPr>
        <p:blipFill>
          <a:blip r:embed="rId3"/>
          <a:stretch>
            <a:fillRect/>
          </a:stretch>
        </p:blipFill>
        <p:spPr>
          <a:xfrm>
            <a:off x="8659368" y="4187952"/>
            <a:ext cx="2743200" cy="1545336"/>
          </a:xfrm>
          <a:prstGeom prst="rect">
            <a:avLst/>
          </a:prstGeom>
        </p:spPr>
      </p:pic>
      <p:sp>
        <p:nvSpPr>
          <p:cNvPr id="12" name="Text 7"/>
          <p:cNvSpPr/>
          <p:nvPr/>
        </p:nvSpPr>
        <p:spPr>
          <a:xfrm>
            <a:off x="594360" y="5961888"/>
            <a:ext cx="5029200" cy="219456"/>
          </a:xfrm>
          <a:prstGeom prst="rect">
            <a:avLst/>
          </a:prstGeom>
          <a:noFill/>
          <a:ln/>
        </p:spPr>
        <p:txBody>
          <a:bodyPr wrap="square" lIns="0" tIns="0" rIns="0" bIns="0" rtlCol="0" anchor="ctr"/>
          <a:lstStyle/>
          <a:p>
            <a:pPr indent="0" marL="0">
              <a:buNone/>
            </a:pPr>
            <a:r>
              <a:rPr lang="en-US" sz="950" dirty="0">
                <a:solidFill>
                  <a:srgbClr val="C7B9DB"/>
                </a:solidFill>
                <a:latin typeface="Segoe UI" pitchFamily="34" charset="0"/>
                <a:ea typeface="Segoe UI" pitchFamily="34" charset="-122"/>
                <a:cs typeface="Segoe UI" pitchFamily="34" charset="-120"/>
              </a:rPr>
              <a:t>Deterministic fabricated data | 1,200 fictional people | 26 weeks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20040"/>
            <a:ext cx="8046720" cy="438912"/>
          </a:xfrm>
          <a:prstGeom prst="rect">
            <a:avLst/>
          </a:prstGeom>
          <a:noFill/>
          <a:ln/>
        </p:spPr>
        <p:txBody>
          <a:bodyPr wrap="square" lIns="0" tIns="0" rIns="0" bIns="0" rtlCol="0" anchor="ctr"/>
          <a:lstStyle/>
          <a:p>
            <a:pPr indent="0" marL="0">
              <a:buNone/>
            </a:pPr>
            <a:r>
              <a:rPr lang="en-US" sz="2600" b="1" dirty="0">
                <a:solidFill>
                  <a:srgbClr val="172033"/>
                </a:solidFill>
                <a:latin typeface="Segoe UI Semibold" pitchFamily="34" charset="0"/>
                <a:ea typeface="Segoe UI Semibold" pitchFamily="34" charset="-122"/>
                <a:cs typeface="Segoe UI Semibold" pitchFamily="34" charset="-120"/>
              </a:rPr>
              <a:t>Agenda</a:t>
            </a:r>
            <a:endParaRPr lang="en-US" sz="2600" dirty="0"/>
          </a:p>
        </p:txBody>
      </p:sp>
      <p:sp>
        <p:nvSpPr>
          <p:cNvPr id="3" name="Text 1"/>
          <p:cNvSpPr/>
          <p:nvPr/>
        </p:nvSpPr>
        <p:spPr>
          <a:xfrm>
            <a:off x="502920" y="795528"/>
            <a:ext cx="10881360" cy="310896"/>
          </a:xfrm>
          <a:prstGeom prst="rect">
            <a:avLst/>
          </a:prstGeom>
          <a:noFill/>
          <a:ln/>
        </p:spPr>
        <p:txBody>
          <a:bodyPr wrap="square" lIns="0" tIns="0" rIns="0" bIns="0" rtlCol="0" anchor="ctr"/>
          <a:lstStyle/>
          <a:p>
            <a:pPr indent="0" marL="0">
              <a:buNone/>
            </a:pPr>
            <a:r>
              <a:rPr lang="en-US" sz="1200" dirty="0">
                <a:solidFill>
                  <a:srgbClr val="647084"/>
                </a:solidFill>
                <a:latin typeface="Segoe UI" pitchFamily="34" charset="0"/>
                <a:ea typeface="Segoe UI" pitchFamily="34" charset="-122"/>
                <a:cs typeface="Segoe UI" pitchFamily="34" charset="-120"/>
              </a:rPr>
              <a:t>Orientation, page walkthroughs, methodology, query setup, and defensible language</a:t>
            </a:r>
            <a:endParaRPr lang="en-US" sz="1200" dirty="0"/>
          </a:p>
        </p:txBody>
      </p:sp>
      <p:sp>
        <p:nvSpPr>
          <p:cNvPr id="4" name="Text 2"/>
          <p:cNvSpPr/>
          <p:nvPr/>
        </p:nvSpPr>
        <p:spPr>
          <a:xfrm>
            <a:off x="502920" y="6510528"/>
            <a:ext cx="3017520" cy="164592"/>
          </a:xfrm>
          <a:prstGeom prst="rect">
            <a:avLst/>
          </a:prstGeom>
          <a:noFill/>
          <a:ln/>
        </p:spPr>
        <p:txBody>
          <a:bodyPr wrap="square" lIns="0" tIns="0" rIns="0" bIns="0" rtlCol="0" anchor="ctr"/>
          <a:lstStyle/>
          <a:p>
            <a:pPr indent="0" marL="0">
              <a:buNone/>
            </a:pPr>
            <a:r>
              <a:rPr lang="en-US" sz="800" dirty="0">
                <a:solidFill>
                  <a:srgbClr val="647084"/>
                </a:solidFill>
                <a:latin typeface="Segoe UI" pitchFamily="34" charset="0"/>
                <a:ea typeface="Segoe UI" pitchFamily="34" charset="-122"/>
                <a:cs typeface="Segoe UI" pitchFamily="34" charset="-120"/>
              </a:rPr>
              <a:t>microsoft/CoworkSuperUser</a:t>
            </a:r>
            <a:endParaRPr lang="en-US" sz="800" dirty="0"/>
          </a:p>
        </p:txBody>
      </p:sp>
      <p:sp>
        <p:nvSpPr>
          <p:cNvPr id="5" name="Text 3"/>
          <p:cNvSpPr/>
          <p:nvPr/>
        </p:nvSpPr>
        <p:spPr>
          <a:xfrm>
            <a:off x="7772400" y="6510528"/>
            <a:ext cx="356616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Version 1.0 | Public | Interpretation Guide</a:t>
            </a:r>
            <a:endParaRPr lang="en-US" sz="800" dirty="0"/>
          </a:p>
        </p:txBody>
      </p:sp>
      <p:sp>
        <p:nvSpPr>
          <p:cNvPr id="6" name="Text 4"/>
          <p:cNvSpPr/>
          <p:nvPr/>
        </p:nvSpPr>
        <p:spPr>
          <a:xfrm>
            <a:off x="11384280" y="6510528"/>
            <a:ext cx="32004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2</a:t>
            </a:r>
            <a:endParaRPr lang="en-US" sz="800" dirty="0"/>
          </a:p>
        </p:txBody>
      </p:sp>
      <p:sp>
        <p:nvSpPr>
          <p:cNvPr id="7" name="Shape 5"/>
          <p:cNvSpPr/>
          <p:nvPr/>
        </p:nvSpPr>
        <p:spPr>
          <a:xfrm>
            <a:off x="594360" y="1417320"/>
            <a:ext cx="5349240" cy="1097280"/>
          </a:xfrm>
          <a:prstGeom prst="roundRect">
            <a:avLst>
              <a:gd name="adj" fmla="val 6667"/>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8" name="Shape 6"/>
          <p:cNvSpPr/>
          <p:nvPr/>
        </p:nvSpPr>
        <p:spPr>
          <a:xfrm>
            <a:off x="594360" y="1417320"/>
            <a:ext cx="64008" cy="1097280"/>
          </a:xfrm>
          <a:prstGeom prst="rect">
            <a:avLst/>
          </a:prstGeom>
          <a:solidFill>
            <a:srgbClr val="6B4EA2"/>
          </a:solidFill>
          <a:ln w="12700">
            <a:solidFill>
              <a:srgbClr val="6B4EA2"/>
            </a:solidFill>
            <a:prstDash val="solid"/>
          </a:ln>
        </p:spPr>
      </p:sp>
      <p:sp>
        <p:nvSpPr>
          <p:cNvPr id="9" name="Text 7"/>
          <p:cNvSpPr/>
          <p:nvPr/>
        </p:nvSpPr>
        <p:spPr>
          <a:xfrm>
            <a:off x="795528" y="1545336"/>
            <a:ext cx="502005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1  Release orientation</a:t>
            </a:r>
            <a:endParaRPr lang="en-US" sz="1300" dirty="0"/>
          </a:p>
        </p:txBody>
      </p:sp>
      <p:sp>
        <p:nvSpPr>
          <p:cNvPr id="10" name="Text 8"/>
          <p:cNvSpPr/>
          <p:nvPr/>
        </p:nvSpPr>
        <p:spPr>
          <a:xfrm>
            <a:off x="795528" y="1856232"/>
            <a:ext cx="5020056" cy="54864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Two connection choices and a five-minute reading path</a:t>
            </a:r>
            <a:endParaRPr lang="en-US" sz="1050" dirty="0"/>
          </a:p>
        </p:txBody>
      </p:sp>
      <p:sp>
        <p:nvSpPr>
          <p:cNvPr id="11" name="Shape 9"/>
          <p:cNvSpPr/>
          <p:nvPr/>
        </p:nvSpPr>
        <p:spPr>
          <a:xfrm>
            <a:off x="6263640" y="1417320"/>
            <a:ext cx="5349240" cy="1097280"/>
          </a:xfrm>
          <a:prstGeom prst="roundRect">
            <a:avLst>
              <a:gd name="adj" fmla="val 6667"/>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12" name="Shape 10"/>
          <p:cNvSpPr/>
          <p:nvPr/>
        </p:nvSpPr>
        <p:spPr>
          <a:xfrm>
            <a:off x="6263640" y="1417320"/>
            <a:ext cx="64008" cy="1097280"/>
          </a:xfrm>
          <a:prstGeom prst="rect">
            <a:avLst/>
          </a:prstGeom>
          <a:solidFill>
            <a:srgbClr val="6B4EA2"/>
          </a:solidFill>
          <a:ln w="12700">
            <a:solidFill>
              <a:srgbClr val="6B4EA2"/>
            </a:solidFill>
            <a:prstDash val="solid"/>
          </a:ln>
        </p:spPr>
      </p:sp>
      <p:sp>
        <p:nvSpPr>
          <p:cNvPr id="13" name="Text 11"/>
          <p:cNvSpPr/>
          <p:nvPr/>
        </p:nvSpPr>
        <p:spPr>
          <a:xfrm>
            <a:off x="6464808" y="1545336"/>
            <a:ext cx="502005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2  Evidence model</a:t>
            </a:r>
            <a:endParaRPr lang="en-US" sz="1300" dirty="0"/>
          </a:p>
        </p:txBody>
      </p:sp>
      <p:sp>
        <p:nvSpPr>
          <p:cNvPr id="14" name="Text 12"/>
          <p:cNvSpPr/>
          <p:nvPr/>
        </p:nvSpPr>
        <p:spPr>
          <a:xfrm>
            <a:off x="6464808" y="1856232"/>
            <a:ext cx="5020056" cy="54864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Sources, grains, privacy, available-history logic, and wording</a:t>
            </a:r>
            <a:endParaRPr lang="en-US" sz="1050" dirty="0"/>
          </a:p>
        </p:txBody>
      </p:sp>
      <p:sp>
        <p:nvSpPr>
          <p:cNvPr id="15" name="Shape 13"/>
          <p:cNvSpPr/>
          <p:nvPr/>
        </p:nvSpPr>
        <p:spPr>
          <a:xfrm>
            <a:off x="594360" y="2834640"/>
            <a:ext cx="5349240" cy="1097280"/>
          </a:xfrm>
          <a:prstGeom prst="roundRect">
            <a:avLst>
              <a:gd name="adj" fmla="val 6667"/>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16" name="Shape 14"/>
          <p:cNvSpPr/>
          <p:nvPr/>
        </p:nvSpPr>
        <p:spPr>
          <a:xfrm>
            <a:off x="594360" y="2834640"/>
            <a:ext cx="64008" cy="1097280"/>
          </a:xfrm>
          <a:prstGeom prst="rect">
            <a:avLst/>
          </a:prstGeom>
          <a:solidFill>
            <a:srgbClr val="4F80C1"/>
          </a:solidFill>
          <a:ln w="12700">
            <a:solidFill>
              <a:srgbClr val="4F80C1"/>
            </a:solidFill>
            <a:prstDash val="solid"/>
          </a:ln>
        </p:spPr>
      </p:sp>
      <p:sp>
        <p:nvSpPr>
          <p:cNvPr id="17" name="Text 15"/>
          <p:cNvSpPr/>
          <p:nvPr/>
        </p:nvSpPr>
        <p:spPr>
          <a:xfrm>
            <a:off x="795528" y="2962656"/>
            <a:ext cx="502005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3  Page walkthrough</a:t>
            </a:r>
            <a:endParaRPr lang="en-US" sz="1300" dirty="0"/>
          </a:p>
        </p:txBody>
      </p:sp>
      <p:sp>
        <p:nvSpPr>
          <p:cNvPr id="18" name="Text 16"/>
          <p:cNvSpPr/>
          <p:nvPr/>
        </p:nvSpPr>
        <p:spPr>
          <a:xfrm>
            <a:off x="795528" y="3273552"/>
            <a:ext cx="5020056" cy="54864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All nine report pages in order</a:t>
            </a:r>
            <a:endParaRPr lang="en-US" sz="1050" dirty="0"/>
          </a:p>
        </p:txBody>
      </p:sp>
      <p:sp>
        <p:nvSpPr>
          <p:cNvPr id="19" name="Shape 17"/>
          <p:cNvSpPr/>
          <p:nvPr/>
        </p:nvSpPr>
        <p:spPr>
          <a:xfrm>
            <a:off x="6263640" y="2834640"/>
            <a:ext cx="5349240" cy="1097280"/>
          </a:xfrm>
          <a:prstGeom prst="roundRect">
            <a:avLst>
              <a:gd name="adj" fmla="val 6667"/>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20" name="Shape 18"/>
          <p:cNvSpPr/>
          <p:nvPr/>
        </p:nvSpPr>
        <p:spPr>
          <a:xfrm>
            <a:off x="6263640" y="2834640"/>
            <a:ext cx="64008" cy="1097280"/>
          </a:xfrm>
          <a:prstGeom prst="rect">
            <a:avLst/>
          </a:prstGeom>
          <a:solidFill>
            <a:srgbClr val="4F80C1"/>
          </a:solidFill>
          <a:ln w="12700">
            <a:solidFill>
              <a:srgbClr val="4F80C1"/>
            </a:solidFill>
            <a:prstDash val="solid"/>
          </a:ln>
        </p:spPr>
      </p:sp>
      <p:sp>
        <p:nvSpPr>
          <p:cNvPr id="21" name="Text 19"/>
          <p:cNvSpPr/>
          <p:nvPr/>
        </p:nvSpPr>
        <p:spPr>
          <a:xfrm>
            <a:off x="6464808" y="2962656"/>
            <a:ext cx="502005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4  Methodology</a:t>
            </a:r>
            <a:endParaRPr lang="en-US" sz="1300" dirty="0"/>
          </a:p>
        </p:txBody>
      </p:sp>
      <p:sp>
        <p:nvSpPr>
          <p:cNvPr id="22" name="Text 20"/>
          <p:cNvSpPr/>
          <p:nvPr/>
        </p:nvSpPr>
        <p:spPr>
          <a:xfrm>
            <a:off x="6464808" y="3273552"/>
            <a:ext cx="5020056" cy="54864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Stages, movement, champions, work-pattern context, and consumption</a:t>
            </a:r>
            <a:endParaRPr lang="en-US" sz="1050" dirty="0"/>
          </a:p>
        </p:txBody>
      </p:sp>
      <p:sp>
        <p:nvSpPr>
          <p:cNvPr id="23" name="Shape 21"/>
          <p:cNvSpPr/>
          <p:nvPr/>
        </p:nvSpPr>
        <p:spPr>
          <a:xfrm>
            <a:off x="594360" y="4251960"/>
            <a:ext cx="5349240" cy="1097280"/>
          </a:xfrm>
          <a:prstGeom prst="roundRect">
            <a:avLst>
              <a:gd name="adj" fmla="val 6667"/>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24" name="Shape 22"/>
          <p:cNvSpPr/>
          <p:nvPr/>
        </p:nvSpPr>
        <p:spPr>
          <a:xfrm>
            <a:off x="594360" y="4251960"/>
            <a:ext cx="64008" cy="1097280"/>
          </a:xfrm>
          <a:prstGeom prst="rect">
            <a:avLst/>
          </a:prstGeom>
          <a:solidFill>
            <a:srgbClr val="168B82"/>
          </a:solidFill>
          <a:ln w="12700">
            <a:solidFill>
              <a:srgbClr val="168B82"/>
            </a:solidFill>
            <a:prstDash val="solid"/>
          </a:ln>
        </p:spPr>
      </p:sp>
      <p:sp>
        <p:nvSpPr>
          <p:cNvPr id="25" name="Text 23"/>
          <p:cNvSpPr/>
          <p:nvPr/>
        </p:nvSpPr>
        <p:spPr>
          <a:xfrm>
            <a:off x="795528" y="4379976"/>
            <a:ext cx="502005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5  Query pipeline</a:t>
            </a:r>
            <a:endParaRPr lang="en-US" sz="1300" dirty="0"/>
          </a:p>
        </p:txBody>
      </p:sp>
      <p:sp>
        <p:nvSpPr>
          <p:cNvPr id="26" name="Text 24"/>
          <p:cNvSpPr/>
          <p:nvPr/>
        </p:nvSpPr>
        <p:spPr>
          <a:xfrm>
            <a:off x="795528" y="4690872"/>
            <a:ext cx="5020056" cy="54864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Person Query, Cowork consumption query, identifiers, and validation</a:t>
            </a:r>
            <a:endParaRPr lang="en-US" sz="1050" dirty="0"/>
          </a:p>
        </p:txBody>
      </p:sp>
      <p:sp>
        <p:nvSpPr>
          <p:cNvPr id="27" name="Shape 25"/>
          <p:cNvSpPr/>
          <p:nvPr/>
        </p:nvSpPr>
        <p:spPr>
          <a:xfrm>
            <a:off x="6263640" y="4251960"/>
            <a:ext cx="5349240" cy="1097280"/>
          </a:xfrm>
          <a:prstGeom prst="roundRect">
            <a:avLst>
              <a:gd name="adj" fmla="val 6667"/>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28" name="Shape 26"/>
          <p:cNvSpPr/>
          <p:nvPr/>
        </p:nvSpPr>
        <p:spPr>
          <a:xfrm>
            <a:off x="6263640" y="4251960"/>
            <a:ext cx="64008" cy="1097280"/>
          </a:xfrm>
          <a:prstGeom prst="rect">
            <a:avLst/>
          </a:prstGeom>
          <a:solidFill>
            <a:srgbClr val="168B82"/>
          </a:solidFill>
          <a:ln w="12700">
            <a:solidFill>
              <a:srgbClr val="168B82"/>
            </a:solidFill>
            <a:prstDash val="solid"/>
          </a:ln>
        </p:spPr>
      </p:sp>
      <p:sp>
        <p:nvSpPr>
          <p:cNvPr id="29" name="Text 27"/>
          <p:cNvSpPr/>
          <p:nvPr/>
        </p:nvSpPr>
        <p:spPr>
          <a:xfrm>
            <a:off x="6464808" y="4379976"/>
            <a:ext cx="502005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6  Decision language</a:t>
            </a:r>
            <a:endParaRPr lang="en-US" sz="1300" dirty="0"/>
          </a:p>
        </p:txBody>
      </p:sp>
      <p:sp>
        <p:nvSpPr>
          <p:cNvPr id="30" name="Text 28"/>
          <p:cNvSpPr/>
          <p:nvPr/>
        </p:nvSpPr>
        <p:spPr>
          <a:xfrm>
            <a:off x="6464808" y="4690872"/>
            <a:ext cx="5020056" cy="54864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Safe claims, boundaries, and presenter checklist</a:t>
            </a:r>
            <a:endParaRPr lang="en-US" sz="1050" dirty="0"/>
          </a:p>
        </p:txBody>
      </p:sp>
      <p:sp>
        <p:nvSpPr>
          <p:cNvPr id="31" name="Shape 29"/>
          <p:cNvSpPr/>
          <p:nvPr/>
        </p:nvSpPr>
        <p:spPr>
          <a:xfrm>
            <a:off x="594360" y="5925312"/>
            <a:ext cx="11018520" cy="438912"/>
          </a:xfrm>
          <a:prstGeom prst="roundRect">
            <a:avLst>
              <a:gd name="adj" fmla="val 12500"/>
            </a:avLst>
          </a:prstGeom>
          <a:solidFill>
            <a:srgbClr val="F7EEE4"/>
          </a:solidFill>
          <a:ln w="12700">
            <a:solidFill>
              <a:srgbClr val="E4C49A"/>
            </a:solidFill>
            <a:prstDash val="solid"/>
          </a:ln>
        </p:spPr>
      </p:sp>
      <p:sp>
        <p:nvSpPr>
          <p:cNvPr id="32" name="Text 30"/>
          <p:cNvSpPr/>
          <p:nvPr/>
        </p:nvSpPr>
        <p:spPr>
          <a:xfrm>
            <a:off x="749808" y="6053328"/>
            <a:ext cx="804672" cy="146304"/>
          </a:xfrm>
          <a:prstGeom prst="rect">
            <a:avLst/>
          </a:prstGeom>
          <a:noFill/>
          <a:ln/>
        </p:spPr>
        <p:txBody>
          <a:bodyPr wrap="square" lIns="0" tIns="0" rIns="0" bIns="0" rtlCol="0" anchor="ctr"/>
          <a:lstStyle/>
          <a:p>
            <a:pPr indent="0" marL="0">
              <a:buNone/>
            </a:pPr>
            <a:r>
              <a:rPr lang="en-US" sz="850" b="1" dirty="0">
                <a:solidFill>
                  <a:srgbClr val="D9872D"/>
                </a:solidFill>
                <a:latin typeface="Segoe UI Semibold" pitchFamily="34" charset="0"/>
                <a:ea typeface="Segoe UI Semibold" pitchFamily="34" charset="-122"/>
                <a:cs typeface="Segoe UI Semibold" pitchFamily="34" charset="-120"/>
              </a:rPr>
              <a:t>GUARDRAIL</a:t>
            </a:r>
            <a:endParaRPr lang="en-US" sz="850" dirty="0"/>
          </a:p>
        </p:txBody>
      </p:sp>
      <p:sp>
        <p:nvSpPr>
          <p:cNvPr id="33" name="Text 31"/>
          <p:cNvSpPr/>
          <p:nvPr/>
        </p:nvSpPr>
        <p:spPr>
          <a:xfrm>
            <a:off x="1600200" y="6007608"/>
            <a:ext cx="9784080" cy="210312"/>
          </a:xfrm>
          <a:prstGeom prst="rect">
            <a:avLst/>
          </a:prstGeom>
          <a:noFill/>
          <a:ln/>
        </p:spPr>
        <p:txBody>
          <a:bodyPr wrap="square" lIns="0" tIns="0" rIns="0" bIns="0" rtlCol="0" anchor="ctr"/>
          <a:lstStyle/>
          <a:p>
            <a:pPr indent="0" marL="0">
              <a:buNone/>
            </a:pPr>
            <a:r>
              <a:rPr lang="en-US" sz="930" dirty="0">
                <a:solidFill>
                  <a:srgbClr val="172033"/>
                </a:solidFill>
                <a:latin typeface="Segoe UI" pitchFamily="34" charset="0"/>
                <a:ea typeface="Segoe UI" pitchFamily="34" charset="-122"/>
                <a:cs typeface="Segoe UI" pitchFamily="34" charset="-120"/>
              </a:rPr>
              <a:t>Carry the exact period, population, filters, source status, evidence class, and privacy state with every quoted result.</a:t>
            </a:r>
            <a:endParaRPr lang="en-US" sz="9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20040"/>
            <a:ext cx="8046720" cy="438912"/>
          </a:xfrm>
          <a:prstGeom prst="rect">
            <a:avLst/>
          </a:prstGeom>
          <a:noFill/>
          <a:ln/>
        </p:spPr>
        <p:txBody>
          <a:bodyPr wrap="square" lIns="0" tIns="0" rIns="0" bIns="0" rtlCol="0" anchor="ctr"/>
          <a:lstStyle/>
          <a:p>
            <a:pPr indent="0" marL="0">
              <a:buNone/>
            </a:pPr>
            <a:r>
              <a:rPr lang="en-US" sz="2600" b="1" dirty="0">
                <a:solidFill>
                  <a:srgbClr val="172033"/>
                </a:solidFill>
                <a:latin typeface="Segoe UI Semibold" pitchFamily="34" charset="0"/>
                <a:ea typeface="Segoe UI Semibold" pitchFamily="34" charset="-122"/>
                <a:cs typeface="Segoe UI Semibold" pitchFamily="34" charset="-120"/>
              </a:rPr>
              <a:t>What's in version 1.0</a:t>
            </a:r>
            <a:endParaRPr lang="en-US" sz="2600" dirty="0"/>
          </a:p>
        </p:txBody>
      </p:sp>
      <p:sp>
        <p:nvSpPr>
          <p:cNvPr id="3" name="Text 1"/>
          <p:cNvSpPr/>
          <p:nvPr/>
        </p:nvSpPr>
        <p:spPr>
          <a:xfrm>
            <a:off x="502920" y="795528"/>
            <a:ext cx="10881360" cy="310896"/>
          </a:xfrm>
          <a:prstGeom prst="rect">
            <a:avLst/>
          </a:prstGeom>
          <a:noFill/>
          <a:ln/>
        </p:spPr>
        <p:txBody>
          <a:bodyPr wrap="square" lIns="0" tIns="0" rIns="0" bIns="0" rtlCol="0" anchor="ctr"/>
          <a:lstStyle/>
          <a:p>
            <a:pPr indent="0" marL="0">
              <a:buNone/>
            </a:pPr>
            <a:r>
              <a:rPr lang="en-US" sz="1200" dirty="0">
                <a:solidFill>
                  <a:srgbClr val="647084"/>
                </a:solidFill>
                <a:latin typeface="Segoe UI" pitchFamily="34" charset="0"/>
                <a:ea typeface="Segoe UI" pitchFamily="34" charset="-122"/>
                <a:cs typeface="Segoe UI" pitchFamily="34" charset="-120"/>
              </a:rPr>
              <a:t>A customer-ready Viva Insights release with two setup paths and one interpretation contract</a:t>
            </a:r>
            <a:endParaRPr lang="en-US" sz="1200" dirty="0"/>
          </a:p>
        </p:txBody>
      </p:sp>
      <p:sp>
        <p:nvSpPr>
          <p:cNvPr id="4" name="Text 2"/>
          <p:cNvSpPr/>
          <p:nvPr/>
        </p:nvSpPr>
        <p:spPr>
          <a:xfrm>
            <a:off x="502920" y="6510528"/>
            <a:ext cx="3017520" cy="164592"/>
          </a:xfrm>
          <a:prstGeom prst="rect">
            <a:avLst/>
          </a:prstGeom>
          <a:noFill/>
          <a:ln/>
        </p:spPr>
        <p:txBody>
          <a:bodyPr wrap="square" lIns="0" tIns="0" rIns="0" bIns="0" rtlCol="0" anchor="ctr"/>
          <a:lstStyle/>
          <a:p>
            <a:pPr indent="0" marL="0">
              <a:buNone/>
            </a:pPr>
            <a:r>
              <a:rPr lang="en-US" sz="800" dirty="0">
                <a:solidFill>
                  <a:srgbClr val="647084"/>
                </a:solidFill>
                <a:latin typeface="Segoe UI" pitchFamily="34" charset="0"/>
                <a:ea typeface="Segoe UI" pitchFamily="34" charset="-122"/>
                <a:cs typeface="Segoe UI" pitchFamily="34" charset="-120"/>
              </a:rPr>
              <a:t>microsoft/CoworkSuperUser</a:t>
            </a:r>
            <a:endParaRPr lang="en-US" sz="800" dirty="0"/>
          </a:p>
        </p:txBody>
      </p:sp>
      <p:sp>
        <p:nvSpPr>
          <p:cNvPr id="5" name="Text 3"/>
          <p:cNvSpPr/>
          <p:nvPr/>
        </p:nvSpPr>
        <p:spPr>
          <a:xfrm>
            <a:off x="7772400" y="6510528"/>
            <a:ext cx="356616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Version 1.0 | Public | Interpretation Guide</a:t>
            </a:r>
            <a:endParaRPr lang="en-US" sz="800" dirty="0"/>
          </a:p>
        </p:txBody>
      </p:sp>
      <p:sp>
        <p:nvSpPr>
          <p:cNvPr id="6" name="Text 4"/>
          <p:cNvSpPr/>
          <p:nvPr/>
        </p:nvSpPr>
        <p:spPr>
          <a:xfrm>
            <a:off x="11384280" y="6510528"/>
            <a:ext cx="32004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3</a:t>
            </a:r>
            <a:endParaRPr lang="en-US" sz="800" dirty="0"/>
          </a:p>
        </p:txBody>
      </p:sp>
      <p:sp>
        <p:nvSpPr>
          <p:cNvPr id="7" name="Shape 5"/>
          <p:cNvSpPr/>
          <p:nvPr/>
        </p:nvSpPr>
        <p:spPr>
          <a:xfrm>
            <a:off x="594360" y="1417320"/>
            <a:ext cx="3429000" cy="1572768"/>
          </a:xfrm>
          <a:prstGeom prst="roundRect">
            <a:avLst>
              <a:gd name="adj" fmla="val 4651"/>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8" name="Shape 6"/>
          <p:cNvSpPr/>
          <p:nvPr/>
        </p:nvSpPr>
        <p:spPr>
          <a:xfrm>
            <a:off x="594360" y="1417320"/>
            <a:ext cx="64008" cy="1572768"/>
          </a:xfrm>
          <a:prstGeom prst="rect">
            <a:avLst/>
          </a:prstGeom>
          <a:solidFill>
            <a:srgbClr val="6B4EA2"/>
          </a:solidFill>
          <a:ln w="12700">
            <a:solidFill>
              <a:srgbClr val="6B4EA2"/>
            </a:solidFill>
            <a:prstDash val="solid"/>
          </a:ln>
        </p:spPr>
      </p:sp>
      <p:sp>
        <p:nvSpPr>
          <p:cNvPr id="9" name="Text 7"/>
          <p:cNvSpPr/>
          <p:nvPr/>
        </p:nvSpPr>
        <p:spPr>
          <a:xfrm>
            <a:off x="795528" y="1545336"/>
            <a:ext cx="309981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Two published templates</a:t>
            </a:r>
            <a:endParaRPr lang="en-US" sz="1300" dirty="0"/>
          </a:p>
        </p:txBody>
      </p:sp>
      <p:sp>
        <p:nvSpPr>
          <p:cNvPr id="10" name="Text 8"/>
          <p:cNvSpPr/>
          <p:nvPr/>
        </p:nvSpPr>
        <p:spPr>
          <a:xfrm>
            <a:off x="795528" y="1856232"/>
            <a:ext cx="3099816" cy="1024128"/>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Direct Query for script-free saved-query setup and Optimized Export for the fastest validated refresh.</a:t>
            </a:r>
            <a:endParaRPr lang="en-US" sz="1050" dirty="0"/>
          </a:p>
        </p:txBody>
      </p:sp>
      <p:sp>
        <p:nvSpPr>
          <p:cNvPr id="11" name="Shape 9"/>
          <p:cNvSpPr/>
          <p:nvPr/>
        </p:nvSpPr>
        <p:spPr>
          <a:xfrm>
            <a:off x="4361688" y="1417320"/>
            <a:ext cx="3429000" cy="1572768"/>
          </a:xfrm>
          <a:prstGeom prst="roundRect">
            <a:avLst>
              <a:gd name="adj" fmla="val 4651"/>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12" name="Shape 10"/>
          <p:cNvSpPr/>
          <p:nvPr/>
        </p:nvSpPr>
        <p:spPr>
          <a:xfrm>
            <a:off x="4361688" y="1417320"/>
            <a:ext cx="64008" cy="1572768"/>
          </a:xfrm>
          <a:prstGeom prst="rect">
            <a:avLst/>
          </a:prstGeom>
          <a:solidFill>
            <a:srgbClr val="4F80C1"/>
          </a:solidFill>
          <a:ln w="12700">
            <a:solidFill>
              <a:srgbClr val="4F80C1"/>
            </a:solidFill>
            <a:prstDash val="solid"/>
          </a:ln>
        </p:spPr>
      </p:sp>
      <p:sp>
        <p:nvSpPr>
          <p:cNvPr id="13" name="Text 11"/>
          <p:cNvSpPr/>
          <p:nvPr/>
        </p:nvSpPr>
        <p:spPr>
          <a:xfrm>
            <a:off x="4562856" y="1545336"/>
            <a:ext cx="309981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Available-history stages</a:t>
            </a:r>
            <a:endParaRPr lang="en-US" sz="1300" dirty="0"/>
          </a:p>
        </p:txBody>
      </p:sp>
      <p:sp>
        <p:nvSpPr>
          <p:cNvPr id="14" name="Text 12"/>
          <p:cNvSpPr/>
          <p:nvPr/>
        </p:nvSpPr>
        <p:spPr>
          <a:xfrm>
            <a:off x="4562856" y="1856232"/>
            <a:ext cx="3099816" cy="1024128"/>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Up to 4- and 12-week windows load early histories and clearly identify provisional results.</a:t>
            </a:r>
            <a:endParaRPr lang="en-US" sz="1050" dirty="0"/>
          </a:p>
        </p:txBody>
      </p:sp>
      <p:sp>
        <p:nvSpPr>
          <p:cNvPr id="15" name="Shape 13"/>
          <p:cNvSpPr/>
          <p:nvPr/>
        </p:nvSpPr>
        <p:spPr>
          <a:xfrm>
            <a:off x="8129016" y="1417320"/>
            <a:ext cx="3429000" cy="1572768"/>
          </a:xfrm>
          <a:prstGeom prst="roundRect">
            <a:avLst>
              <a:gd name="adj" fmla="val 4651"/>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16" name="Shape 14"/>
          <p:cNvSpPr/>
          <p:nvPr/>
        </p:nvSpPr>
        <p:spPr>
          <a:xfrm>
            <a:off x="8129016" y="1417320"/>
            <a:ext cx="64008" cy="1572768"/>
          </a:xfrm>
          <a:prstGeom prst="rect">
            <a:avLst/>
          </a:prstGeom>
          <a:solidFill>
            <a:srgbClr val="168B82"/>
          </a:solidFill>
          <a:ln w="12700">
            <a:solidFill>
              <a:srgbClr val="168B82"/>
            </a:solidFill>
            <a:prstDash val="solid"/>
          </a:ln>
        </p:spPr>
      </p:sp>
      <p:sp>
        <p:nvSpPr>
          <p:cNvPr id="17" name="Text 15"/>
          <p:cNvSpPr/>
          <p:nvPr/>
        </p:nvSpPr>
        <p:spPr>
          <a:xfrm>
            <a:off x="8330184" y="1545336"/>
            <a:ext cx="309981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Current visual QA</a:t>
            </a:r>
            <a:endParaRPr lang="en-US" sz="1300" dirty="0"/>
          </a:p>
        </p:txBody>
      </p:sp>
      <p:sp>
        <p:nvSpPr>
          <p:cNvPr id="18" name="Text 16"/>
          <p:cNvSpPr/>
          <p:nvPr/>
        </p:nvSpPr>
        <p:spPr>
          <a:xfrm>
            <a:off x="8330184" y="1856232"/>
            <a:ext cx="3099816" cy="1024128"/>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Nine pages, 39 bookmark states, 117 measures, and grid-aligned headers.</a:t>
            </a:r>
            <a:endParaRPr lang="en-US" sz="1050" dirty="0"/>
          </a:p>
        </p:txBody>
      </p:sp>
      <p:sp>
        <p:nvSpPr>
          <p:cNvPr id="19" name="Shape 17"/>
          <p:cNvSpPr/>
          <p:nvPr/>
        </p:nvSpPr>
        <p:spPr>
          <a:xfrm>
            <a:off x="594360" y="3383280"/>
            <a:ext cx="3429000" cy="1572768"/>
          </a:xfrm>
          <a:prstGeom prst="roundRect">
            <a:avLst>
              <a:gd name="adj" fmla="val 4651"/>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20" name="Shape 18"/>
          <p:cNvSpPr/>
          <p:nvPr/>
        </p:nvSpPr>
        <p:spPr>
          <a:xfrm>
            <a:off x="594360" y="3383280"/>
            <a:ext cx="64008" cy="1572768"/>
          </a:xfrm>
          <a:prstGeom prst="rect">
            <a:avLst/>
          </a:prstGeom>
          <a:solidFill>
            <a:srgbClr val="3A8F5B"/>
          </a:solidFill>
          <a:ln w="12700">
            <a:solidFill>
              <a:srgbClr val="3A8F5B"/>
            </a:solidFill>
            <a:prstDash val="solid"/>
          </a:ln>
        </p:spPr>
      </p:sp>
      <p:sp>
        <p:nvSpPr>
          <p:cNvPr id="21" name="Text 19"/>
          <p:cNvSpPr/>
          <p:nvPr/>
        </p:nvSpPr>
        <p:spPr>
          <a:xfrm>
            <a:off x="795528" y="3511296"/>
            <a:ext cx="309981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Employee drill paths</a:t>
            </a:r>
            <a:endParaRPr lang="en-US" sz="1300" dirty="0"/>
          </a:p>
        </p:txBody>
      </p:sp>
      <p:sp>
        <p:nvSpPr>
          <p:cNvPr id="22" name="Text 20"/>
          <p:cNvSpPr/>
          <p:nvPr/>
        </p:nvSpPr>
        <p:spPr>
          <a:xfrm>
            <a:off x="795528" y="3822192"/>
            <a:ext cx="3099816" cy="1024128"/>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Department-to-pseudonymous-User-ID expansion is available but collapsed by default.</a:t>
            </a:r>
            <a:endParaRPr lang="en-US" sz="1050" dirty="0"/>
          </a:p>
        </p:txBody>
      </p:sp>
      <p:sp>
        <p:nvSpPr>
          <p:cNvPr id="23" name="Shape 21"/>
          <p:cNvSpPr/>
          <p:nvPr/>
        </p:nvSpPr>
        <p:spPr>
          <a:xfrm>
            <a:off x="4361688" y="3383280"/>
            <a:ext cx="3429000" cy="1572768"/>
          </a:xfrm>
          <a:prstGeom prst="roundRect">
            <a:avLst>
              <a:gd name="adj" fmla="val 4651"/>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24" name="Shape 22"/>
          <p:cNvSpPr/>
          <p:nvPr/>
        </p:nvSpPr>
        <p:spPr>
          <a:xfrm>
            <a:off x="4361688" y="3383280"/>
            <a:ext cx="64008" cy="1572768"/>
          </a:xfrm>
          <a:prstGeom prst="rect">
            <a:avLst/>
          </a:prstGeom>
          <a:solidFill>
            <a:srgbClr val="D9872D"/>
          </a:solidFill>
          <a:ln w="12700">
            <a:solidFill>
              <a:srgbClr val="D9872D"/>
            </a:solidFill>
            <a:prstDash val="solid"/>
          </a:ln>
        </p:spPr>
      </p:sp>
      <p:sp>
        <p:nvSpPr>
          <p:cNvPr id="25" name="Text 23"/>
          <p:cNvSpPr/>
          <p:nvPr/>
        </p:nvSpPr>
        <p:spPr>
          <a:xfrm>
            <a:off x="4562856" y="3511296"/>
            <a:ext cx="309981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Public-safe assets</a:t>
            </a:r>
            <a:endParaRPr lang="en-US" sz="1300" dirty="0"/>
          </a:p>
        </p:txBody>
      </p:sp>
      <p:sp>
        <p:nvSpPr>
          <p:cNvPr id="26" name="Text 24"/>
          <p:cNvSpPr/>
          <p:nvPr/>
        </p:nvSpPr>
        <p:spPr>
          <a:xfrm>
            <a:off x="4562856" y="3822192"/>
            <a:ext cx="3099816" cy="1024128"/>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PBIT files contain no customer data, tenant IDs, local QA paths, or cached model data.</a:t>
            </a:r>
            <a:endParaRPr lang="en-US" sz="1050" dirty="0"/>
          </a:p>
        </p:txBody>
      </p:sp>
      <p:sp>
        <p:nvSpPr>
          <p:cNvPr id="27" name="Shape 25"/>
          <p:cNvSpPr/>
          <p:nvPr/>
        </p:nvSpPr>
        <p:spPr>
          <a:xfrm>
            <a:off x="8129016" y="3383280"/>
            <a:ext cx="3429000" cy="1572768"/>
          </a:xfrm>
          <a:prstGeom prst="roundRect">
            <a:avLst>
              <a:gd name="adj" fmla="val 4651"/>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28" name="Shape 26"/>
          <p:cNvSpPr/>
          <p:nvPr/>
        </p:nvSpPr>
        <p:spPr>
          <a:xfrm>
            <a:off x="8129016" y="3383280"/>
            <a:ext cx="64008" cy="1572768"/>
          </a:xfrm>
          <a:prstGeom prst="rect">
            <a:avLst/>
          </a:prstGeom>
          <a:solidFill>
            <a:srgbClr val="8E77B5"/>
          </a:solidFill>
          <a:ln w="12700">
            <a:solidFill>
              <a:srgbClr val="8E77B5"/>
            </a:solidFill>
            <a:prstDash val="solid"/>
          </a:ln>
        </p:spPr>
      </p:sp>
      <p:sp>
        <p:nvSpPr>
          <p:cNvPr id="29" name="Text 27"/>
          <p:cNvSpPr/>
          <p:nvPr/>
        </p:nvSpPr>
        <p:spPr>
          <a:xfrm>
            <a:off x="8330184" y="3511296"/>
            <a:ext cx="309981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Reproducible release</a:t>
            </a:r>
            <a:endParaRPr lang="en-US" sz="1300" dirty="0"/>
          </a:p>
        </p:txBody>
      </p:sp>
      <p:sp>
        <p:nvSpPr>
          <p:cNvPr id="30" name="Text 28"/>
          <p:cNvSpPr/>
          <p:nvPr/>
        </p:nvSpPr>
        <p:spPr>
          <a:xfrm>
            <a:off x="8330184" y="3822192"/>
            <a:ext cx="3099816" cy="1024128"/>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Sanitized PBIP sources, validation tooling, interpretation guide, and narrated walkthrough.</a:t>
            </a:r>
            <a:endParaRPr lang="en-US" sz="1050" dirty="0"/>
          </a:p>
        </p:txBody>
      </p:sp>
      <p:sp>
        <p:nvSpPr>
          <p:cNvPr id="31" name="Shape 29"/>
          <p:cNvSpPr/>
          <p:nvPr/>
        </p:nvSpPr>
        <p:spPr>
          <a:xfrm>
            <a:off x="594360" y="5925312"/>
            <a:ext cx="11018520" cy="438912"/>
          </a:xfrm>
          <a:prstGeom prst="roundRect">
            <a:avLst>
              <a:gd name="adj" fmla="val 12500"/>
            </a:avLst>
          </a:prstGeom>
          <a:solidFill>
            <a:srgbClr val="F7EEE4"/>
          </a:solidFill>
          <a:ln w="12700">
            <a:solidFill>
              <a:srgbClr val="E4C49A"/>
            </a:solidFill>
            <a:prstDash val="solid"/>
          </a:ln>
        </p:spPr>
      </p:sp>
      <p:sp>
        <p:nvSpPr>
          <p:cNvPr id="32" name="Text 30"/>
          <p:cNvSpPr/>
          <p:nvPr/>
        </p:nvSpPr>
        <p:spPr>
          <a:xfrm>
            <a:off x="749808" y="6053328"/>
            <a:ext cx="804672" cy="146304"/>
          </a:xfrm>
          <a:prstGeom prst="rect">
            <a:avLst/>
          </a:prstGeom>
          <a:noFill/>
          <a:ln/>
        </p:spPr>
        <p:txBody>
          <a:bodyPr wrap="square" lIns="0" tIns="0" rIns="0" bIns="0" rtlCol="0" anchor="ctr"/>
          <a:lstStyle/>
          <a:p>
            <a:pPr indent="0" marL="0">
              <a:buNone/>
            </a:pPr>
            <a:r>
              <a:rPr lang="en-US" sz="850" b="1" dirty="0">
                <a:solidFill>
                  <a:srgbClr val="D9872D"/>
                </a:solidFill>
                <a:latin typeface="Segoe UI Semibold" pitchFamily="34" charset="0"/>
                <a:ea typeface="Segoe UI Semibold" pitchFamily="34" charset="-122"/>
                <a:cs typeface="Segoe UI Semibold" pitchFamily="34" charset="-120"/>
              </a:rPr>
              <a:t>GUARDRAIL</a:t>
            </a:r>
            <a:endParaRPr lang="en-US" sz="850" dirty="0"/>
          </a:p>
        </p:txBody>
      </p:sp>
      <p:sp>
        <p:nvSpPr>
          <p:cNvPr id="33" name="Text 31"/>
          <p:cNvSpPr/>
          <p:nvPr/>
        </p:nvSpPr>
        <p:spPr>
          <a:xfrm>
            <a:off x="1600200" y="6007608"/>
            <a:ext cx="9784080" cy="210312"/>
          </a:xfrm>
          <a:prstGeom prst="rect">
            <a:avLst/>
          </a:prstGeom>
          <a:noFill/>
          <a:ln/>
        </p:spPr>
        <p:txBody>
          <a:bodyPr wrap="square" lIns="0" tIns="0" rIns="0" bIns="0" rtlCol="0" anchor="ctr"/>
          <a:lstStyle/>
          <a:p>
            <a:pPr indent="0" marL="0">
              <a:buNone/>
            </a:pPr>
            <a:r>
              <a:rPr lang="en-US" sz="930" dirty="0">
                <a:solidFill>
                  <a:srgbClr val="172033"/>
                </a:solidFill>
                <a:latin typeface="Segoe UI" pitchFamily="34" charset="0"/>
                <a:ea typeface="Segoe UI" pitchFamily="34" charset="-122"/>
                <a:cs typeface="Segoe UI" pitchFamily="34" charset="-120"/>
              </a:rPr>
              <a:t>Both templates share the same report design and logic; only the source connection path differs.</a:t>
            </a:r>
            <a:endParaRPr lang="en-US" sz="93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20040"/>
            <a:ext cx="8046720" cy="438912"/>
          </a:xfrm>
          <a:prstGeom prst="rect">
            <a:avLst/>
          </a:prstGeom>
          <a:noFill/>
          <a:ln/>
        </p:spPr>
        <p:txBody>
          <a:bodyPr wrap="square" lIns="0" tIns="0" rIns="0" bIns="0" rtlCol="0" anchor="ctr"/>
          <a:lstStyle/>
          <a:p>
            <a:pPr indent="0" marL="0">
              <a:buNone/>
            </a:pPr>
            <a:r>
              <a:rPr lang="en-US" sz="2600" b="1" dirty="0">
                <a:solidFill>
                  <a:srgbClr val="172033"/>
                </a:solidFill>
                <a:latin typeface="Segoe UI Semibold" pitchFamily="34" charset="0"/>
                <a:ea typeface="Segoe UI Semibold" pitchFamily="34" charset="-122"/>
                <a:cs typeface="Segoe UI Semibold" pitchFamily="34" charset="-120"/>
              </a:rPr>
              <a:t>Five-minute orientation</a:t>
            </a:r>
            <a:endParaRPr lang="en-US" sz="2600" dirty="0"/>
          </a:p>
        </p:txBody>
      </p:sp>
      <p:sp>
        <p:nvSpPr>
          <p:cNvPr id="3" name="Text 1"/>
          <p:cNvSpPr/>
          <p:nvPr/>
        </p:nvSpPr>
        <p:spPr>
          <a:xfrm>
            <a:off x="502920" y="795528"/>
            <a:ext cx="10881360" cy="310896"/>
          </a:xfrm>
          <a:prstGeom prst="rect">
            <a:avLst/>
          </a:prstGeom>
          <a:noFill/>
          <a:ln/>
        </p:spPr>
        <p:txBody>
          <a:bodyPr wrap="square" lIns="0" tIns="0" rIns="0" bIns="0" rtlCol="0" anchor="ctr"/>
          <a:lstStyle/>
          <a:p>
            <a:pPr indent="0" marL="0">
              <a:buNone/>
            </a:pPr>
            <a:r>
              <a:rPr lang="en-US" sz="1200" dirty="0">
                <a:solidFill>
                  <a:srgbClr val="647084"/>
                </a:solidFill>
                <a:latin typeface="Segoe UI" pitchFamily="34" charset="0"/>
                <a:ea typeface="Segoe UI" pitchFamily="34" charset="-122"/>
                <a:cs typeface="Segoe UI" pitchFamily="34" charset="-120"/>
              </a:rPr>
              <a:t>If time is limited, read these four pages in order</a:t>
            </a:r>
            <a:endParaRPr lang="en-US" sz="1200" dirty="0"/>
          </a:p>
        </p:txBody>
      </p:sp>
      <p:sp>
        <p:nvSpPr>
          <p:cNvPr id="4" name="Text 2"/>
          <p:cNvSpPr/>
          <p:nvPr/>
        </p:nvSpPr>
        <p:spPr>
          <a:xfrm>
            <a:off x="502920" y="6510528"/>
            <a:ext cx="3017520" cy="164592"/>
          </a:xfrm>
          <a:prstGeom prst="rect">
            <a:avLst/>
          </a:prstGeom>
          <a:noFill/>
          <a:ln/>
        </p:spPr>
        <p:txBody>
          <a:bodyPr wrap="square" lIns="0" tIns="0" rIns="0" bIns="0" rtlCol="0" anchor="ctr"/>
          <a:lstStyle/>
          <a:p>
            <a:pPr indent="0" marL="0">
              <a:buNone/>
            </a:pPr>
            <a:r>
              <a:rPr lang="en-US" sz="800" dirty="0">
                <a:solidFill>
                  <a:srgbClr val="647084"/>
                </a:solidFill>
                <a:latin typeface="Segoe UI" pitchFamily="34" charset="0"/>
                <a:ea typeface="Segoe UI" pitchFamily="34" charset="-122"/>
                <a:cs typeface="Segoe UI" pitchFamily="34" charset="-120"/>
              </a:rPr>
              <a:t>microsoft/CoworkSuperUser</a:t>
            </a:r>
            <a:endParaRPr lang="en-US" sz="800" dirty="0"/>
          </a:p>
        </p:txBody>
      </p:sp>
      <p:sp>
        <p:nvSpPr>
          <p:cNvPr id="5" name="Text 3"/>
          <p:cNvSpPr/>
          <p:nvPr/>
        </p:nvSpPr>
        <p:spPr>
          <a:xfrm>
            <a:off x="7772400" y="6510528"/>
            <a:ext cx="356616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Version 1.0 | Public | Interpretation Guide</a:t>
            </a:r>
            <a:endParaRPr lang="en-US" sz="800" dirty="0"/>
          </a:p>
        </p:txBody>
      </p:sp>
      <p:sp>
        <p:nvSpPr>
          <p:cNvPr id="6" name="Text 4"/>
          <p:cNvSpPr/>
          <p:nvPr/>
        </p:nvSpPr>
        <p:spPr>
          <a:xfrm>
            <a:off x="11384280" y="6510528"/>
            <a:ext cx="32004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4</a:t>
            </a:r>
            <a:endParaRPr lang="en-US" sz="800" dirty="0"/>
          </a:p>
        </p:txBody>
      </p:sp>
      <p:sp>
        <p:nvSpPr>
          <p:cNvPr id="7" name="Shape 5"/>
          <p:cNvSpPr/>
          <p:nvPr/>
        </p:nvSpPr>
        <p:spPr>
          <a:xfrm>
            <a:off x="1673352" y="1325880"/>
            <a:ext cx="658368" cy="658368"/>
          </a:xfrm>
          <a:prstGeom prst="ellipse">
            <a:avLst/>
          </a:prstGeom>
          <a:solidFill>
            <a:srgbClr val="6B4EA2"/>
          </a:solidFill>
          <a:ln w="25400">
            <a:solidFill>
              <a:srgbClr val="FFFFFF"/>
            </a:solidFill>
            <a:prstDash val="solid"/>
          </a:ln>
        </p:spPr>
      </p:sp>
      <p:sp>
        <p:nvSpPr>
          <p:cNvPr id="8" name="Text 6"/>
          <p:cNvSpPr/>
          <p:nvPr/>
        </p:nvSpPr>
        <p:spPr>
          <a:xfrm>
            <a:off x="1673352" y="1481328"/>
            <a:ext cx="658368" cy="2286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9" name="Shape 7"/>
          <p:cNvSpPr/>
          <p:nvPr/>
        </p:nvSpPr>
        <p:spPr>
          <a:xfrm>
            <a:off x="777240" y="2212848"/>
            <a:ext cx="2468880" cy="1828800"/>
          </a:xfrm>
          <a:prstGeom prst="roundRect">
            <a:avLst>
              <a:gd name="adj" fmla="val 4000"/>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10" name="Shape 8"/>
          <p:cNvSpPr/>
          <p:nvPr/>
        </p:nvSpPr>
        <p:spPr>
          <a:xfrm>
            <a:off x="777240" y="2212848"/>
            <a:ext cx="64008" cy="1828800"/>
          </a:xfrm>
          <a:prstGeom prst="rect">
            <a:avLst/>
          </a:prstGeom>
          <a:solidFill>
            <a:srgbClr val="6B4EA2"/>
          </a:solidFill>
          <a:ln w="12700">
            <a:solidFill>
              <a:srgbClr val="6B4EA2"/>
            </a:solidFill>
            <a:prstDash val="solid"/>
          </a:ln>
        </p:spPr>
      </p:sp>
      <p:sp>
        <p:nvSpPr>
          <p:cNvPr id="11" name="Text 9"/>
          <p:cNvSpPr/>
          <p:nvPr/>
        </p:nvSpPr>
        <p:spPr>
          <a:xfrm>
            <a:off x="978408" y="2340864"/>
            <a:ext cx="213969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Executive Adoption</a:t>
            </a:r>
            <a:endParaRPr lang="en-US" sz="1300" dirty="0"/>
          </a:p>
        </p:txBody>
      </p:sp>
      <p:sp>
        <p:nvSpPr>
          <p:cNvPr id="12" name="Text 10"/>
          <p:cNvSpPr/>
          <p:nvPr/>
        </p:nvSpPr>
        <p:spPr>
          <a:xfrm>
            <a:off x="978408" y="2651760"/>
            <a:ext cx="2139696" cy="128016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Establish observed reach, sustained use, and latest weekly activity.</a:t>
            </a:r>
            <a:endParaRPr lang="en-US" sz="1050" dirty="0"/>
          </a:p>
        </p:txBody>
      </p:sp>
      <p:sp>
        <p:nvSpPr>
          <p:cNvPr id="13" name="Shape 11"/>
          <p:cNvSpPr/>
          <p:nvPr/>
        </p:nvSpPr>
        <p:spPr>
          <a:xfrm>
            <a:off x="3291840" y="1481328"/>
            <a:ext cx="320040" cy="320040"/>
          </a:xfrm>
          <a:prstGeom prst="chevron">
            <a:avLst/>
          </a:prstGeom>
          <a:solidFill>
            <a:srgbClr val="B9AEC8"/>
          </a:solidFill>
          <a:ln w="12700">
            <a:solidFill>
              <a:srgbClr val="B9AEC8"/>
            </a:solidFill>
            <a:prstDash val="solid"/>
          </a:ln>
        </p:spPr>
      </p:sp>
      <p:sp>
        <p:nvSpPr>
          <p:cNvPr id="14" name="Shape 12"/>
          <p:cNvSpPr/>
          <p:nvPr/>
        </p:nvSpPr>
        <p:spPr>
          <a:xfrm>
            <a:off x="4462272" y="1325880"/>
            <a:ext cx="658368" cy="658368"/>
          </a:xfrm>
          <a:prstGeom prst="ellipse">
            <a:avLst/>
          </a:prstGeom>
          <a:solidFill>
            <a:srgbClr val="4F80C1"/>
          </a:solidFill>
          <a:ln w="25400">
            <a:solidFill>
              <a:srgbClr val="FFFFFF"/>
            </a:solidFill>
            <a:prstDash val="solid"/>
          </a:ln>
        </p:spPr>
      </p:sp>
      <p:sp>
        <p:nvSpPr>
          <p:cNvPr id="15" name="Text 13"/>
          <p:cNvSpPr/>
          <p:nvPr/>
        </p:nvSpPr>
        <p:spPr>
          <a:xfrm>
            <a:off x="4462272" y="1481328"/>
            <a:ext cx="658368" cy="2286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6" name="Shape 14"/>
          <p:cNvSpPr/>
          <p:nvPr/>
        </p:nvSpPr>
        <p:spPr>
          <a:xfrm>
            <a:off x="3566160" y="2212848"/>
            <a:ext cx="2468880" cy="1828800"/>
          </a:xfrm>
          <a:prstGeom prst="roundRect">
            <a:avLst>
              <a:gd name="adj" fmla="val 4000"/>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17" name="Shape 15"/>
          <p:cNvSpPr/>
          <p:nvPr/>
        </p:nvSpPr>
        <p:spPr>
          <a:xfrm>
            <a:off x="3566160" y="2212848"/>
            <a:ext cx="64008" cy="1828800"/>
          </a:xfrm>
          <a:prstGeom prst="rect">
            <a:avLst/>
          </a:prstGeom>
          <a:solidFill>
            <a:srgbClr val="4F80C1"/>
          </a:solidFill>
          <a:ln w="12700">
            <a:solidFill>
              <a:srgbClr val="4F80C1"/>
            </a:solidFill>
            <a:prstDash val="solid"/>
          </a:ln>
        </p:spPr>
      </p:sp>
      <p:sp>
        <p:nvSpPr>
          <p:cNvPr id="18" name="Text 16"/>
          <p:cNvSpPr/>
          <p:nvPr/>
        </p:nvSpPr>
        <p:spPr>
          <a:xfrm>
            <a:off x="3767328" y="2340864"/>
            <a:ext cx="213969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Weekly Adoption &amp; Usage</a:t>
            </a:r>
            <a:endParaRPr lang="en-US" sz="1300" dirty="0"/>
          </a:p>
        </p:txBody>
      </p:sp>
      <p:sp>
        <p:nvSpPr>
          <p:cNvPr id="19" name="Text 17"/>
          <p:cNvSpPr/>
          <p:nvPr/>
        </p:nvSpPr>
        <p:spPr>
          <a:xfrm>
            <a:off x="3767328" y="2651760"/>
            <a:ext cx="2139696" cy="128016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Decide whether the latest result is sustained, returning, or concentrated.</a:t>
            </a:r>
            <a:endParaRPr lang="en-US" sz="1050" dirty="0"/>
          </a:p>
        </p:txBody>
      </p:sp>
      <p:sp>
        <p:nvSpPr>
          <p:cNvPr id="20" name="Shape 18"/>
          <p:cNvSpPr/>
          <p:nvPr/>
        </p:nvSpPr>
        <p:spPr>
          <a:xfrm>
            <a:off x="6080760" y="1481328"/>
            <a:ext cx="320040" cy="320040"/>
          </a:xfrm>
          <a:prstGeom prst="chevron">
            <a:avLst/>
          </a:prstGeom>
          <a:solidFill>
            <a:srgbClr val="B9AEC8"/>
          </a:solidFill>
          <a:ln w="12700">
            <a:solidFill>
              <a:srgbClr val="B9AEC8"/>
            </a:solidFill>
            <a:prstDash val="solid"/>
          </a:ln>
        </p:spPr>
      </p:sp>
      <p:sp>
        <p:nvSpPr>
          <p:cNvPr id="21" name="Shape 19"/>
          <p:cNvSpPr/>
          <p:nvPr/>
        </p:nvSpPr>
        <p:spPr>
          <a:xfrm>
            <a:off x="7251192" y="1325880"/>
            <a:ext cx="658368" cy="658368"/>
          </a:xfrm>
          <a:prstGeom prst="ellipse">
            <a:avLst/>
          </a:prstGeom>
          <a:solidFill>
            <a:srgbClr val="168B82"/>
          </a:solidFill>
          <a:ln w="25400">
            <a:solidFill>
              <a:srgbClr val="FFFFFF"/>
            </a:solidFill>
            <a:prstDash val="solid"/>
          </a:ln>
        </p:spPr>
      </p:sp>
      <p:sp>
        <p:nvSpPr>
          <p:cNvPr id="22" name="Text 20"/>
          <p:cNvSpPr/>
          <p:nvPr/>
        </p:nvSpPr>
        <p:spPr>
          <a:xfrm>
            <a:off x="7251192" y="1481328"/>
            <a:ext cx="658368" cy="2286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23" name="Shape 21"/>
          <p:cNvSpPr/>
          <p:nvPr/>
        </p:nvSpPr>
        <p:spPr>
          <a:xfrm>
            <a:off x="6355080" y="2212848"/>
            <a:ext cx="2468880" cy="1828800"/>
          </a:xfrm>
          <a:prstGeom prst="roundRect">
            <a:avLst>
              <a:gd name="adj" fmla="val 4000"/>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24" name="Shape 22"/>
          <p:cNvSpPr/>
          <p:nvPr/>
        </p:nvSpPr>
        <p:spPr>
          <a:xfrm>
            <a:off x="6355080" y="2212848"/>
            <a:ext cx="64008" cy="1828800"/>
          </a:xfrm>
          <a:prstGeom prst="rect">
            <a:avLst/>
          </a:prstGeom>
          <a:solidFill>
            <a:srgbClr val="168B82"/>
          </a:solidFill>
          <a:ln w="12700">
            <a:solidFill>
              <a:srgbClr val="168B82"/>
            </a:solidFill>
            <a:prstDash val="solid"/>
          </a:ln>
        </p:spPr>
      </p:sp>
      <p:sp>
        <p:nvSpPr>
          <p:cNvPr id="25" name="Text 23"/>
          <p:cNvSpPr/>
          <p:nvPr/>
        </p:nvSpPr>
        <p:spPr>
          <a:xfrm>
            <a:off x="6556248" y="2340864"/>
            <a:ext cx="213969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Habit Movement</a:t>
            </a:r>
            <a:endParaRPr lang="en-US" sz="1300" dirty="0"/>
          </a:p>
        </p:txBody>
      </p:sp>
      <p:sp>
        <p:nvSpPr>
          <p:cNvPr id="26" name="Text 24"/>
          <p:cNvSpPr/>
          <p:nvPr/>
        </p:nvSpPr>
        <p:spPr>
          <a:xfrm>
            <a:off x="6556248" y="2651760"/>
            <a:ext cx="2139696" cy="128016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See whether people moved to stronger stages or slipped.</a:t>
            </a:r>
            <a:endParaRPr lang="en-US" sz="1050" dirty="0"/>
          </a:p>
        </p:txBody>
      </p:sp>
      <p:sp>
        <p:nvSpPr>
          <p:cNvPr id="27" name="Shape 25"/>
          <p:cNvSpPr/>
          <p:nvPr/>
        </p:nvSpPr>
        <p:spPr>
          <a:xfrm>
            <a:off x="8869680" y="1481328"/>
            <a:ext cx="320040" cy="320040"/>
          </a:xfrm>
          <a:prstGeom prst="chevron">
            <a:avLst/>
          </a:prstGeom>
          <a:solidFill>
            <a:srgbClr val="B9AEC8"/>
          </a:solidFill>
          <a:ln w="12700">
            <a:solidFill>
              <a:srgbClr val="B9AEC8"/>
            </a:solidFill>
            <a:prstDash val="solid"/>
          </a:ln>
        </p:spPr>
      </p:sp>
      <p:sp>
        <p:nvSpPr>
          <p:cNvPr id="28" name="Shape 26"/>
          <p:cNvSpPr/>
          <p:nvPr/>
        </p:nvSpPr>
        <p:spPr>
          <a:xfrm>
            <a:off x="10040112" y="1325880"/>
            <a:ext cx="658368" cy="658368"/>
          </a:xfrm>
          <a:prstGeom prst="ellipse">
            <a:avLst/>
          </a:prstGeom>
          <a:solidFill>
            <a:srgbClr val="3A8F5B"/>
          </a:solidFill>
          <a:ln w="25400">
            <a:solidFill>
              <a:srgbClr val="FFFFFF"/>
            </a:solidFill>
            <a:prstDash val="solid"/>
          </a:ln>
        </p:spPr>
      </p:sp>
      <p:sp>
        <p:nvSpPr>
          <p:cNvPr id="29" name="Text 27"/>
          <p:cNvSpPr/>
          <p:nvPr/>
        </p:nvSpPr>
        <p:spPr>
          <a:xfrm>
            <a:off x="10040112" y="1481328"/>
            <a:ext cx="658368" cy="2286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30" name="Shape 28"/>
          <p:cNvSpPr/>
          <p:nvPr/>
        </p:nvSpPr>
        <p:spPr>
          <a:xfrm>
            <a:off x="9144000" y="2212848"/>
            <a:ext cx="2468880" cy="1828800"/>
          </a:xfrm>
          <a:prstGeom prst="roundRect">
            <a:avLst>
              <a:gd name="adj" fmla="val 4000"/>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31" name="Shape 29"/>
          <p:cNvSpPr/>
          <p:nvPr/>
        </p:nvSpPr>
        <p:spPr>
          <a:xfrm>
            <a:off x="9144000" y="2212848"/>
            <a:ext cx="64008" cy="1828800"/>
          </a:xfrm>
          <a:prstGeom prst="rect">
            <a:avLst/>
          </a:prstGeom>
          <a:solidFill>
            <a:srgbClr val="3A8F5B"/>
          </a:solidFill>
          <a:ln w="12700">
            <a:solidFill>
              <a:srgbClr val="3A8F5B"/>
            </a:solidFill>
            <a:prstDash val="solid"/>
          </a:ln>
        </p:spPr>
      </p:sp>
      <p:sp>
        <p:nvSpPr>
          <p:cNvPr id="32" name="Text 30"/>
          <p:cNvSpPr/>
          <p:nvPr/>
        </p:nvSpPr>
        <p:spPr>
          <a:xfrm>
            <a:off x="9345168" y="2340864"/>
            <a:ext cx="213969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Work Pattern Context</a:t>
            </a:r>
            <a:endParaRPr lang="en-US" sz="1300" dirty="0"/>
          </a:p>
        </p:txBody>
      </p:sp>
      <p:sp>
        <p:nvSpPr>
          <p:cNvPr id="33" name="Text 31"/>
          <p:cNvSpPr/>
          <p:nvPr/>
        </p:nvSpPr>
        <p:spPr>
          <a:xfrm>
            <a:off x="9345168" y="2651760"/>
            <a:ext cx="2139696" cy="128016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Frame descriptive pattern differences and department enablement prompts.</a:t>
            </a:r>
            <a:endParaRPr lang="en-US" sz="1050" dirty="0"/>
          </a:p>
        </p:txBody>
      </p:sp>
      <p:sp>
        <p:nvSpPr>
          <p:cNvPr id="34" name="Shape 32"/>
          <p:cNvSpPr/>
          <p:nvPr/>
        </p:nvSpPr>
        <p:spPr>
          <a:xfrm>
            <a:off x="2011680" y="4389120"/>
            <a:ext cx="8183880" cy="914400"/>
          </a:xfrm>
          <a:prstGeom prst="roundRect">
            <a:avLst>
              <a:gd name="adj" fmla="val 8000"/>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35" name="Shape 33"/>
          <p:cNvSpPr/>
          <p:nvPr/>
        </p:nvSpPr>
        <p:spPr>
          <a:xfrm>
            <a:off x="2011680" y="4389120"/>
            <a:ext cx="64008" cy="914400"/>
          </a:xfrm>
          <a:prstGeom prst="rect">
            <a:avLst/>
          </a:prstGeom>
          <a:solidFill>
            <a:srgbClr val="D9872D"/>
          </a:solidFill>
          <a:ln w="12700">
            <a:solidFill>
              <a:srgbClr val="D9872D"/>
            </a:solidFill>
            <a:prstDash val="solid"/>
          </a:ln>
        </p:spPr>
      </p:sp>
      <p:sp>
        <p:nvSpPr>
          <p:cNvPr id="36" name="Text 34"/>
          <p:cNvSpPr/>
          <p:nvPr/>
        </p:nvSpPr>
        <p:spPr>
          <a:xfrm>
            <a:off x="2212848" y="4517136"/>
            <a:ext cx="785469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Before sharing</a:t>
            </a:r>
            <a:endParaRPr lang="en-US" sz="1300" dirty="0"/>
          </a:p>
        </p:txBody>
      </p:sp>
      <p:sp>
        <p:nvSpPr>
          <p:cNvPr id="37" name="Text 35"/>
          <p:cNvSpPr/>
          <p:nvPr/>
        </p:nvSpPr>
        <p:spPr>
          <a:xfrm>
            <a:off x="2212848" y="4828032"/>
            <a:ext cx="7854696" cy="36576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Confirm the exact metric definition and evidence class on Methods and Metric Guide. Use Champion Identification only for enablement outreach and Adoption by Attributes only after population and field coverage are checked.</a:t>
            </a:r>
            <a:endParaRPr lang="en-US" sz="1050" dirty="0"/>
          </a:p>
        </p:txBody>
      </p:sp>
      <p:sp>
        <p:nvSpPr>
          <p:cNvPr id="38" name="Shape 36"/>
          <p:cNvSpPr/>
          <p:nvPr/>
        </p:nvSpPr>
        <p:spPr>
          <a:xfrm>
            <a:off x="594360" y="5925312"/>
            <a:ext cx="11018520" cy="438912"/>
          </a:xfrm>
          <a:prstGeom prst="roundRect">
            <a:avLst>
              <a:gd name="adj" fmla="val 12500"/>
            </a:avLst>
          </a:prstGeom>
          <a:solidFill>
            <a:srgbClr val="F7EEE4"/>
          </a:solidFill>
          <a:ln w="12700">
            <a:solidFill>
              <a:srgbClr val="E4C49A"/>
            </a:solidFill>
            <a:prstDash val="solid"/>
          </a:ln>
        </p:spPr>
      </p:sp>
      <p:sp>
        <p:nvSpPr>
          <p:cNvPr id="39" name="Text 37"/>
          <p:cNvSpPr/>
          <p:nvPr/>
        </p:nvSpPr>
        <p:spPr>
          <a:xfrm>
            <a:off x="749808" y="6053328"/>
            <a:ext cx="804672" cy="146304"/>
          </a:xfrm>
          <a:prstGeom prst="rect">
            <a:avLst/>
          </a:prstGeom>
          <a:noFill/>
          <a:ln/>
        </p:spPr>
        <p:txBody>
          <a:bodyPr wrap="square" lIns="0" tIns="0" rIns="0" bIns="0" rtlCol="0" anchor="ctr"/>
          <a:lstStyle/>
          <a:p>
            <a:pPr indent="0" marL="0">
              <a:buNone/>
            </a:pPr>
            <a:r>
              <a:rPr lang="en-US" sz="850" b="1" dirty="0">
                <a:solidFill>
                  <a:srgbClr val="D9872D"/>
                </a:solidFill>
                <a:latin typeface="Segoe UI Semibold" pitchFamily="34" charset="0"/>
                <a:ea typeface="Segoe UI Semibold" pitchFamily="34" charset="-122"/>
                <a:cs typeface="Segoe UI Semibold" pitchFamily="34" charset="-120"/>
              </a:rPr>
              <a:t>GUARDRAIL</a:t>
            </a:r>
            <a:endParaRPr lang="en-US" sz="850" dirty="0"/>
          </a:p>
        </p:txBody>
      </p:sp>
      <p:sp>
        <p:nvSpPr>
          <p:cNvPr id="40" name="Text 38"/>
          <p:cNvSpPr/>
          <p:nvPr/>
        </p:nvSpPr>
        <p:spPr>
          <a:xfrm>
            <a:off x="1600200" y="6007608"/>
            <a:ext cx="9784080" cy="210312"/>
          </a:xfrm>
          <a:prstGeom prst="rect">
            <a:avLst/>
          </a:prstGeom>
          <a:noFill/>
          <a:ln/>
        </p:spPr>
        <p:txBody>
          <a:bodyPr wrap="square" lIns="0" tIns="0" rIns="0" bIns="0" rtlCol="0" anchor="ctr"/>
          <a:lstStyle/>
          <a:p>
            <a:pPr indent="0" marL="0">
              <a:buNone/>
            </a:pPr>
            <a:r>
              <a:rPr lang="en-US" sz="930" dirty="0">
                <a:solidFill>
                  <a:srgbClr val="172033"/>
                </a:solidFill>
                <a:latin typeface="Segoe UI" pitchFamily="34" charset="0"/>
                <a:ea typeface="Segoe UI" pitchFamily="34" charset="-122"/>
                <a:cs typeface="Segoe UI" pitchFamily="34" charset="-120"/>
              </a:rPr>
              <a:t>One page answers the question; a second page supplies context. More pages do not automatically create a stronger conclusion.</a:t>
            </a:r>
            <a:endParaRPr lang="en-US" sz="9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20040"/>
            <a:ext cx="8046720" cy="438912"/>
          </a:xfrm>
          <a:prstGeom prst="rect">
            <a:avLst/>
          </a:prstGeom>
          <a:noFill/>
          <a:ln/>
        </p:spPr>
        <p:txBody>
          <a:bodyPr wrap="square" lIns="0" tIns="0" rIns="0" bIns="0" rtlCol="0" anchor="ctr"/>
          <a:lstStyle/>
          <a:p>
            <a:pPr indent="0" marL="0">
              <a:buNone/>
            </a:pPr>
            <a:r>
              <a:rPr lang="en-US" sz="2600" b="1" dirty="0">
                <a:solidFill>
                  <a:srgbClr val="172033"/>
                </a:solidFill>
                <a:latin typeface="Segoe UI Semibold" pitchFamily="34" charset="0"/>
                <a:ea typeface="Segoe UI Semibold" pitchFamily="34" charset="-122"/>
                <a:cs typeface="Segoe UI Semibold" pitchFamily="34" charset="-120"/>
              </a:rPr>
              <a:t>Evidence model at a glance</a:t>
            </a:r>
            <a:endParaRPr lang="en-US" sz="2600" dirty="0"/>
          </a:p>
        </p:txBody>
      </p:sp>
      <p:sp>
        <p:nvSpPr>
          <p:cNvPr id="3" name="Text 1"/>
          <p:cNvSpPr/>
          <p:nvPr/>
        </p:nvSpPr>
        <p:spPr>
          <a:xfrm>
            <a:off x="502920" y="795528"/>
            <a:ext cx="10881360" cy="310896"/>
          </a:xfrm>
          <a:prstGeom prst="rect">
            <a:avLst/>
          </a:prstGeom>
          <a:noFill/>
          <a:ln/>
        </p:spPr>
        <p:txBody>
          <a:bodyPr wrap="square" lIns="0" tIns="0" rIns="0" bIns="0" rtlCol="0" anchor="ctr"/>
          <a:lstStyle/>
          <a:p>
            <a:pPr indent="0" marL="0">
              <a:buNone/>
            </a:pPr>
            <a:r>
              <a:rPr lang="en-US" sz="1200" dirty="0">
                <a:solidFill>
                  <a:srgbClr val="647084"/>
                </a:solidFill>
                <a:latin typeface="Segoe UI" pitchFamily="34" charset="0"/>
                <a:ea typeface="Segoe UI" pitchFamily="34" charset="-122"/>
                <a:cs typeface="Segoe UI" pitchFamily="34" charset="-120"/>
              </a:rPr>
              <a:t>Two observed query results become one privacy-aware person-week model</a:t>
            </a:r>
            <a:endParaRPr lang="en-US" sz="1200" dirty="0"/>
          </a:p>
        </p:txBody>
      </p:sp>
      <p:sp>
        <p:nvSpPr>
          <p:cNvPr id="4" name="Text 2"/>
          <p:cNvSpPr/>
          <p:nvPr/>
        </p:nvSpPr>
        <p:spPr>
          <a:xfrm>
            <a:off x="502920" y="6510528"/>
            <a:ext cx="3017520" cy="164592"/>
          </a:xfrm>
          <a:prstGeom prst="rect">
            <a:avLst/>
          </a:prstGeom>
          <a:noFill/>
          <a:ln/>
        </p:spPr>
        <p:txBody>
          <a:bodyPr wrap="square" lIns="0" tIns="0" rIns="0" bIns="0" rtlCol="0" anchor="ctr"/>
          <a:lstStyle/>
          <a:p>
            <a:pPr indent="0" marL="0">
              <a:buNone/>
            </a:pPr>
            <a:r>
              <a:rPr lang="en-US" sz="800" dirty="0">
                <a:solidFill>
                  <a:srgbClr val="647084"/>
                </a:solidFill>
                <a:latin typeface="Segoe UI" pitchFamily="34" charset="0"/>
                <a:ea typeface="Segoe UI" pitchFamily="34" charset="-122"/>
                <a:cs typeface="Segoe UI" pitchFamily="34" charset="-120"/>
              </a:rPr>
              <a:t>microsoft/CoworkSuperUser</a:t>
            </a:r>
            <a:endParaRPr lang="en-US" sz="800" dirty="0"/>
          </a:p>
        </p:txBody>
      </p:sp>
      <p:sp>
        <p:nvSpPr>
          <p:cNvPr id="5" name="Text 3"/>
          <p:cNvSpPr/>
          <p:nvPr/>
        </p:nvSpPr>
        <p:spPr>
          <a:xfrm>
            <a:off x="7772400" y="6510528"/>
            <a:ext cx="356616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Version 1.0 | Public | Interpretation Guide</a:t>
            </a:r>
            <a:endParaRPr lang="en-US" sz="800" dirty="0"/>
          </a:p>
        </p:txBody>
      </p:sp>
      <p:sp>
        <p:nvSpPr>
          <p:cNvPr id="6" name="Text 4"/>
          <p:cNvSpPr/>
          <p:nvPr/>
        </p:nvSpPr>
        <p:spPr>
          <a:xfrm>
            <a:off x="11384280" y="6510528"/>
            <a:ext cx="32004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5</a:t>
            </a:r>
            <a:endParaRPr lang="en-US" sz="800" dirty="0"/>
          </a:p>
        </p:txBody>
      </p:sp>
      <p:sp>
        <p:nvSpPr>
          <p:cNvPr id="7" name="Shape 5"/>
          <p:cNvSpPr/>
          <p:nvPr/>
        </p:nvSpPr>
        <p:spPr>
          <a:xfrm>
            <a:off x="594360" y="1325880"/>
            <a:ext cx="2971800" cy="1325880"/>
          </a:xfrm>
          <a:prstGeom prst="roundRect">
            <a:avLst>
              <a:gd name="adj" fmla="val 5517"/>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8" name="Shape 6"/>
          <p:cNvSpPr/>
          <p:nvPr/>
        </p:nvSpPr>
        <p:spPr>
          <a:xfrm>
            <a:off x="594360" y="1325880"/>
            <a:ext cx="64008" cy="1325880"/>
          </a:xfrm>
          <a:prstGeom prst="rect">
            <a:avLst/>
          </a:prstGeom>
          <a:solidFill>
            <a:srgbClr val="4F80C1"/>
          </a:solidFill>
          <a:ln w="12700">
            <a:solidFill>
              <a:srgbClr val="4F80C1"/>
            </a:solidFill>
            <a:prstDash val="solid"/>
          </a:ln>
        </p:spPr>
      </p:sp>
      <p:sp>
        <p:nvSpPr>
          <p:cNvPr id="9" name="Text 7"/>
          <p:cNvSpPr/>
          <p:nvPr/>
        </p:nvSpPr>
        <p:spPr>
          <a:xfrm>
            <a:off x="795528" y="1453896"/>
            <a:ext cx="264261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Viva Insights Person Query</a:t>
            </a:r>
            <a:endParaRPr lang="en-US" sz="1300" dirty="0"/>
          </a:p>
        </p:txBody>
      </p:sp>
      <p:sp>
        <p:nvSpPr>
          <p:cNvPr id="10" name="Text 8"/>
          <p:cNvSpPr/>
          <p:nvPr/>
        </p:nvSpPr>
        <p:spPr>
          <a:xfrm>
            <a:off x="795528" y="1764792"/>
            <a:ext cx="2642616" cy="77724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Person + week</a:t>
            </a: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Population spine, organization attributes, and work-pattern context.</a:t>
            </a:r>
            <a:endParaRPr lang="en-US" sz="1050" dirty="0"/>
          </a:p>
        </p:txBody>
      </p:sp>
      <p:sp>
        <p:nvSpPr>
          <p:cNvPr id="11" name="Shape 9"/>
          <p:cNvSpPr/>
          <p:nvPr/>
        </p:nvSpPr>
        <p:spPr>
          <a:xfrm>
            <a:off x="594360" y="2880360"/>
            <a:ext cx="2971800" cy="1325880"/>
          </a:xfrm>
          <a:prstGeom prst="roundRect">
            <a:avLst>
              <a:gd name="adj" fmla="val 5517"/>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12" name="Shape 10"/>
          <p:cNvSpPr/>
          <p:nvPr/>
        </p:nvSpPr>
        <p:spPr>
          <a:xfrm>
            <a:off x="594360" y="2880360"/>
            <a:ext cx="64008" cy="1325880"/>
          </a:xfrm>
          <a:prstGeom prst="rect">
            <a:avLst/>
          </a:prstGeom>
          <a:solidFill>
            <a:srgbClr val="168B82"/>
          </a:solidFill>
          <a:ln w="12700">
            <a:solidFill>
              <a:srgbClr val="168B82"/>
            </a:solidFill>
            <a:prstDash val="solid"/>
          </a:ln>
        </p:spPr>
      </p:sp>
      <p:sp>
        <p:nvSpPr>
          <p:cNvPr id="13" name="Text 11"/>
          <p:cNvSpPr/>
          <p:nvPr/>
        </p:nvSpPr>
        <p:spPr>
          <a:xfrm>
            <a:off x="795528" y="3008376"/>
            <a:ext cx="264261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Cowork consumption result</a:t>
            </a:r>
            <a:endParaRPr lang="en-US" sz="1300" dirty="0"/>
          </a:p>
        </p:txBody>
      </p:sp>
      <p:sp>
        <p:nvSpPr>
          <p:cNvPr id="14" name="Text 12"/>
          <p:cNvSpPr/>
          <p:nvPr/>
        </p:nvSpPr>
        <p:spPr>
          <a:xfrm>
            <a:off x="795528" y="3319272"/>
            <a:ext cx="2642616" cy="77724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Person + service + policy + date</a:t>
            </a: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Sessions, credits, coverage, and policy context.</a:t>
            </a:r>
            <a:endParaRPr lang="en-US" sz="1050" dirty="0"/>
          </a:p>
        </p:txBody>
      </p:sp>
      <p:sp>
        <p:nvSpPr>
          <p:cNvPr id="15" name="Shape 13"/>
          <p:cNvSpPr/>
          <p:nvPr/>
        </p:nvSpPr>
        <p:spPr>
          <a:xfrm>
            <a:off x="3822192" y="2331720"/>
            <a:ext cx="548640" cy="822960"/>
          </a:xfrm>
          <a:prstGeom prst="chevron">
            <a:avLst/>
          </a:prstGeom>
          <a:solidFill>
            <a:srgbClr val="8E77B5"/>
          </a:solidFill>
          <a:ln w="12700">
            <a:solidFill>
              <a:srgbClr val="8E77B5"/>
            </a:solidFill>
            <a:prstDash val="solid"/>
          </a:ln>
        </p:spPr>
      </p:sp>
      <p:sp>
        <p:nvSpPr>
          <p:cNvPr id="16" name="Shape 14"/>
          <p:cNvSpPr/>
          <p:nvPr/>
        </p:nvSpPr>
        <p:spPr>
          <a:xfrm>
            <a:off x="4617720" y="1828800"/>
            <a:ext cx="3063240" cy="1920240"/>
          </a:xfrm>
          <a:prstGeom prst="roundRect">
            <a:avLst>
              <a:gd name="adj" fmla="val 3810"/>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17" name="Shape 15"/>
          <p:cNvSpPr/>
          <p:nvPr/>
        </p:nvSpPr>
        <p:spPr>
          <a:xfrm>
            <a:off x="4617720" y="1828800"/>
            <a:ext cx="64008" cy="1920240"/>
          </a:xfrm>
          <a:prstGeom prst="rect">
            <a:avLst/>
          </a:prstGeom>
          <a:solidFill>
            <a:srgbClr val="6B4EA2"/>
          </a:solidFill>
          <a:ln w="12700">
            <a:solidFill>
              <a:srgbClr val="6B4EA2"/>
            </a:solidFill>
            <a:prstDash val="solid"/>
          </a:ln>
        </p:spPr>
      </p:sp>
      <p:sp>
        <p:nvSpPr>
          <p:cNvPr id="18" name="Text 16"/>
          <p:cNvSpPr/>
          <p:nvPr/>
        </p:nvSpPr>
        <p:spPr>
          <a:xfrm>
            <a:off x="4818888" y="1956816"/>
            <a:ext cx="273405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Integrated person-week model</a:t>
            </a:r>
            <a:endParaRPr lang="en-US" sz="1300" dirty="0"/>
          </a:p>
        </p:txBody>
      </p:sp>
      <p:sp>
        <p:nvSpPr>
          <p:cNvPr id="19" name="Text 17"/>
          <p:cNvSpPr/>
          <p:nvPr/>
        </p:nvSpPr>
        <p:spPr>
          <a:xfrm>
            <a:off x="4818888" y="2267712"/>
            <a:ext cx="2734056" cy="137160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Sunday-start weeks</a:t>
            </a: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Validated uniqueness</a:t>
            </a: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Cowork-only aggregation</a:t>
            </a: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Coverage-aware zeros</a:t>
            </a: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Available-history stages</a:t>
            </a:r>
            <a:endParaRPr lang="en-US" sz="1050" dirty="0"/>
          </a:p>
        </p:txBody>
      </p:sp>
      <p:sp>
        <p:nvSpPr>
          <p:cNvPr id="20" name="Shape 18"/>
          <p:cNvSpPr/>
          <p:nvPr/>
        </p:nvSpPr>
        <p:spPr>
          <a:xfrm>
            <a:off x="7909560" y="2331720"/>
            <a:ext cx="548640" cy="822960"/>
          </a:xfrm>
          <a:prstGeom prst="chevron">
            <a:avLst/>
          </a:prstGeom>
          <a:solidFill>
            <a:srgbClr val="8E77B5"/>
          </a:solidFill>
          <a:ln w="12700">
            <a:solidFill>
              <a:srgbClr val="8E77B5"/>
            </a:solidFill>
            <a:prstDash val="solid"/>
          </a:ln>
        </p:spPr>
      </p:sp>
      <p:sp>
        <p:nvSpPr>
          <p:cNvPr id="21" name="Shape 19"/>
          <p:cNvSpPr/>
          <p:nvPr/>
        </p:nvSpPr>
        <p:spPr>
          <a:xfrm>
            <a:off x="8686800" y="1325880"/>
            <a:ext cx="2880360" cy="1325880"/>
          </a:xfrm>
          <a:prstGeom prst="roundRect">
            <a:avLst>
              <a:gd name="adj" fmla="val 5517"/>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22" name="Shape 20"/>
          <p:cNvSpPr/>
          <p:nvPr/>
        </p:nvSpPr>
        <p:spPr>
          <a:xfrm>
            <a:off x="8686800" y="1325880"/>
            <a:ext cx="64008" cy="1325880"/>
          </a:xfrm>
          <a:prstGeom prst="rect">
            <a:avLst/>
          </a:prstGeom>
          <a:solidFill>
            <a:srgbClr val="3A8F5B"/>
          </a:solidFill>
          <a:ln w="12700">
            <a:solidFill>
              <a:srgbClr val="3A8F5B"/>
            </a:solidFill>
            <a:prstDash val="solid"/>
          </a:ln>
        </p:spPr>
      </p:sp>
      <p:sp>
        <p:nvSpPr>
          <p:cNvPr id="23" name="Text 21"/>
          <p:cNvSpPr/>
          <p:nvPr/>
        </p:nvSpPr>
        <p:spPr>
          <a:xfrm>
            <a:off x="8887968" y="1453896"/>
            <a:ext cx="255117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Decision pages</a:t>
            </a:r>
            <a:endParaRPr lang="en-US" sz="1300" dirty="0"/>
          </a:p>
        </p:txBody>
      </p:sp>
      <p:sp>
        <p:nvSpPr>
          <p:cNvPr id="24" name="Text 22"/>
          <p:cNvSpPr/>
          <p:nvPr/>
        </p:nvSpPr>
        <p:spPr>
          <a:xfrm>
            <a:off x="8887968" y="1764792"/>
            <a:ext cx="2551176" cy="77724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Reach, return, movement, champions, consumption, attributes, and work patterns.</a:t>
            </a:r>
            <a:endParaRPr lang="en-US" sz="1050" dirty="0"/>
          </a:p>
        </p:txBody>
      </p:sp>
      <p:sp>
        <p:nvSpPr>
          <p:cNvPr id="25" name="Shape 23"/>
          <p:cNvSpPr/>
          <p:nvPr/>
        </p:nvSpPr>
        <p:spPr>
          <a:xfrm>
            <a:off x="8686800" y="2880360"/>
            <a:ext cx="2880360" cy="1325880"/>
          </a:xfrm>
          <a:prstGeom prst="roundRect">
            <a:avLst>
              <a:gd name="adj" fmla="val 5517"/>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26" name="Shape 24"/>
          <p:cNvSpPr/>
          <p:nvPr/>
        </p:nvSpPr>
        <p:spPr>
          <a:xfrm>
            <a:off x="8686800" y="2880360"/>
            <a:ext cx="64008" cy="1325880"/>
          </a:xfrm>
          <a:prstGeom prst="rect">
            <a:avLst/>
          </a:prstGeom>
          <a:solidFill>
            <a:srgbClr val="D9872D"/>
          </a:solidFill>
          <a:ln w="12700">
            <a:solidFill>
              <a:srgbClr val="D9872D"/>
            </a:solidFill>
            <a:prstDash val="solid"/>
          </a:ln>
        </p:spPr>
      </p:sp>
      <p:sp>
        <p:nvSpPr>
          <p:cNvPr id="27" name="Text 25"/>
          <p:cNvSpPr/>
          <p:nvPr/>
        </p:nvSpPr>
        <p:spPr>
          <a:xfrm>
            <a:off x="8887968" y="3008376"/>
            <a:ext cx="255117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Interpretation controls</a:t>
            </a:r>
            <a:endParaRPr lang="en-US" sz="1300" dirty="0"/>
          </a:p>
        </p:txBody>
      </p:sp>
      <p:sp>
        <p:nvSpPr>
          <p:cNvPr id="28" name="Text 26"/>
          <p:cNvSpPr/>
          <p:nvPr/>
        </p:nvSpPr>
        <p:spPr>
          <a:xfrm>
            <a:off x="8887968" y="3319272"/>
            <a:ext cx="2551176" cy="77724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10-person privacy floor, definitions, evidence classes, and provisional history.</a:t>
            </a:r>
            <a:endParaRPr lang="en-US" sz="1050" dirty="0"/>
          </a:p>
        </p:txBody>
      </p:sp>
      <p:sp>
        <p:nvSpPr>
          <p:cNvPr id="29" name="Shape 27"/>
          <p:cNvSpPr/>
          <p:nvPr/>
        </p:nvSpPr>
        <p:spPr>
          <a:xfrm>
            <a:off x="594360" y="5925312"/>
            <a:ext cx="11018520" cy="438912"/>
          </a:xfrm>
          <a:prstGeom prst="roundRect">
            <a:avLst>
              <a:gd name="adj" fmla="val 12500"/>
            </a:avLst>
          </a:prstGeom>
          <a:solidFill>
            <a:srgbClr val="F7EEE4"/>
          </a:solidFill>
          <a:ln w="12700">
            <a:solidFill>
              <a:srgbClr val="E4C49A"/>
            </a:solidFill>
            <a:prstDash val="solid"/>
          </a:ln>
        </p:spPr>
      </p:sp>
      <p:sp>
        <p:nvSpPr>
          <p:cNvPr id="30" name="Text 28"/>
          <p:cNvSpPr/>
          <p:nvPr/>
        </p:nvSpPr>
        <p:spPr>
          <a:xfrm>
            <a:off x="749808" y="6053328"/>
            <a:ext cx="804672" cy="146304"/>
          </a:xfrm>
          <a:prstGeom prst="rect">
            <a:avLst/>
          </a:prstGeom>
          <a:noFill/>
          <a:ln/>
        </p:spPr>
        <p:txBody>
          <a:bodyPr wrap="square" lIns="0" tIns="0" rIns="0" bIns="0" rtlCol="0" anchor="ctr"/>
          <a:lstStyle/>
          <a:p>
            <a:pPr indent="0" marL="0">
              <a:buNone/>
            </a:pPr>
            <a:r>
              <a:rPr lang="en-US" sz="850" b="1" dirty="0">
                <a:solidFill>
                  <a:srgbClr val="D9872D"/>
                </a:solidFill>
                <a:latin typeface="Segoe UI Semibold" pitchFamily="34" charset="0"/>
                <a:ea typeface="Segoe UI Semibold" pitchFamily="34" charset="-122"/>
                <a:cs typeface="Segoe UI Semibold" pitchFamily="34" charset="-120"/>
              </a:rPr>
              <a:t>GUARDRAIL</a:t>
            </a:r>
            <a:endParaRPr lang="en-US" sz="850" dirty="0"/>
          </a:p>
        </p:txBody>
      </p:sp>
      <p:sp>
        <p:nvSpPr>
          <p:cNvPr id="31" name="Text 29"/>
          <p:cNvSpPr/>
          <p:nvPr/>
        </p:nvSpPr>
        <p:spPr>
          <a:xfrm>
            <a:off x="1600200" y="6007608"/>
            <a:ext cx="9784080" cy="210312"/>
          </a:xfrm>
          <a:prstGeom prst="rect">
            <a:avLst/>
          </a:prstGeom>
          <a:noFill/>
          <a:ln/>
        </p:spPr>
        <p:txBody>
          <a:bodyPr wrap="square" lIns="0" tIns="0" rIns="0" bIns="0" rtlCol="0" anchor="ctr"/>
          <a:lstStyle/>
          <a:p>
            <a:pPr indent="0" marL="0">
              <a:buNone/>
            </a:pPr>
            <a:r>
              <a:rPr lang="en-US" sz="930" dirty="0">
                <a:solidFill>
                  <a:srgbClr val="172033"/>
                </a:solidFill>
                <a:latin typeface="Segoe UI" pitchFamily="34" charset="0"/>
                <a:ea typeface="Segoe UI" pitchFamily="34" charset="-122"/>
                <a:cs typeface="Segoe UI" pitchFamily="34" charset="-120"/>
              </a:rPr>
              <a:t>A missing fact becomes zero only when that week is covered. Missing optional fields and uncovered periods remain unavailable.</a:t>
            </a:r>
            <a:endParaRPr lang="en-US" sz="9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20040"/>
            <a:ext cx="8046720" cy="438912"/>
          </a:xfrm>
          <a:prstGeom prst="rect">
            <a:avLst/>
          </a:prstGeom>
          <a:noFill/>
          <a:ln/>
        </p:spPr>
        <p:txBody>
          <a:bodyPr wrap="square" lIns="0" tIns="0" rIns="0" bIns="0" rtlCol="0" anchor="ctr"/>
          <a:lstStyle/>
          <a:p>
            <a:pPr indent="0" marL="0">
              <a:buNone/>
            </a:pPr>
            <a:r>
              <a:rPr lang="en-US" sz="2600" b="1" dirty="0">
                <a:solidFill>
                  <a:srgbClr val="172033"/>
                </a:solidFill>
                <a:latin typeface="Segoe UI Semibold" pitchFamily="34" charset="0"/>
                <a:ea typeface="Segoe UI Semibold" pitchFamily="34" charset="-122"/>
                <a:cs typeface="Segoe UI Semibold" pitchFamily="34" charset="-120"/>
              </a:rPr>
              <a:t>Different evidence requires different wording</a:t>
            </a:r>
            <a:endParaRPr lang="en-US" sz="2600" dirty="0"/>
          </a:p>
        </p:txBody>
      </p:sp>
      <p:sp>
        <p:nvSpPr>
          <p:cNvPr id="3" name="Text 1"/>
          <p:cNvSpPr/>
          <p:nvPr/>
        </p:nvSpPr>
        <p:spPr>
          <a:xfrm>
            <a:off x="502920" y="795528"/>
            <a:ext cx="10881360" cy="310896"/>
          </a:xfrm>
          <a:prstGeom prst="rect">
            <a:avLst/>
          </a:prstGeom>
          <a:noFill/>
          <a:ln/>
        </p:spPr>
        <p:txBody>
          <a:bodyPr wrap="square" lIns="0" tIns="0" rIns="0" bIns="0" rtlCol="0" anchor="ctr"/>
          <a:lstStyle/>
          <a:p>
            <a:pPr indent="0" marL="0">
              <a:buNone/>
            </a:pPr>
            <a:r>
              <a:rPr lang="en-US" sz="1200" dirty="0">
                <a:solidFill>
                  <a:srgbClr val="647084"/>
                </a:solidFill>
                <a:latin typeface="Segoe UI" pitchFamily="34" charset="0"/>
                <a:ea typeface="Segoe UI" pitchFamily="34" charset="-122"/>
                <a:cs typeface="Segoe UI" pitchFamily="34" charset="-120"/>
              </a:rPr>
              <a:t>Match the claim to the calculation's actual evidence condition</a:t>
            </a:r>
            <a:endParaRPr lang="en-US" sz="1200" dirty="0"/>
          </a:p>
        </p:txBody>
      </p:sp>
      <p:sp>
        <p:nvSpPr>
          <p:cNvPr id="4" name="Text 2"/>
          <p:cNvSpPr/>
          <p:nvPr/>
        </p:nvSpPr>
        <p:spPr>
          <a:xfrm>
            <a:off x="502920" y="6510528"/>
            <a:ext cx="3017520" cy="164592"/>
          </a:xfrm>
          <a:prstGeom prst="rect">
            <a:avLst/>
          </a:prstGeom>
          <a:noFill/>
          <a:ln/>
        </p:spPr>
        <p:txBody>
          <a:bodyPr wrap="square" lIns="0" tIns="0" rIns="0" bIns="0" rtlCol="0" anchor="ctr"/>
          <a:lstStyle/>
          <a:p>
            <a:pPr indent="0" marL="0">
              <a:buNone/>
            </a:pPr>
            <a:r>
              <a:rPr lang="en-US" sz="800" dirty="0">
                <a:solidFill>
                  <a:srgbClr val="647084"/>
                </a:solidFill>
                <a:latin typeface="Segoe UI" pitchFamily="34" charset="0"/>
                <a:ea typeface="Segoe UI" pitchFamily="34" charset="-122"/>
                <a:cs typeface="Segoe UI" pitchFamily="34" charset="-120"/>
              </a:rPr>
              <a:t>microsoft/CoworkSuperUser</a:t>
            </a:r>
            <a:endParaRPr lang="en-US" sz="800" dirty="0"/>
          </a:p>
        </p:txBody>
      </p:sp>
      <p:sp>
        <p:nvSpPr>
          <p:cNvPr id="5" name="Text 3"/>
          <p:cNvSpPr/>
          <p:nvPr/>
        </p:nvSpPr>
        <p:spPr>
          <a:xfrm>
            <a:off x="7772400" y="6510528"/>
            <a:ext cx="356616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Version 1.0 | Public | Interpretation Guide</a:t>
            </a:r>
            <a:endParaRPr lang="en-US" sz="800" dirty="0"/>
          </a:p>
        </p:txBody>
      </p:sp>
      <p:sp>
        <p:nvSpPr>
          <p:cNvPr id="6" name="Text 4"/>
          <p:cNvSpPr/>
          <p:nvPr/>
        </p:nvSpPr>
        <p:spPr>
          <a:xfrm>
            <a:off x="11384280" y="6510528"/>
            <a:ext cx="32004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6</a:t>
            </a:r>
            <a:endParaRPr lang="en-US" sz="800" dirty="0"/>
          </a:p>
        </p:txBody>
      </p:sp>
      <p:sp>
        <p:nvSpPr>
          <p:cNvPr id="7" name="Shape 5"/>
          <p:cNvSpPr/>
          <p:nvPr/>
        </p:nvSpPr>
        <p:spPr>
          <a:xfrm>
            <a:off x="594360" y="1325880"/>
            <a:ext cx="3429000" cy="1572768"/>
          </a:xfrm>
          <a:prstGeom prst="roundRect">
            <a:avLst>
              <a:gd name="adj" fmla="val 4651"/>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8" name="Shape 6"/>
          <p:cNvSpPr/>
          <p:nvPr/>
        </p:nvSpPr>
        <p:spPr>
          <a:xfrm>
            <a:off x="594360" y="1325880"/>
            <a:ext cx="64008" cy="1572768"/>
          </a:xfrm>
          <a:prstGeom prst="rect">
            <a:avLst/>
          </a:prstGeom>
          <a:solidFill>
            <a:srgbClr val="4F80C1"/>
          </a:solidFill>
          <a:ln w="12700">
            <a:solidFill>
              <a:srgbClr val="4F80C1"/>
            </a:solidFill>
            <a:prstDash val="solid"/>
          </a:ln>
        </p:spPr>
      </p:sp>
      <p:sp>
        <p:nvSpPr>
          <p:cNvPr id="9" name="Text 7"/>
          <p:cNvSpPr/>
          <p:nvPr/>
        </p:nvSpPr>
        <p:spPr>
          <a:xfrm>
            <a:off x="795528" y="1453896"/>
            <a:ext cx="309981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OBSERVED</a:t>
            </a:r>
            <a:endParaRPr lang="en-US" sz="1300" dirty="0"/>
          </a:p>
        </p:txBody>
      </p:sp>
      <p:sp>
        <p:nvSpPr>
          <p:cNvPr id="10" name="Text 8"/>
          <p:cNvSpPr/>
          <p:nvPr/>
        </p:nvSpPr>
        <p:spPr>
          <a:xfrm>
            <a:off x="795528" y="1764792"/>
            <a:ext cx="3099816" cy="1024128"/>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Direct source aggregation</a:t>
            </a:r>
            <a:endParaRPr lang="en-US" sz="1050" dirty="0"/>
          </a:p>
          <a:p>
            <a:pPr indent="0" marL="0">
              <a:buNone/>
            </a:pP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"The connected result contains..."</a:t>
            </a:r>
            <a:endParaRPr lang="en-US" sz="1050" dirty="0"/>
          </a:p>
        </p:txBody>
      </p:sp>
      <p:sp>
        <p:nvSpPr>
          <p:cNvPr id="11" name="Shape 9"/>
          <p:cNvSpPr/>
          <p:nvPr/>
        </p:nvSpPr>
        <p:spPr>
          <a:xfrm>
            <a:off x="4361688" y="1325880"/>
            <a:ext cx="3429000" cy="1572768"/>
          </a:xfrm>
          <a:prstGeom prst="roundRect">
            <a:avLst>
              <a:gd name="adj" fmla="val 4651"/>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12" name="Shape 10"/>
          <p:cNvSpPr/>
          <p:nvPr/>
        </p:nvSpPr>
        <p:spPr>
          <a:xfrm>
            <a:off x="4361688" y="1325880"/>
            <a:ext cx="64008" cy="1572768"/>
          </a:xfrm>
          <a:prstGeom prst="rect">
            <a:avLst/>
          </a:prstGeom>
          <a:solidFill>
            <a:srgbClr val="6B4EA2"/>
          </a:solidFill>
          <a:ln w="12700">
            <a:solidFill>
              <a:srgbClr val="6B4EA2"/>
            </a:solidFill>
            <a:prstDash val="solid"/>
          </a:ln>
        </p:spPr>
      </p:sp>
      <p:sp>
        <p:nvSpPr>
          <p:cNvPr id="13" name="Text 11"/>
          <p:cNvSpPr/>
          <p:nvPr/>
        </p:nvSpPr>
        <p:spPr>
          <a:xfrm>
            <a:off x="4562856" y="1453896"/>
            <a:ext cx="309981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DERIVED</a:t>
            </a:r>
            <a:endParaRPr lang="en-US" sz="1300" dirty="0"/>
          </a:p>
        </p:txBody>
      </p:sp>
      <p:sp>
        <p:nvSpPr>
          <p:cNvPr id="14" name="Text 12"/>
          <p:cNvSpPr/>
          <p:nvPr/>
        </p:nvSpPr>
        <p:spPr>
          <a:xfrm>
            <a:off x="4562856" y="1764792"/>
            <a:ext cx="3099816" cy="1024128"/>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Arithmetic over observed fields</a:t>
            </a:r>
            <a:endParaRPr lang="en-US" sz="1050" dirty="0"/>
          </a:p>
          <a:p>
            <a:pPr indent="0" marL="0">
              <a:buNone/>
            </a:pP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"The report calculates..."</a:t>
            </a:r>
            <a:endParaRPr lang="en-US" sz="1050" dirty="0"/>
          </a:p>
        </p:txBody>
      </p:sp>
      <p:sp>
        <p:nvSpPr>
          <p:cNvPr id="15" name="Shape 13"/>
          <p:cNvSpPr/>
          <p:nvPr/>
        </p:nvSpPr>
        <p:spPr>
          <a:xfrm>
            <a:off x="8129016" y="1325880"/>
            <a:ext cx="3429000" cy="1572768"/>
          </a:xfrm>
          <a:prstGeom prst="roundRect">
            <a:avLst>
              <a:gd name="adj" fmla="val 4651"/>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16" name="Shape 14"/>
          <p:cNvSpPr/>
          <p:nvPr/>
        </p:nvSpPr>
        <p:spPr>
          <a:xfrm>
            <a:off x="8129016" y="1325880"/>
            <a:ext cx="64008" cy="1572768"/>
          </a:xfrm>
          <a:prstGeom prst="rect">
            <a:avLst/>
          </a:prstGeom>
          <a:solidFill>
            <a:srgbClr val="168B82"/>
          </a:solidFill>
          <a:ln w="12700">
            <a:solidFill>
              <a:srgbClr val="168B82"/>
            </a:solidFill>
            <a:prstDash val="solid"/>
          </a:ln>
        </p:spPr>
      </p:sp>
      <p:sp>
        <p:nvSpPr>
          <p:cNvPr id="17" name="Text 15"/>
          <p:cNvSpPr/>
          <p:nvPr/>
        </p:nvSpPr>
        <p:spPr>
          <a:xfrm>
            <a:off x="8330184" y="1453896"/>
            <a:ext cx="309981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CONTEXT</a:t>
            </a:r>
            <a:endParaRPr lang="en-US" sz="1300" dirty="0"/>
          </a:p>
        </p:txBody>
      </p:sp>
      <p:sp>
        <p:nvSpPr>
          <p:cNvPr id="18" name="Text 16"/>
          <p:cNvSpPr/>
          <p:nvPr/>
        </p:nvSpPr>
        <p:spPr>
          <a:xfrm>
            <a:off x="8330184" y="1764792"/>
            <a:ext cx="3099816" cy="1024128"/>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Descriptive non-causal comparison</a:t>
            </a:r>
            <a:endParaRPr lang="en-US" sz="1050" dirty="0"/>
          </a:p>
          <a:p>
            <a:pPr indent="0" marL="0">
              <a:buNone/>
            </a:pP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"The selected groups differ descriptively..."</a:t>
            </a:r>
            <a:endParaRPr lang="en-US" sz="1050" dirty="0"/>
          </a:p>
        </p:txBody>
      </p:sp>
      <p:sp>
        <p:nvSpPr>
          <p:cNvPr id="19" name="Shape 17"/>
          <p:cNvSpPr/>
          <p:nvPr/>
        </p:nvSpPr>
        <p:spPr>
          <a:xfrm>
            <a:off x="594360" y="3291840"/>
            <a:ext cx="3429000" cy="1572768"/>
          </a:xfrm>
          <a:prstGeom prst="roundRect">
            <a:avLst>
              <a:gd name="adj" fmla="val 4651"/>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20" name="Shape 18"/>
          <p:cNvSpPr/>
          <p:nvPr/>
        </p:nvSpPr>
        <p:spPr>
          <a:xfrm>
            <a:off x="594360" y="3291840"/>
            <a:ext cx="64008" cy="1572768"/>
          </a:xfrm>
          <a:prstGeom prst="rect">
            <a:avLst/>
          </a:prstGeom>
          <a:solidFill>
            <a:srgbClr val="3A8F5B"/>
          </a:solidFill>
          <a:ln w="12700">
            <a:solidFill>
              <a:srgbClr val="3A8F5B"/>
            </a:solidFill>
            <a:prstDash val="solid"/>
          </a:ln>
        </p:spPr>
      </p:sp>
      <p:sp>
        <p:nvSpPr>
          <p:cNvPr id="21" name="Text 19"/>
          <p:cNvSpPr/>
          <p:nvPr/>
        </p:nvSpPr>
        <p:spPr>
          <a:xfrm>
            <a:off x="795528" y="3419856"/>
            <a:ext cx="309981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REFERENCE</a:t>
            </a:r>
            <a:endParaRPr lang="en-US" sz="1300" dirty="0"/>
          </a:p>
        </p:txBody>
      </p:sp>
      <p:sp>
        <p:nvSpPr>
          <p:cNvPr id="22" name="Text 20"/>
          <p:cNvSpPr/>
          <p:nvPr/>
        </p:nvSpPr>
        <p:spPr>
          <a:xfrm>
            <a:off x="795528" y="3730752"/>
            <a:ext cx="3099816" cy="1024128"/>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Template definition or rule</a:t>
            </a:r>
            <a:endParaRPr lang="en-US" sz="1050" dirty="0"/>
          </a:p>
          <a:p>
            <a:pPr indent="0" marL="0">
              <a:buNone/>
            </a:pP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"The template defines..."</a:t>
            </a:r>
            <a:endParaRPr lang="en-US" sz="1050" dirty="0"/>
          </a:p>
        </p:txBody>
      </p:sp>
      <p:sp>
        <p:nvSpPr>
          <p:cNvPr id="23" name="Shape 21"/>
          <p:cNvSpPr/>
          <p:nvPr/>
        </p:nvSpPr>
        <p:spPr>
          <a:xfrm>
            <a:off x="4361688" y="3291840"/>
            <a:ext cx="3429000" cy="1572768"/>
          </a:xfrm>
          <a:prstGeom prst="roundRect">
            <a:avLst>
              <a:gd name="adj" fmla="val 4651"/>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24" name="Shape 22"/>
          <p:cNvSpPr/>
          <p:nvPr/>
        </p:nvSpPr>
        <p:spPr>
          <a:xfrm>
            <a:off x="4361688" y="3291840"/>
            <a:ext cx="64008" cy="1572768"/>
          </a:xfrm>
          <a:prstGeom prst="rect">
            <a:avLst/>
          </a:prstGeom>
          <a:solidFill>
            <a:srgbClr val="D9872D"/>
          </a:solidFill>
          <a:ln w="12700">
            <a:solidFill>
              <a:srgbClr val="D9872D"/>
            </a:solidFill>
            <a:prstDash val="solid"/>
          </a:ln>
        </p:spPr>
      </p:sp>
      <p:sp>
        <p:nvSpPr>
          <p:cNvPr id="25" name="Text 23"/>
          <p:cNvSpPr/>
          <p:nvPr/>
        </p:nvSpPr>
        <p:spPr>
          <a:xfrm>
            <a:off x="4562856" y="3419856"/>
            <a:ext cx="309981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UNAVAILABLE</a:t>
            </a:r>
            <a:endParaRPr lang="en-US" sz="1300" dirty="0"/>
          </a:p>
        </p:txBody>
      </p:sp>
      <p:sp>
        <p:nvSpPr>
          <p:cNvPr id="26" name="Text 24"/>
          <p:cNvSpPr/>
          <p:nvPr/>
        </p:nvSpPr>
        <p:spPr>
          <a:xfrm>
            <a:off x="4562856" y="3730752"/>
            <a:ext cx="3099816" cy="1024128"/>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Dependency, population, or history absent</a:t>
            </a:r>
            <a:endParaRPr lang="en-US" sz="1050" dirty="0"/>
          </a:p>
          <a:p>
            <a:pPr indent="0" marL="0">
              <a:buNone/>
            </a:pP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"This cannot be calculated from the current inputs..."</a:t>
            </a:r>
            <a:endParaRPr lang="en-US" sz="1050" dirty="0"/>
          </a:p>
        </p:txBody>
      </p:sp>
      <p:sp>
        <p:nvSpPr>
          <p:cNvPr id="27" name="Shape 25"/>
          <p:cNvSpPr/>
          <p:nvPr/>
        </p:nvSpPr>
        <p:spPr>
          <a:xfrm>
            <a:off x="8138160" y="3291840"/>
            <a:ext cx="3291840" cy="1572768"/>
          </a:xfrm>
          <a:prstGeom prst="roundRect">
            <a:avLst>
              <a:gd name="adj" fmla="val 4651"/>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28" name="Shape 26"/>
          <p:cNvSpPr/>
          <p:nvPr/>
        </p:nvSpPr>
        <p:spPr>
          <a:xfrm>
            <a:off x="8138160" y="3291840"/>
            <a:ext cx="64008" cy="1572768"/>
          </a:xfrm>
          <a:prstGeom prst="rect">
            <a:avLst/>
          </a:prstGeom>
          <a:solidFill>
            <a:srgbClr val="B34A4A"/>
          </a:solidFill>
          <a:ln w="12700">
            <a:solidFill>
              <a:srgbClr val="B34A4A"/>
            </a:solidFill>
            <a:prstDash val="solid"/>
          </a:ln>
        </p:spPr>
      </p:sp>
      <p:sp>
        <p:nvSpPr>
          <p:cNvPr id="29" name="Text 27"/>
          <p:cNvSpPr/>
          <p:nvPr/>
        </p:nvSpPr>
        <p:spPr>
          <a:xfrm>
            <a:off x="8339328" y="3419856"/>
            <a:ext cx="296265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Carry the context</a:t>
            </a:r>
            <a:endParaRPr lang="en-US" sz="1300" dirty="0"/>
          </a:p>
        </p:txBody>
      </p:sp>
      <p:sp>
        <p:nvSpPr>
          <p:cNvPr id="30" name="Text 28"/>
          <p:cNvSpPr/>
          <p:nvPr/>
        </p:nvSpPr>
        <p:spPr>
          <a:xfrm>
            <a:off x="8339328" y="3730752"/>
            <a:ext cx="2962656" cy="1024128"/>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Period | Population | Filters | Source status | Evidence class | Privacy state</a:t>
            </a:r>
            <a:endParaRPr lang="en-US" sz="1050" dirty="0"/>
          </a:p>
        </p:txBody>
      </p:sp>
      <p:sp>
        <p:nvSpPr>
          <p:cNvPr id="31" name="Shape 29"/>
          <p:cNvSpPr/>
          <p:nvPr/>
        </p:nvSpPr>
        <p:spPr>
          <a:xfrm>
            <a:off x="594360" y="5925312"/>
            <a:ext cx="11018520" cy="438912"/>
          </a:xfrm>
          <a:prstGeom prst="roundRect">
            <a:avLst>
              <a:gd name="adj" fmla="val 12500"/>
            </a:avLst>
          </a:prstGeom>
          <a:solidFill>
            <a:srgbClr val="F7EEE4"/>
          </a:solidFill>
          <a:ln w="12700">
            <a:solidFill>
              <a:srgbClr val="E4C49A"/>
            </a:solidFill>
            <a:prstDash val="solid"/>
          </a:ln>
        </p:spPr>
      </p:sp>
      <p:sp>
        <p:nvSpPr>
          <p:cNvPr id="32" name="Text 30"/>
          <p:cNvSpPr/>
          <p:nvPr/>
        </p:nvSpPr>
        <p:spPr>
          <a:xfrm>
            <a:off x="749808" y="6053328"/>
            <a:ext cx="804672" cy="146304"/>
          </a:xfrm>
          <a:prstGeom prst="rect">
            <a:avLst/>
          </a:prstGeom>
          <a:noFill/>
          <a:ln/>
        </p:spPr>
        <p:txBody>
          <a:bodyPr wrap="square" lIns="0" tIns="0" rIns="0" bIns="0" rtlCol="0" anchor="ctr"/>
          <a:lstStyle/>
          <a:p>
            <a:pPr indent="0" marL="0">
              <a:buNone/>
            </a:pPr>
            <a:r>
              <a:rPr lang="en-US" sz="850" b="1" dirty="0">
                <a:solidFill>
                  <a:srgbClr val="D9872D"/>
                </a:solidFill>
                <a:latin typeface="Segoe UI Semibold" pitchFamily="34" charset="0"/>
                <a:ea typeface="Segoe UI Semibold" pitchFamily="34" charset="-122"/>
                <a:cs typeface="Segoe UI Semibold" pitchFamily="34" charset="-120"/>
              </a:rPr>
              <a:t>GUARDRAIL</a:t>
            </a:r>
            <a:endParaRPr lang="en-US" sz="850" dirty="0"/>
          </a:p>
        </p:txBody>
      </p:sp>
      <p:sp>
        <p:nvSpPr>
          <p:cNvPr id="33" name="Text 31"/>
          <p:cNvSpPr/>
          <p:nvPr/>
        </p:nvSpPr>
        <p:spPr>
          <a:xfrm>
            <a:off x="1600200" y="6007608"/>
            <a:ext cx="9784080" cy="210312"/>
          </a:xfrm>
          <a:prstGeom prst="rect">
            <a:avLst/>
          </a:prstGeom>
          <a:noFill/>
          <a:ln/>
        </p:spPr>
        <p:txBody>
          <a:bodyPr wrap="square" lIns="0" tIns="0" rIns="0" bIns="0" rtlCol="0" anchor="ctr"/>
          <a:lstStyle/>
          <a:p>
            <a:pPr indent="0" marL="0">
              <a:buNone/>
            </a:pPr>
            <a:r>
              <a:rPr lang="en-US" sz="930" dirty="0">
                <a:solidFill>
                  <a:srgbClr val="172033"/>
                </a:solidFill>
                <a:latin typeface="Segoe UI" pitchFamily="34" charset="0"/>
                <a:ea typeface="Segoe UI" pitchFamily="34" charset="-122"/>
                <a:cs typeface="Segoe UI" pitchFamily="34" charset="-120"/>
              </a:rPr>
              <a:t>Numerically correct results can still be unsuitable when their denominator, time grain, privacy state, or evidence class is omitted.</a:t>
            </a:r>
            <a:endParaRPr lang="en-US" sz="93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311F5E"/>
        </a:solidFill>
      </p:bgPr>
    </p:bg>
    <p:spTree>
      <p:nvGrpSpPr>
        <p:cNvPr id="1" name=""/>
        <p:cNvGrpSpPr/>
        <p:nvPr/>
      </p:nvGrpSpPr>
      <p:grpSpPr>
        <a:xfrm>
          <a:off x="0" y="0"/>
          <a:ext cx="0" cy="0"/>
          <a:chOff x="0" y="0"/>
          <a:chExt cx="0" cy="0"/>
        </a:xfrm>
      </p:grpSpPr>
      <p:sp>
        <p:nvSpPr>
          <p:cNvPr id="2" name="Shape 0"/>
          <p:cNvSpPr/>
          <p:nvPr/>
        </p:nvSpPr>
        <p:spPr>
          <a:xfrm>
            <a:off x="8229600" y="-1097280"/>
            <a:ext cx="5212080" cy="5212080"/>
          </a:xfrm>
          <a:prstGeom prst="ellipse">
            <a:avLst/>
          </a:prstGeom>
          <a:solidFill>
            <a:srgbClr val="6B4EA2">
              <a:alpha val="65000"/>
            </a:srgbClr>
          </a:solidFill>
          <a:ln w="12700">
            <a:solidFill>
              <a:srgbClr val="6B4EA2">
                <a:alpha val="0"/>
              </a:srgbClr>
            </a:solidFill>
            <a:prstDash val="solid"/>
          </a:ln>
        </p:spPr>
      </p:sp>
      <p:sp>
        <p:nvSpPr>
          <p:cNvPr id="3" name="Shape 1"/>
          <p:cNvSpPr/>
          <p:nvPr/>
        </p:nvSpPr>
        <p:spPr>
          <a:xfrm>
            <a:off x="658368" y="640080"/>
            <a:ext cx="1417320" cy="310896"/>
          </a:xfrm>
          <a:prstGeom prst="roundRect">
            <a:avLst>
              <a:gd name="adj" fmla="val 23529"/>
            </a:avLst>
          </a:prstGeom>
          <a:solidFill>
            <a:srgbClr val="168B82"/>
          </a:solidFill>
          <a:ln w="12700">
            <a:solidFill>
              <a:srgbClr val="168B82"/>
            </a:solidFill>
            <a:prstDash val="solid"/>
          </a:ln>
        </p:spPr>
      </p:sp>
      <p:sp>
        <p:nvSpPr>
          <p:cNvPr id="4" name="Text 2"/>
          <p:cNvSpPr/>
          <p:nvPr/>
        </p:nvSpPr>
        <p:spPr>
          <a:xfrm>
            <a:off x="731520" y="694944"/>
            <a:ext cx="1271016" cy="155448"/>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SECTION 1</a:t>
            </a:r>
            <a:endParaRPr lang="en-US" sz="900" dirty="0"/>
          </a:p>
        </p:txBody>
      </p:sp>
      <p:sp>
        <p:nvSpPr>
          <p:cNvPr id="5" name="Text 3"/>
          <p:cNvSpPr/>
          <p:nvPr/>
        </p:nvSpPr>
        <p:spPr>
          <a:xfrm>
            <a:off x="658368" y="1325880"/>
            <a:ext cx="7955280" cy="914400"/>
          </a:xfrm>
          <a:prstGeom prst="rect">
            <a:avLst/>
          </a:prstGeom>
          <a:noFill/>
          <a:ln/>
        </p:spPr>
        <p:txBody>
          <a:bodyPr wrap="square" lIns="0" tIns="0" rIns="0" bIns="0" rtlCol="0" anchor="ctr"/>
          <a:lstStyle/>
          <a:p>
            <a:pPr indent="0" marL="0">
              <a:buNone/>
            </a:pPr>
            <a:r>
              <a:rPr lang="en-US" sz="3400" b="1" dirty="0">
                <a:solidFill>
                  <a:srgbClr val="FFFFFF"/>
                </a:solidFill>
                <a:latin typeface="Segoe UI Semibold" pitchFamily="34" charset="0"/>
                <a:ea typeface="Segoe UI Semibold" pitchFamily="34" charset="-122"/>
                <a:cs typeface="Segoe UI Semibold" pitchFamily="34" charset="-120"/>
              </a:rPr>
              <a:t>Page-by-page walkthrough</a:t>
            </a:r>
            <a:endParaRPr lang="en-US" sz="3400" dirty="0"/>
          </a:p>
        </p:txBody>
      </p:sp>
      <p:sp>
        <p:nvSpPr>
          <p:cNvPr id="6" name="Text 4"/>
          <p:cNvSpPr/>
          <p:nvPr/>
        </p:nvSpPr>
        <p:spPr>
          <a:xfrm>
            <a:off x="658368" y="2423160"/>
            <a:ext cx="7223760" cy="914400"/>
          </a:xfrm>
          <a:prstGeom prst="rect">
            <a:avLst/>
          </a:prstGeom>
          <a:noFill/>
          <a:ln/>
        </p:spPr>
        <p:txBody>
          <a:bodyPr wrap="square" lIns="0" tIns="0" rIns="0" bIns="0" rtlCol="0" anchor="ctr"/>
          <a:lstStyle/>
          <a:p>
            <a:pPr indent="0" marL="0">
              <a:buNone/>
            </a:pPr>
            <a:r>
              <a:rPr lang="en-US" sz="1800" dirty="0">
                <a:solidFill>
                  <a:srgbClr val="DCD3EC"/>
                </a:solidFill>
                <a:latin typeface="Segoe UI" pitchFamily="34" charset="0"/>
                <a:ea typeface="Segoe UI" pitchFamily="34" charset="-122"/>
                <a:cs typeface="Segoe UI" pitchFamily="34" charset="-120"/>
              </a:rPr>
              <a:t>Read every page in five layers: purpose, reading order, diagnostic questions, action, and guardrail.</a:t>
            </a:r>
            <a:endParaRPr lang="en-US" sz="1800" dirty="0"/>
          </a:p>
        </p:txBody>
      </p:sp>
      <p:sp>
        <p:nvSpPr>
          <p:cNvPr id="7" name="Text 5"/>
          <p:cNvSpPr/>
          <p:nvPr/>
        </p:nvSpPr>
        <p:spPr>
          <a:xfrm>
            <a:off x="658368" y="5230368"/>
            <a:ext cx="6217920" cy="320040"/>
          </a:xfrm>
          <a:prstGeom prst="rect">
            <a:avLst/>
          </a:prstGeom>
          <a:noFill/>
          <a:ln/>
        </p:spPr>
        <p:txBody>
          <a:bodyPr wrap="square" lIns="0" tIns="0" rIns="0" bIns="0" rtlCol="0" anchor="ctr"/>
          <a:lstStyle/>
          <a:p>
            <a:pPr indent="0" marL="0">
              <a:buNone/>
            </a:pPr>
            <a:r>
              <a:rPr lang="en-US" sz="1300" dirty="0">
                <a:solidFill>
                  <a:srgbClr val="BBA9D8"/>
                </a:solidFill>
                <a:latin typeface="Segoe UI Semibold" pitchFamily="34" charset="0"/>
                <a:ea typeface="Segoe UI Semibold" pitchFamily="34" charset="-122"/>
                <a:cs typeface="Segoe UI Semibold" pitchFamily="34" charset="-120"/>
              </a:rPr>
              <a:t>Purpose  |  Read  |  Diagnose  |  Act  |  Guardrail</a:t>
            </a:r>
            <a:endParaRPr lang="en-US" sz="1300" dirty="0"/>
          </a:p>
        </p:txBody>
      </p:sp>
      <p:sp>
        <p:nvSpPr>
          <p:cNvPr id="8" name="Text 6"/>
          <p:cNvSpPr/>
          <p:nvPr/>
        </p:nvSpPr>
        <p:spPr>
          <a:xfrm>
            <a:off x="658368" y="6172200"/>
            <a:ext cx="4114800" cy="182880"/>
          </a:xfrm>
          <a:prstGeom prst="rect">
            <a:avLst/>
          </a:prstGeom>
          <a:noFill/>
          <a:ln/>
        </p:spPr>
        <p:txBody>
          <a:bodyPr wrap="square" lIns="0" tIns="0" rIns="0" bIns="0" rtlCol="0" anchor="ctr"/>
          <a:lstStyle/>
          <a:p>
            <a:pPr indent="0" marL="0">
              <a:buNone/>
            </a:pPr>
            <a:r>
              <a:rPr lang="en-US" sz="900" dirty="0">
                <a:solidFill>
                  <a:srgbClr val="BBA9D8"/>
                </a:solidFill>
                <a:latin typeface="Segoe UI" pitchFamily="34" charset="0"/>
                <a:ea typeface="Segoe UI" pitchFamily="34" charset="-122"/>
                <a:cs typeface="Segoe UI" pitchFamily="34" charset="-120"/>
              </a:rPr>
              <a:t>CoworkSuperUser | Version 1.0 | Public</a:t>
            </a:r>
            <a:endParaRPr lang="en-US" sz="900" dirty="0"/>
          </a:p>
        </p:txBody>
      </p:sp>
      <p:sp>
        <p:nvSpPr>
          <p:cNvPr id="9" name="Text 7"/>
          <p:cNvSpPr/>
          <p:nvPr/>
        </p:nvSpPr>
        <p:spPr>
          <a:xfrm>
            <a:off x="11292840" y="6172200"/>
            <a:ext cx="320040" cy="182880"/>
          </a:xfrm>
          <a:prstGeom prst="rect">
            <a:avLst/>
          </a:prstGeom>
          <a:noFill/>
          <a:ln/>
        </p:spPr>
        <p:txBody>
          <a:bodyPr wrap="square" lIns="0" tIns="0" rIns="0" bIns="0" rtlCol="0" anchor="ctr"/>
          <a:lstStyle/>
          <a:p>
            <a:pPr algn="r" indent="0" marL="0">
              <a:buNone/>
            </a:pPr>
            <a:r>
              <a:rPr lang="en-US" sz="900" dirty="0">
                <a:solidFill>
                  <a:srgbClr val="BBA9D8"/>
                </a:solidFill>
                <a:latin typeface="Segoe UI" pitchFamily="34" charset="0"/>
                <a:ea typeface="Segoe UI" pitchFamily="34" charset="-122"/>
                <a:cs typeface="Segoe U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20040"/>
            <a:ext cx="8046720" cy="438912"/>
          </a:xfrm>
          <a:prstGeom prst="rect">
            <a:avLst/>
          </a:prstGeom>
          <a:noFill/>
          <a:ln/>
        </p:spPr>
        <p:txBody>
          <a:bodyPr wrap="square" lIns="0" tIns="0" rIns="0" bIns="0" rtlCol="0" anchor="ctr"/>
          <a:lstStyle/>
          <a:p>
            <a:pPr indent="0" marL="0">
              <a:buNone/>
            </a:pPr>
            <a:r>
              <a:rPr lang="en-US" sz="2600" b="1" dirty="0">
                <a:solidFill>
                  <a:srgbClr val="172033"/>
                </a:solidFill>
                <a:latin typeface="Segoe UI Semibold" pitchFamily="34" charset="0"/>
                <a:ea typeface="Segoe UI Semibold" pitchFamily="34" charset="-122"/>
                <a:cs typeface="Segoe UI Semibold" pitchFamily="34" charset="-120"/>
              </a:rPr>
              <a:t>Start Here</a:t>
            </a:r>
            <a:endParaRPr lang="en-US" sz="2600" dirty="0"/>
          </a:p>
        </p:txBody>
      </p:sp>
      <p:sp>
        <p:nvSpPr>
          <p:cNvPr id="3" name="Text 1"/>
          <p:cNvSpPr/>
          <p:nvPr/>
        </p:nvSpPr>
        <p:spPr>
          <a:xfrm>
            <a:off x="502920" y="795528"/>
            <a:ext cx="10881360" cy="310896"/>
          </a:xfrm>
          <a:prstGeom prst="rect">
            <a:avLst/>
          </a:prstGeom>
          <a:noFill/>
          <a:ln/>
        </p:spPr>
        <p:txBody>
          <a:bodyPr wrap="square" lIns="0" tIns="0" rIns="0" bIns="0" rtlCol="0" anchor="ctr"/>
          <a:lstStyle/>
          <a:p>
            <a:pPr indent="0" marL="0">
              <a:buNone/>
            </a:pPr>
            <a:r>
              <a:rPr lang="en-US" sz="1200" dirty="0">
                <a:solidFill>
                  <a:srgbClr val="647084"/>
                </a:solidFill>
                <a:latin typeface="Segoe UI" pitchFamily="34" charset="0"/>
                <a:ea typeface="Segoe UI" pitchFamily="34" charset="-122"/>
                <a:cs typeface="Segoe UI" pitchFamily="34" charset="-120"/>
              </a:rPr>
              <a:t>Route each business question to the right evidence and boundary</a:t>
            </a:r>
            <a:endParaRPr lang="en-US" sz="1200" dirty="0"/>
          </a:p>
        </p:txBody>
      </p:sp>
      <p:sp>
        <p:nvSpPr>
          <p:cNvPr id="4" name="Text 2"/>
          <p:cNvSpPr/>
          <p:nvPr/>
        </p:nvSpPr>
        <p:spPr>
          <a:xfrm>
            <a:off x="502920" y="6510528"/>
            <a:ext cx="3017520" cy="164592"/>
          </a:xfrm>
          <a:prstGeom prst="rect">
            <a:avLst/>
          </a:prstGeom>
          <a:noFill/>
          <a:ln/>
        </p:spPr>
        <p:txBody>
          <a:bodyPr wrap="square" lIns="0" tIns="0" rIns="0" bIns="0" rtlCol="0" anchor="ctr"/>
          <a:lstStyle/>
          <a:p>
            <a:pPr indent="0" marL="0">
              <a:buNone/>
            </a:pPr>
            <a:r>
              <a:rPr lang="en-US" sz="800" dirty="0">
                <a:solidFill>
                  <a:srgbClr val="647084"/>
                </a:solidFill>
                <a:latin typeface="Segoe UI" pitchFamily="34" charset="0"/>
                <a:ea typeface="Segoe UI" pitchFamily="34" charset="-122"/>
                <a:cs typeface="Segoe UI" pitchFamily="34" charset="-120"/>
              </a:rPr>
              <a:t>microsoft/CoworkSuperUser</a:t>
            </a:r>
            <a:endParaRPr lang="en-US" sz="800" dirty="0"/>
          </a:p>
        </p:txBody>
      </p:sp>
      <p:sp>
        <p:nvSpPr>
          <p:cNvPr id="5" name="Text 3"/>
          <p:cNvSpPr/>
          <p:nvPr/>
        </p:nvSpPr>
        <p:spPr>
          <a:xfrm>
            <a:off x="7772400" y="6510528"/>
            <a:ext cx="356616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Version 1.0 | Public | Page walkthrough</a:t>
            </a:r>
            <a:endParaRPr lang="en-US" sz="800" dirty="0"/>
          </a:p>
        </p:txBody>
      </p:sp>
      <p:sp>
        <p:nvSpPr>
          <p:cNvPr id="6" name="Text 4"/>
          <p:cNvSpPr/>
          <p:nvPr/>
        </p:nvSpPr>
        <p:spPr>
          <a:xfrm>
            <a:off x="11384280" y="6510528"/>
            <a:ext cx="32004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8</a:t>
            </a:r>
            <a:endParaRPr lang="en-US" sz="800" dirty="0"/>
          </a:p>
        </p:txBody>
      </p:sp>
      <p:sp>
        <p:nvSpPr>
          <p:cNvPr id="7" name="Shape 5"/>
          <p:cNvSpPr/>
          <p:nvPr/>
        </p:nvSpPr>
        <p:spPr>
          <a:xfrm>
            <a:off x="502920" y="1261872"/>
            <a:ext cx="6565392" cy="3703320"/>
          </a:xfrm>
          <a:prstGeom prst="roundRect">
            <a:avLst>
              <a:gd name="adj" fmla="val 1975"/>
            </a:avLst>
          </a:prstGeom>
          <a:solidFill>
            <a:srgbClr val="FFFFFF"/>
          </a:solidFill>
          <a:ln w="13970">
            <a:solidFill>
              <a:srgbClr val="D9D3E6"/>
            </a:solidFill>
            <a:prstDash val="solid"/>
          </a:ln>
          <a:effectLst>
            <a:outerShdw sx="100000" sy="100000" kx="0" ky="0" algn="bl" rotWithShape="0" blurRad="25400" dist="50800" dir="2700000">
              <a:srgbClr val="9D95AD">
                <a:alpha val="18000"/>
              </a:srgbClr>
            </a:outerShdw>
          </a:effectLst>
        </p:spPr>
      </p:sp>
      <p:pic>
        <p:nvPicPr>
          <p:cNvPr id="8" name="Image 0" descr="C:\Users\luzlorenz\OneDrive - Microsoft\Documents\Microsoft Scout\CoworkSuperUser\images\report-pages\01-start-here.png">    </p:cNvPr>
          <p:cNvPicPr>
            <a:picLocks noChangeAspect="1"/>
          </p:cNvPicPr>
          <p:nvPr/>
        </p:nvPicPr>
        <p:blipFill>
          <a:blip r:embed="rId1"/>
          <a:stretch>
            <a:fillRect/>
          </a:stretch>
        </p:blipFill>
        <p:spPr>
          <a:xfrm>
            <a:off x="585216" y="1344168"/>
            <a:ext cx="6400800" cy="3602736"/>
          </a:xfrm>
          <a:prstGeom prst="rect">
            <a:avLst/>
          </a:prstGeom>
        </p:spPr>
      </p:pic>
      <p:sp>
        <p:nvSpPr>
          <p:cNvPr id="9" name="Text 6"/>
          <p:cNvSpPr/>
          <p:nvPr/>
        </p:nvSpPr>
        <p:spPr>
          <a:xfrm>
            <a:off x="685800" y="5093208"/>
            <a:ext cx="1920240" cy="182880"/>
          </a:xfrm>
          <a:prstGeom prst="rect">
            <a:avLst/>
          </a:prstGeom>
          <a:noFill/>
          <a:ln/>
        </p:spPr>
        <p:txBody>
          <a:bodyPr wrap="square" lIns="0" tIns="0" rIns="0" bIns="0" rtlCol="0" anchor="ctr"/>
          <a:lstStyle/>
          <a:p>
            <a:pPr indent="0" marL="0">
              <a:buNone/>
            </a:pPr>
            <a:r>
              <a:rPr lang="en-US" sz="900" dirty="0">
                <a:solidFill>
                  <a:srgbClr val="6B4EA2"/>
                </a:solidFill>
                <a:latin typeface="Segoe UI Semibold" pitchFamily="34" charset="0"/>
                <a:ea typeface="Segoe UI Semibold" pitchFamily="34" charset="-122"/>
                <a:cs typeface="Segoe UI Semibold" pitchFamily="34" charset="-120"/>
              </a:rPr>
              <a:t>1 of 9 report pages</a:t>
            </a:r>
            <a:endParaRPr lang="en-US" sz="900" dirty="0"/>
          </a:p>
        </p:txBody>
      </p:sp>
      <p:sp>
        <p:nvSpPr>
          <p:cNvPr id="10" name="Shape 7"/>
          <p:cNvSpPr/>
          <p:nvPr/>
        </p:nvSpPr>
        <p:spPr>
          <a:xfrm>
            <a:off x="7315200" y="1261872"/>
            <a:ext cx="310896" cy="310896"/>
          </a:xfrm>
          <a:prstGeom prst="ellipse">
            <a:avLst/>
          </a:prstGeom>
          <a:solidFill>
            <a:srgbClr val="6B4EA2"/>
          </a:solidFill>
          <a:ln w="12700">
            <a:solidFill>
              <a:srgbClr val="6B4EA2"/>
            </a:solidFill>
            <a:prstDash val="solid"/>
          </a:ln>
        </p:spPr>
      </p:sp>
      <p:sp>
        <p:nvSpPr>
          <p:cNvPr id="11" name="Text 8"/>
          <p:cNvSpPr/>
          <p:nvPr/>
        </p:nvSpPr>
        <p:spPr>
          <a:xfrm>
            <a:off x="7315200" y="131216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1</a:t>
            </a:r>
            <a:endParaRPr lang="en-US" sz="900" dirty="0"/>
          </a:p>
        </p:txBody>
      </p:sp>
      <p:sp>
        <p:nvSpPr>
          <p:cNvPr id="12" name="Text 9"/>
          <p:cNvSpPr/>
          <p:nvPr/>
        </p:nvSpPr>
        <p:spPr>
          <a:xfrm>
            <a:off x="7754112" y="125272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Purpose</a:t>
            </a:r>
            <a:endParaRPr lang="en-US" sz="1150" dirty="0"/>
          </a:p>
        </p:txBody>
      </p:sp>
      <p:sp>
        <p:nvSpPr>
          <p:cNvPr id="13" name="Text 10"/>
          <p:cNvSpPr/>
          <p:nvPr/>
        </p:nvSpPr>
        <p:spPr>
          <a:xfrm>
            <a:off x="7754112" y="149047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Choose momentum, cohorts, maturity, work patterns, consumption, or organizational comparison.</a:t>
            </a:r>
            <a:endParaRPr lang="en-US" sz="940" dirty="0"/>
          </a:p>
        </p:txBody>
      </p:sp>
      <p:sp>
        <p:nvSpPr>
          <p:cNvPr id="14" name="Shape 11"/>
          <p:cNvSpPr/>
          <p:nvPr/>
        </p:nvSpPr>
        <p:spPr>
          <a:xfrm>
            <a:off x="7315200" y="2130552"/>
            <a:ext cx="310896" cy="310896"/>
          </a:xfrm>
          <a:prstGeom prst="ellipse">
            <a:avLst/>
          </a:prstGeom>
          <a:solidFill>
            <a:srgbClr val="4F80C1"/>
          </a:solidFill>
          <a:ln w="12700">
            <a:solidFill>
              <a:srgbClr val="4F80C1"/>
            </a:solidFill>
            <a:prstDash val="solid"/>
          </a:ln>
        </p:spPr>
      </p:sp>
      <p:sp>
        <p:nvSpPr>
          <p:cNvPr id="15" name="Text 12"/>
          <p:cNvSpPr/>
          <p:nvPr/>
        </p:nvSpPr>
        <p:spPr>
          <a:xfrm>
            <a:off x="7315200" y="218084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2</a:t>
            </a:r>
            <a:endParaRPr lang="en-US" sz="900" dirty="0"/>
          </a:p>
        </p:txBody>
      </p:sp>
      <p:sp>
        <p:nvSpPr>
          <p:cNvPr id="16" name="Text 13"/>
          <p:cNvSpPr/>
          <p:nvPr/>
        </p:nvSpPr>
        <p:spPr>
          <a:xfrm>
            <a:off x="7754112" y="212140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Select the decision</a:t>
            </a:r>
            <a:endParaRPr lang="en-US" sz="1150" dirty="0"/>
          </a:p>
        </p:txBody>
      </p:sp>
      <p:sp>
        <p:nvSpPr>
          <p:cNvPr id="17" name="Text 14"/>
          <p:cNvSpPr/>
          <p:nvPr/>
        </p:nvSpPr>
        <p:spPr>
          <a:xfrm>
            <a:off x="7754112" y="235915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Open one primary page instead of treating every card as one scorecard.</a:t>
            </a:r>
            <a:endParaRPr lang="en-US" sz="940" dirty="0"/>
          </a:p>
        </p:txBody>
      </p:sp>
      <p:sp>
        <p:nvSpPr>
          <p:cNvPr id="18" name="Shape 15"/>
          <p:cNvSpPr/>
          <p:nvPr/>
        </p:nvSpPr>
        <p:spPr>
          <a:xfrm>
            <a:off x="7315200" y="2999232"/>
            <a:ext cx="310896" cy="310896"/>
          </a:xfrm>
          <a:prstGeom prst="ellipse">
            <a:avLst/>
          </a:prstGeom>
          <a:solidFill>
            <a:srgbClr val="168B82"/>
          </a:solidFill>
          <a:ln w="12700">
            <a:solidFill>
              <a:srgbClr val="168B82"/>
            </a:solidFill>
            <a:prstDash val="solid"/>
          </a:ln>
        </p:spPr>
      </p:sp>
      <p:sp>
        <p:nvSpPr>
          <p:cNvPr id="19" name="Text 16"/>
          <p:cNvSpPr/>
          <p:nvPr/>
        </p:nvSpPr>
        <p:spPr>
          <a:xfrm>
            <a:off x="7315200" y="304952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3</a:t>
            </a:r>
            <a:endParaRPr lang="en-US" sz="900" dirty="0"/>
          </a:p>
        </p:txBody>
      </p:sp>
      <p:sp>
        <p:nvSpPr>
          <p:cNvPr id="20" name="Text 17"/>
          <p:cNvSpPr/>
          <p:nvPr/>
        </p:nvSpPr>
        <p:spPr>
          <a:xfrm>
            <a:off x="7754112" y="299008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Check the window</a:t>
            </a:r>
            <a:endParaRPr lang="en-US" sz="1150" dirty="0"/>
          </a:p>
        </p:txBody>
      </p:sp>
      <p:sp>
        <p:nvSpPr>
          <p:cNvPr id="21" name="Text 18"/>
          <p:cNvSpPr/>
          <p:nvPr/>
        </p:nvSpPr>
        <p:spPr>
          <a:xfrm>
            <a:off x="7754112" y="322783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Confirm Up to 4 or Up to 12 weeks and the available-history message.</a:t>
            </a:r>
            <a:endParaRPr lang="en-US" sz="940" dirty="0"/>
          </a:p>
        </p:txBody>
      </p:sp>
      <p:sp>
        <p:nvSpPr>
          <p:cNvPr id="22" name="Shape 19"/>
          <p:cNvSpPr/>
          <p:nvPr/>
        </p:nvSpPr>
        <p:spPr>
          <a:xfrm>
            <a:off x="7315200" y="3867912"/>
            <a:ext cx="310896" cy="310896"/>
          </a:xfrm>
          <a:prstGeom prst="ellipse">
            <a:avLst/>
          </a:prstGeom>
          <a:solidFill>
            <a:srgbClr val="3A8F5B"/>
          </a:solidFill>
          <a:ln w="12700">
            <a:solidFill>
              <a:srgbClr val="3A8F5B"/>
            </a:solidFill>
            <a:prstDash val="solid"/>
          </a:ln>
        </p:spPr>
      </p:sp>
      <p:sp>
        <p:nvSpPr>
          <p:cNvPr id="23" name="Text 20"/>
          <p:cNvSpPr/>
          <p:nvPr/>
        </p:nvSpPr>
        <p:spPr>
          <a:xfrm>
            <a:off x="7315200" y="391820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4</a:t>
            </a:r>
            <a:endParaRPr lang="en-US" sz="900" dirty="0"/>
          </a:p>
        </p:txBody>
      </p:sp>
      <p:sp>
        <p:nvSpPr>
          <p:cNvPr id="24" name="Text 21"/>
          <p:cNvSpPr/>
          <p:nvPr/>
        </p:nvSpPr>
        <p:spPr>
          <a:xfrm>
            <a:off x="7754112" y="385876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Use one corroborating page</a:t>
            </a:r>
            <a:endParaRPr lang="en-US" sz="1150" dirty="0"/>
          </a:p>
        </p:txBody>
      </p:sp>
      <p:sp>
        <p:nvSpPr>
          <p:cNvPr id="25" name="Text 22"/>
          <p:cNvSpPr/>
          <p:nvPr/>
        </p:nvSpPr>
        <p:spPr>
          <a:xfrm>
            <a:off x="7754112" y="409651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Support the headline with trend, denominator, or source context.</a:t>
            </a:r>
            <a:endParaRPr lang="en-US" sz="940" dirty="0"/>
          </a:p>
        </p:txBody>
      </p:sp>
      <p:sp>
        <p:nvSpPr>
          <p:cNvPr id="26" name="Shape 23"/>
          <p:cNvSpPr/>
          <p:nvPr/>
        </p:nvSpPr>
        <p:spPr>
          <a:xfrm>
            <a:off x="7315200" y="4736592"/>
            <a:ext cx="310896" cy="310896"/>
          </a:xfrm>
          <a:prstGeom prst="ellipse">
            <a:avLst/>
          </a:prstGeom>
          <a:solidFill>
            <a:srgbClr val="D9872D"/>
          </a:solidFill>
          <a:ln w="12700">
            <a:solidFill>
              <a:srgbClr val="D9872D"/>
            </a:solidFill>
            <a:prstDash val="solid"/>
          </a:ln>
        </p:spPr>
      </p:sp>
      <p:sp>
        <p:nvSpPr>
          <p:cNvPr id="27" name="Text 24"/>
          <p:cNvSpPr/>
          <p:nvPr/>
        </p:nvSpPr>
        <p:spPr>
          <a:xfrm>
            <a:off x="7315200" y="478688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5</a:t>
            </a:r>
            <a:endParaRPr lang="en-US" sz="900" dirty="0"/>
          </a:p>
        </p:txBody>
      </p:sp>
      <p:sp>
        <p:nvSpPr>
          <p:cNvPr id="28" name="Text 25"/>
          <p:cNvSpPr/>
          <p:nvPr/>
        </p:nvSpPr>
        <p:spPr>
          <a:xfrm>
            <a:off x="7754112" y="472744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Record context</a:t>
            </a:r>
            <a:endParaRPr lang="en-US" sz="1150" dirty="0"/>
          </a:p>
        </p:txBody>
      </p:sp>
      <p:sp>
        <p:nvSpPr>
          <p:cNvPr id="29" name="Text 26"/>
          <p:cNvSpPr/>
          <p:nvPr/>
        </p:nvSpPr>
        <p:spPr>
          <a:xfrm>
            <a:off x="7754112" y="496519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Carry period, population, filters, evidence class, and privacy state forward.</a:t>
            </a:r>
            <a:endParaRPr lang="en-US" sz="940" dirty="0"/>
          </a:p>
        </p:txBody>
      </p:sp>
      <p:sp>
        <p:nvSpPr>
          <p:cNvPr id="30" name="Shape 27"/>
          <p:cNvSpPr/>
          <p:nvPr/>
        </p:nvSpPr>
        <p:spPr>
          <a:xfrm>
            <a:off x="594360" y="5925312"/>
            <a:ext cx="11018520" cy="438912"/>
          </a:xfrm>
          <a:prstGeom prst="roundRect">
            <a:avLst>
              <a:gd name="adj" fmla="val 12500"/>
            </a:avLst>
          </a:prstGeom>
          <a:solidFill>
            <a:srgbClr val="F7EEE4"/>
          </a:solidFill>
          <a:ln w="12700">
            <a:solidFill>
              <a:srgbClr val="E4C49A"/>
            </a:solidFill>
            <a:prstDash val="solid"/>
          </a:ln>
        </p:spPr>
      </p:sp>
      <p:sp>
        <p:nvSpPr>
          <p:cNvPr id="31" name="Text 28"/>
          <p:cNvSpPr/>
          <p:nvPr/>
        </p:nvSpPr>
        <p:spPr>
          <a:xfrm>
            <a:off x="749808" y="6053328"/>
            <a:ext cx="804672" cy="146304"/>
          </a:xfrm>
          <a:prstGeom prst="rect">
            <a:avLst/>
          </a:prstGeom>
          <a:noFill/>
          <a:ln/>
        </p:spPr>
        <p:txBody>
          <a:bodyPr wrap="square" lIns="0" tIns="0" rIns="0" bIns="0" rtlCol="0" anchor="ctr"/>
          <a:lstStyle/>
          <a:p>
            <a:pPr indent="0" marL="0">
              <a:buNone/>
            </a:pPr>
            <a:r>
              <a:rPr lang="en-US" sz="850" b="1" dirty="0">
                <a:solidFill>
                  <a:srgbClr val="D9872D"/>
                </a:solidFill>
                <a:latin typeface="Segoe UI Semibold" pitchFamily="34" charset="0"/>
                <a:ea typeface="Segoe UI Semibold" pitchFamily="34" charset="-122"/>
                <a:cs typeface="Segoe UI Semibold" pitchFamily="34" charset="-120"/>
              </a:rPr>
              <a:t>GUARDRAIL</a:t>
            </a:r>
            <a:endParaRPr lang="en-US" sz="850" dirty="0"/>
          </a:p>
        </p:txBody>
      </p:sp>
      <p:sp>
        <p:nvSpPr>
          <p:cNvPr id="32" name="Text 29"/>
          <p:cNvSpPr/>
          <p:nvPr/>
        </p:nvSpPr>
        <p:spPr>
          <a:xfrm>
            <a:off x="1600200" y="6007608"/>
            <a:ext cx="9784080" cy="210312"/>
          </a:xfrm>
          <a:prstGeom prst="rect">
            <a:avLst/>
          </a:prstGeom>
          <a:noFill/>
          <a:ln/>
        </p:spPr>
        <p:txBody>
          <a:bodyPr wrap="square" lIns="0" tIns="0" rIns="0" bIns="0" rtlCol="0" anchor="ctr"/>
          <a:lstStyle/>
          <a:p>
            <a:pPr indent="0" marL="0">
              <a:buNone/>
            </a:pPr>
            <a:r>
              <a:rPr lang="en-US" sz="930" dirty="0">
                <a:solidFill>
                  <a:srgbClr val="172033"/>
                </a:solidFill>
                <a:latin typeface="Segoe UI" pitchFamily="34" charset="0"/>
                <a:ea typeface="Segoe UI" pitchFamily="34" charset="-122"/>
                <a:cs typeface="Segoe UI" pitchFamily="34" charset="-120"/>
              </a:rPr>
              <a:t>Start Here is a decision router, not an automatic narrative or composite score.</a:t>
            </a:r>
            <a:endParaRPr lang="en-US" sz="93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20040"/>
            <a:ext cx="8046720" cy="438912"/>
          </a:xfrm>
          <a:prstGeom prst="rect">
            <a:avLst/>
          </a:prstGeom>
          <a:noFill/>
          <a:ln/>
        </p:spPr>
        <p:txBody>
          <a:bodyPr wrap="square" lIns="0" tIns="0" rIns="0" bIns="0" rtlCol="0" anchor="ctr"/>
          <a:lstStyle/>
          <a:p>
            <a:pPr indent="0" marL="0">
              <a:buNone/>
            </a:pPr>
            <a:r>
              <a:rPr lang="en-US" sz="2600" b="1" dirty="0">
                <a:solidFill>
                  <a:srgbClr val="172033"/>
                </a:solidFill>
                <a:latin typeface="Segoe UI Semibold" pitchFamily="34" charset="0"/>
                <a:ea typeface="Segoe UI Semibold" pitchFamily="34" charset="-122"/>
                <a:cs typeface="Segoe UI Semibold" pitchFamily="34" charset="-120"/>
              </a:rPr>
              <a:t>Executive Adoption</a:t>
            </a:r>
            <a:endParaRPr lang="en-US" sz="2600" dirty="0"/>
          </a:p>
        </p:txBody>
      </p:sp>
      <p:sp>
        <p:nvSpPr>
          <p:cNvPr id="3" name="Text 1"/>
          <p:cNvSpPr/>
          <p:nvPr/>
        </p:nvSpPr>
        <p:spPr>
          <a:xfrm>
            <a:off x="502920" y="795528"/>
            <a:ext cx="10881360" cy="310896"/>
          </a:xfrm>
          <a:prstGeom prst="rect">
            <a:avLst/>
          </a:prstGeom>
          <a:noFill/>
          <a:ln/>
        </p:spPr>
        <p:txBody>
          <a:bodyPr wrap="square" lIns="0" tIns="0" rIns="0" bIns="0" rtlCol="0" anchor="ctr"/>
          <a:lstStyle/>
          <a:p>
            <a:pPr indent="0" marL="0">
              <a:buNone/>
            </a:pPr>
            <a:r>
              <a:rPr lang="en-US" sz="1200" dirty="0">
                <a:solidFill>
                  <a:srgbClr val="647084"/>
                </a:solidFill>
                <a:latin typeface="Segoe UI" pitchFamily="34" charset="0"/>
                <a:ea typeface="Segoe UI" pitchFamily="34" charset="-122"/>
                <a:cs typeface="Segoe UI" pitchFamily="34" charset="-120"/>
              </a:rPr>
              <a:t>Observed reach, sustained use, latest weekly activity, and function distribution</a:t>
            </a:r>
            <a:endParaRPr lang="en-US" sz="1200" dirty="0"/>
          </a:p>
        </p:txBody>
      </p:sp>
      <p:sp>
        <p:nvSpPr>
          <p:cNvPr id="4" name="Text 2"/>
          <p:cNvSpPr/>
          <p:nvPr/>
        </p:nvSpPr>
        <p:spPr>
          <a:xfrm>
            <a:off x="502920" y="6510528"/>
            <a:ext cx="3017520" cy="164592"/>
          </a:xfrm>
          <a:prstGeom prst="rect">
            <a:avLst/>
          </a:prstGeom>
          <a:noFill/>
          <a:ln/>
        </p:spPr>
        <p:txBody>
          <a:bodyPr wrap="square" lIns="0" tIns="0" rIns="0" bIns="0" rtlCol="0" anchor="ctr"/>
          <a:lstStyle/>
          <a:p>
            <a:pPr indent="0" marL="0">
              <a:buNone/>
            </a:pPr>
            <a:r>
              <a:rPr lang="en-US" sz="800" dirty="0">
                <a:solidFill>
                  <a:srgbClr val="647084"/>
                </a:solidFill>
                <a:latin typeface="Segoe UI" pitchFamily="34" charset="0"/>
                <a:ea typeface="Segoe UI" pitchFamily="34" charset="-122"/>
                <a:cs typeface="Segoe UI" pitchFamily="34" charset="-120"/>
              </a:rPr>
              <a:t>microsoft/CoworkSuperUser</a:t>
            </a:r>
            <a:endParaRPr lang="en-US" sz="800" dirty="0"/>
          </a:p>
        </p:txBody>
      </p:sp>
      <p:sp>
        <p:nvSpPr>
          <p:cNvPr id="5" name="Text 3"/>
          <p:cNvSpPr/>
          <p:nvPr/>
        </p:nvSpPr>
        <p:spPr>
          <a:xfrm>
            <a:off x="7772400" y="6510528"/>
            <a:ext cx="356616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Version 1.0 | Public | Page walkthrough</a:t>
            </a:r>
            <a:endParaRPr lang="en-US" sz="800" dirty="0"/>
          </a:p>
        </p:txBody>
      </p:sp>
      <p:sp>
        <p:nvSpPr>
          <p:cNvPr id="6" name="Text 4"/>
          <p:cNvSpPr/>
          <p:nvPr/>
        </p:nvSpPr>
        <p:spPr>
          <a:xfrm>
            <a:off x="11384280" y="6510528"/>
            <a:ext cx="32004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9</a:t>
            </a:r>
            <a:endParaRPr lang="en-US" sz="800" dirty="0"/>
          </a:p>
        </p:txBody>
      </p:sp>
      <p:sp>
        <p:nvSpPr>
          <p:cNvPr id="7" name="Shape 5"/>
          <p:cNvSpPr/>
          <p:nvPr/>
        </p:nvSpPr>
        <p:spPr>
          <a:xfrm>
            <a:off x="502920" y="1261872"/>
            <a:ext cx="6565392" cy="3703320"/>
          </a:xfrm>
          <a:prstGeom prst="roundRect">
            <a:avLst>
              <a:gd name="adj" fmla="val 1975"/>
            </a:avLst>
          </a:prstGeom>
          <a:solidFill>
            <a:srgbClr val="FFFFFF"/>
          </a:solidFill>
          <a:ln w="13970">
            <a:solidFill>
              <a:srgbClr val="D9D3E6"/>
            </a:solidFill>
            <a:prstDash val="solid"/>
          </a:ln>
          <a:effectLst>
            <a:outerShdw sx="100000" sy="100000" kx="0" ky="0" algn="bl" rotWithShape="0" blurRad="25400" dist="50800" dir="2700000">
              <a:srgbClr val="9D95AD">
                <a:alpha val="18000"/>
              </a:srgbClr>
            </a:outerShdw>
          </a:effectLst>
        </p:spPr>
      </p:sp>
      <p:pic>
        <p:nvPicPr>
          <p:cNvPr id="8" name="Image 0" descr="C:\Users\luzlorenz\OneDrive - Microsoft\Documents\Microsoft Scout\CoworkSuperUser\images\report-pages\02-executive-adoption.png">    </p:cNvPr>
          <p:cNvPicPr>
            <a:picLocks noChangeAspect="1"/>
          </p:cNvPicPr>
          <p:nvPr/>
        </p:nvPicPr>
        <p:blipFill>
          <a:blip r:embed="rId1"/>
          <a:stretch>
            <a:fillRect/>
          </a:stretch>
        </p:blipFill>
        <p:spPr>
          <a:xfrm>
            <a:off x="585216" y="1344168"/>
            <a:ext cx="6400800" cy="3602736"/>
          </a:xfrm>
          <a:prstGeom prst="rect">
            <a:avLst/>
          </a:prstGeom>
        </p:spPr>
      </p:pic>
      <p:sp>
        <p:nvSpPr>
          <p:cNvPr id="9" name="Text 6"/>
          <p:cNvSpPr/>
          <p:nvPr/>
        </p:nvSpPr>
        <p:spPr>
          <a:xfrm>
            <a:off x="685800" y="5093208"/>
            <a:ext cx="1920240" cy="182880"/>
          </a:xfrm>
          <a:prstGeom prst="rect">
            <a:avLst/>
          </a:prstGeom>
          <a:noFill/>
          <a:ln/>
        </p:spPr>
        <p:txBody>
          <a:bodyPr wrap="square" lIns="0" tIns="0" rIns="0" bIns="0" rtlCol="0" anchor="ctr"/>
          <a:lstStyle/>
          <a:p>
            <a:pPr indent="0" marL="0">
              <a:buNone/>
            </a:pPr>
            <a:r>
              <a:rPr lang="en-US" sz="900" dirty="0">
                <a:solidFill>
                  <a:srgbClr val="6B4EA2"/>
                </a:solidFill>
                <a:latin typeface="Segoe UI Semibold" pitchFamily="34" charset="0"/>
                <a:ea typeface="Segoe UI Semibold" pitchFamily="34" charset="-122"/>
                <a:cs typeface="Segoe UI Semibold" pitchFamily="34" charset="-120"/>
              </a:rPr>
              <a:t>2 of 9 report pages</a:t>
            </a:r>
            <a:endParaRPr lang="en-US" sz="900" dirty="0"/>
          </a:p>
        </p:txBody>
      </p:sp>
      <p:sp>
        <p:nvSpPr>
          <p:cNvPr id="10" name="Shape 7"/>
          <p:cNvSpPr/>
          <p:nvPr/>
        </p:nvSpPr>
        <p:spPr>
          <a:xfrm>
            <a:off x="7315200" y="1261872"/>
            <a:ext cx="310896" cy="310896"/>
          </a:xfrm>
          <a:prstGeom prst="ellipse">
            <a:avLst/>
          </a:prstGeom>
          <a:solidFill>
            <a:srgbClr val="6B4EA2"/>
          </a:solidFill>
          <a:ln w="12700">
            <a:solidFill>
              <a:srgbClr val="6B4EA2"/>
            </a:solidFill>
            <a:prstDash val="solid"/>
          </a:ln>
        </p:spPr>
      </p:sp>
      <p:sp>
        <p:nvSpPr>
          <p:cNvPr id="11" name="Text 8"/>
          <p:cNvSpPr/>
          <p:nvPr/>
        </p:nvSpPr>
        <p:spPr>
          <a:xfrm>
            <a:off x="7315200" y="131216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1</a:t>
            </a:r>
            <a:endParaRPr lang="en-US" sz="900" dirty="0"/>
          </a:p>
        </p:txBody>
      </p:sp>
      <p:sp>
        <p:nvSpPr>
          <p:cNvPr id="12" name="Text 9"/>
          <p:cNvSpPr/>
          <p:nvPr/>
        </p:nvSpPr>
        <p:spPr>
          <a:xfrm>
            <a:off x="7754112" y="125272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Purpose</a:t>
            </a:r>
            <a:endParaRPr lang="en-US" sz="1150" dirty="0"/>
          </a:p>
        </p:txBody>
      </p:sp>
      <p:sp>
        <p:nvSpPr>
          <p:cNvPr id="13" name="Text 10"/>
          <p:cNvSpPr/>
          <p:nvPr/>
        </p:nvSpPr>
        <p:spPr>
          <a:xfrm>
            <a:off x="7754112" y="149047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Summarize the current adoption state for the selected population.</a:t>
            </a:r>
            <a:endParaRPr lang="en-US" sz="940" dirty="0"/>
          </a:p>
        </p:txBody>
      </p:sp>
      <p:sp>
        <p:nvSpPr>
          <p:cNvPr id="14" name="Shape 11"/>
          <p:cNvSpPr/>
          <p:nvPr/>
        </p:nvSpPr>
        <p:spPr>
          <a:xfrm>
            <a:off x="7315200" y="2130552"/>
            <a:ext cx="310896" cy="310896"/>
          </a:xfrm>
          <a:prstGeom prst="ellipse">
            <a:avLst/>
          </a:prstGeom>
          <a:solidFill>
            <a:srgbClr val="4F80C1"/>
          </a:solidFill>
          <a:ln w="12700">
            <a:solidFill>
              <a:srgbClr val="4F80C1"/>
            </a:solidFill>
            <a:prstDash val="solid"/>
          </a:ln>
        </p:spPr>
      </p:sp>
      <p:sp>
        <p:nvSpPr>
          <p:cNvPr id="15" name="Text 12"/>
          <p:cNvSpPr/>
          <p:nvPr/>
        </p:nvSpPr>
        <p:spPr>
          <a:xfrm>
            <a:off x="7315200" y="218084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2</a:t>
            </a:r>
            <a:endParaRPr lang="en-US" sz="900" dirty="0"/>
          </a:p>
        </p:txBody>
      </p:sp>
      <p:sp>
        <p:nvSpPr>
          <p:cNvPr id="16" name="Text 13"/>
          <p:cNvSpPr/>
          <p:nvPr/>
        </p:nvSpPr>
        <p:spPr>
          <a:xfrm>
            <a:off x="7754112" y="212140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Read population first</a:t>
            </a:r>
            <a:endParaRPr lang="en-US" sz="1150" dirty="0"/>
          </a:p>
        </p:txBody>
      </p:sp>
      <p:sp>
        <p:nvSpPr>
          <p:cNvPr id="17" name="Text 14"/>
          <p:cNvSpPr/>
          <p:nvPr/>
        </p:nvSpPr>
        <p:spPr>
          <a:xfrm>
            <a:off x="7754112" y="235915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The analytical denominator comes from the coverage-qualified Person Query.</a:t>
            </a:r>
            <a:endParaRPr lang="en-US" sz="940" dirty="0"/>
          </a:p>
        </p:txBody>
      </p:sp>
      <p:sp>
        <p:nvSpPr>
          <p:cNvPr id="18" name="Shape 15"/>
          <p:cNvSpPr/>
          <p:nvPr/>
        </p:nvSpPr>
        <p:spPr>
          <a:xfrm>
            <a:off x="7315200" y="2999232"/>
            <a:ext cx="310896" cy="310896"/>
          </a:xfrm>
          <a:prstGeom prst="ellipse">
            <a:avLst/>
          </a:prstGeom>
          <a:solidFill>
            <a:srgbClr val="168B82"/>
          </a:solidFill>
          <a:ln w="12700">
            <a:solidFill>
              <a:srgbClr val="168B82"/>
            </a:solidFill>
            <a:prstDash val="solid"/>
          </a:ln>
        </p:spPr>
      </p:sp>
      <p:sp>
        <p:nvSpPr>
          <p:cNvPr id="19" name="Text 16"/>
          <p:cNvSpPr/>
          <p:nvPr/>
        </p:nvSpPr>
        <p:spPr>
          <a:xfrm>
            <a:off x="7315200" y="304952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3</a:t>
            </a:r>
            <a:endParaRPr lang="en-US" sz="900" dirty="0"/>
          </a:p>
        </p:txBody>
      </p:sp>
      <p:sp>
        <p:nvSpPr>
          <p:cNvPr id="20" name="Text 17"/>
          <p:cNvSpPr/>
          <p:nvPr/>
        </p:nvSpPr>
        <p:spPr>
          <a:xfrm>
            <a:off x="7754112" y="299008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Separate reach and habit</a:t>
            </a:r>
            <a:endParaRPr lang="en-US" sz="1150" dirty="0"/>
          </a:p>
        </p:txBody>
      </p:sp>
      <p:sp>
        <p:nvSpPr>
          <p:cNvPr id="21" name="Text 18"/>
          <p:cNvSpPr/>
          <p:nvPr/>
        </p:nvSpPr>
        <p:spPr>
          <a:xfrm>
            <a:off x="7754112" y="322783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Observed active users and sustained-use share answer different questions.</a:t>
            </a:r>
            <a:endParaRPr lang="en-US" sz="940" dirty="0"/>
          </a:p>
        </p:txBody>
      </p:sp>
      <p:sp>
        <p:nvSpPr>
          <p:cNvPr id="22" name="Shape 19"/>
          <p:cNvSpPr/>
          <p:nvPr/>
        </p:nvSpPr>
        <p:spPr>
          <a:xfrm>
            <a:off x="7315200" y="3867912"/>
            <a:ext cx="310896" cy="310896"/>
          </a:xfrm>
          <a:prstGeom prst="ellipse">
            <a:avLst/>
          </a:prstGeom>
          <a:solidFill>
            <a:srgbClr val="3A8F5B"/>
          </a:solidFill>
          <a:ln w="12700">
            <a:solidFill>
              <a:srgbClr val="3A8F5B"/>
            </a:solidFill>
            <a:prstDash val="solid"/>
          </a:ln>
        </p:spPr>
      </p:sp>
      <p:sp>
        <p:nvSpPr>
          <p:cNvPr id="23" name="Text 20"/>
          <p:cNvSpPr/>
          <p:nvPr/>
        </p:nvSpPr>
        <p:spPr>
          <a:xfrm>
            <a:off x="7315200" y="391820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4</a:t>
            </a:r>
            <a:endParaRPr lang="en-US" sz="900" dirty="0"/>
          </a:p>
        </p:txBody>
      </p:sp>
      <p:sp>
        <p:nvSpPr>
          <p:cNvPr id="24" name="Text 21"/>
          <p:cNvSpPr/>
          <p:nvPr/>
        </p:nvSpPr>
        <p:spPr>
          <a:xfrm>
            <a:off x="7754112" y="385876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Read the latest week</a:t>
            </a:r>
            <a:endParaRPr lang="en-US" sz="1150" dirty="0"/>
          </a:p>
        </p:txBody>
      </p:sp>
      <p:sp>
        <p:nvSpPr>
          <p:cNvPr id="25" name="Text 22"/>
          <p:cNvSpPr/>
          <p:nvPr/>
        </p:nvSpPr>
        <p:spPr>
          <a:xfrm>
            <a:off x="7754112" y="409651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Use latest weekly active rate with the trend - not in isolation.</a:t>
            </a:r>
            <a:endParaRPr lang="en-US" sz="940" dirty="0"/>
          </a:p>
        </p:txBody>
      </p:sp>
      <p:sp>
        <p:nvSpPr>
          <p:cNvPr id="26" name="Shape 23"/>
          <p:cNvSpPr/>
          <p:nvPr/>
        </p:nvSpPr>
        <p:spPr>
          <a:xfrm>
            <a:off x="7315200" y="4736592"/>
            <a:ext cx="310896" cy="310896"/>
          </a:xfrm>
          <a:prstGeom prst="ellipse">
            <a:avLst/>
          </a:prstGeom>
          <a:solidFill>
            <a:srgbClr val="D9872D"/>
          </a:solidFill>
          <a:ln w="12700">
            <a:solidFill>
              <a:srgbClr val="D9872D"/>
            </a:solidFill>
            <a:prstDash val="solid"/>
          </a:ln>
        </p:spPr>
      </p:sp>
      <p:sp>
        <p:nvSpPr>
          <p:cNvPr id="27" name="Text 24"/>
          <p:cNvSpPr/>
          <p:nvPr/>
        </p:nvSpPr>
        <p:spPr>
          <a:xfrm>
            <a:off x="7315200" y="478688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5</a:t>
            </a:r>
            <a:endParaRPr lang="en-US" sz="900" dirty="0"/>
          </a:p>
        </p:txBody>
      </p:sp>
      <p:sp>
        <p:nvSpPr>
          <p:cNvPr id="28" name="Text 25"/>
          <p:cNvSpPr/>
          <p:nvPr/>
        </p:nvSpPr>
        <p:spPr>
          <a:xfrm>
            <a:off x="7754112" y="472744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Corroborate</a:t>
            </a:r>
            <a:endParaRPr lang="en-US" sz="1150" dirty="0"/>
          </a:p>
        </p:txBody>
      </p:sp>
      <p:sp>
        <p:nvSpPr>
          <p:cNvPr id="29" name="Text 26"/>
          <p:cNvSpPr/>
          <p:nvPr/>
        </p:nvSpPr>
        <p:spPr>
          <a:xfrm>
            <a:off x="7754112" y="496519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Open Weekly Adoption &amp; Usage and the function benchmark before acting.</a:t>
            </a:r>
            <a:endParaRPr lang="en-US" sz="940" dirty="0"/>
          </a:p>
        </p:txBody>
      </p:sp>
      <p:sp>
        <p:nvSpPr>
          <p:cNvPr id="30" name="Shape 27"/>
          <p:cNvSpPr/>
          <p:nvPr/>
        </p:nvSpPr>
        <p:spPr>
          <a:xfrm>
            <a:off x="594360" y="5925312"/>
            <a:ext cx="11018520" cy="438912"/>
          </a:xfrm>
          <a:prstGeom prst="roundRect">
            <a:avLst>
              <a:gd name="adj" fmla="val 12500"/>
            </a:avLst>
          </a:prstGeom>
          <a:solidFill>
            <a:srgbClr val="F7EEE4"/>
          </a:solidFill>
          <a:ln w="12700">
            <a:solidFill>
              <a:srgbClr val="E4C49A"/>
            </a:solidFill>
            <a:prstDash val="solid"/>
          </a:ln>
        </p:spPr>
      </p:sp>
      <p:sp>
        <p:nvSpPr>
          <p:cNvPr id="31" name="Text 28"/>
          <p:cNvSpPr/>
          <p:nvPr/>
        </p:nvSpPr>
        <p:spPr>
          <a:xfrm>
            <a:off x="749808" y="6053328"/>
            <a:ext cx="804672" cy="146304"/>
          </a:xfrm>
          <a:prstGeom prst="rect">
            <a:avLst/>
          </a:prstGeom>
          <a:noFill/>
          <a:ln/>
        </p:spPr>
        <p:txBody>
          <a:bodyPr wrap="square" lIns="0" tIns="0" rIns="0" bIns="0" rtlCol="0" anchor="ctr"/>
          <a:lstStyle/>
          <a:p>
            <a:pPr indent="0" marL="0">
              <a:buNone/>
            </a:pPr>
            <a:r>
              <a:rPr lang="en-US" sz="850" b="1" dirty="0">
                <a:solidFill>
                  <a:srgbClr val="D9872D"/>
                </a:solidFill>
                <a:latin typeface="Segoe UI Semibold" pitchFamily="34" charset="0"/>
                <a:ea typeface="Segoe UI Semibold" pitchFamily="34" charset="-122"/>
                <a:cs typeface="Segoe UI Semibold" pitchFamily="34" charset="-120"/>
              </a:rPr>
              <a:t>GUARDRAIL</a:t>
            </a:r>
            <a:endParaRPr lang="en-US" sz="850" dirty="0"/>
          </a:p>
        </p:txBody>
      </p:sp>
      <p:sp>
        <p:nvSpPr>
          <p:cNvPr id="32" name="Text 29"/>
          <p:cNvSpPr/>
          <p:nvPr/>
        </p:nvSpPr>
        <p:spPr>
          <a:xfrm>
            <a:off x="1600200" y="6007608"/>
            <a:ext cx="9784080" cy="210312"/>
          </a:xfrm>
          <a:prstGeom prst="rect">
            <a:avLst/>
          </a:prstGeom>
          <a:noFill/>
          <a:ln/>
        </p:spPr>
        <p:txBody>
          <a:bodyPr wrap="square" lIns="0" tIns="0" rIns="0" bIns="0" rtlCol="0" anchor="ctr"/>
          <a:lstStyle/>
          <a:p>
            <a:pPr indent="0" marL="0">
              <a:buNone/>
            </a:pPr>
            <a:r>
              <a:rPr lang="en-US" sz="930" dirty="0">
                <a:solidFill>
                  <a:srgbClr val="172033"/>
                </a:solidFill>
                <a:latin typeface="Segoe UI" pitchFamily="34" charset="0"/>
                <a:ea typeface="Segoe UI" pitchFamily="34" charset="-122"/>
                <a:cs typeface="Segoe UI" pitchFamily="34" charset="-120"/>
              </a:rPr>
              <a:t>Observed user share is not an entitlement-based adoption rate without an approved Cowork eligibility roster.</a:t>
            </a:r>
            <a:endParaRPr lang="en-US" sz="93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20040"/>
            <a:ext cx="8046720" cy="438912"/>
          </a:xfrm>
          <a:prstGeom prst="rect">
            <a:avLst/>
          </a:prstGeom>
          <a:noFill/>
          <a:ln/>
        </p:spPr>
        <p:txBody>
          <a:bodyPr wrap="square" lIns="0" tIns="0" rIns="0" bIns="0" rtlCol="0" anchor="ctr"/>
          <a:lstStyle/>
          <a:p>
            <a:pPr indent="0" marL="0">
              <a:buNone/>
            </a:pPr>
            <a:r>
              <a:rPr lang="en-US" sz="2600" b="1" dirty="0">
                <a:solidFill>
                  <a:srgbClr val="172033"/>
                </a:solidFill>
                <a:latin typeface="Segoe UI Semibold" pitchFamily="34" charset="0"/>
                <a:ea typeface="Segoe UI Semibold" pitchFamily="34" charset="-122"/>
                <a:cs typeface="Segoe UI Semibold" pitchFamily="34" charset="-120"/>
              </a:rPr>
              <a:t>Weekly Adoption &amp; Usage</a:t>
            </a:r>
            <a:endParaRPr lang="en-US" sz="2600" dirty="0"/>
          </a:p>
        </p:txBody>
      </p:sp>
      <p:sp>
        <p:nvSpPr>
          <p:cNvPr id="3" name="Text 1"/>
          <p:cNvSpPr/>
          <p:nvPr/>
        </p:nvSpPr>
        <p:spPr>
          <a:xfrm>
            <a:off x="502920" y="795528"/>
            <a:ext cx="10881360" cy="310896"/>
          </a:xfrm>
          <a:prstGeom prst="rect">
            <a:avLst/>
          </a:prstGeom>
          <a:noFill/>
          <a:ln/>
        </p:spPr>
        <p:txBody>
          <a:bodyPr wrap="square" lIns="0" tIns="0" rIns="0" bIns="0" rtlCol="0" anchor="ctr"/>
          <a:lstStyle/>
          <a:p>
            <a:pPr indent="0" marL="0">
              <a:buNone/>
            </a:pPr>
            <a:r>
              <a:rPr lang="en-US" sz="1200" dirty="0">
                <a:solidFill>
                  <a:srgbClr val="647084"/>
                </a:solidFill>
                <a:latin typeface="Segoe UI" pitchFamily="34" charset="0"/>
                <a:ea typeface="Segoe UI" pitchFamily="34" charset="-122"/>
                <a:cs typeface="Segoe UI" pitchFamily="34" charset="-120"/>
              </a:rPr>
              <a:t>Reach, return, cohorts, sessions, and credits over time</a:t>
            </a:r>
            <a:endParaRPr lang="en-US" sz="1200" dirty="0"/>
          </a:p>
        </p:txBody>
      </p:sp>
      <p:sp>
        <p:nvSpPr>
          <p:cNvPr id="4" name="Text 2"/>
          <p:cNvSpPr/>
          <p:nvPr/>
        </p:nvSpPr>
        <p:spPr>
          <a:xfrm>
            <a:off x="502920" y="6510528"/>
            <a:ext cx="3017520" cy="164592"/>
          </a:xfrm>
          <a:prstGeom prst="rect">
            <a:avLst/>
          </a:prstGeom>
          <a:noFill/>
          <a:ln/>
        </p:spPr>
        <p:txBody>
          <a:bodyPr wrap="square" lIns="0" tIns="0" rIns="0" bIns="0" rtlCol="0" anchor="ctr"/>
          <a:lstStyle/>
          <a:p>
            <a:pPr indent="0" marL="0">
              <a:buNone/>
            </a:pPr>
            <a:r>
              <a:rPr lang="en-US" sz="800" dirty="0">
                <a:solidFill>
                  <a:srgbClr val="647084"/>
                </a:solidFill>
                <a:latin typeface="Segoe UI" pitchFamily="34" charset="0"/>
                <a:ea typeface="Segoe UI" pitchFamily="34" charset="-122"/>
                <a:cs typeface="Segoe UI" pitchFamily="34" charset="-120"/>
              </a:rPr>
              <a:t>microsoft/CoworkSuperUser</a:t>
            </a:r>
            <a:endParaRPr lang="en-US" sz="800" dirty="0"/>
          </a:p>
        </p:txBody>
      </p:sp>
      <p:sp>
        <p:nvSpPr>
          <p:cNvPr id="5" name="Text 3"/>
          <p:cNvSpPr/>
          <p:nvPr/>
        </p:nvSpPr>
        <p:spPr>
          <a:xfrm>
            <a:off x="7772400" y="6510528"/>
            <a:ext cx="356616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Version 1.0 | Public | Page walkthrough</a:t>
            </a:r>
            <a:endParaRPr lang="en-US" sz="800" dirty="0"/>
          </a:p>
        </p:txBody>
      </p:sp>
      <p:sp>
        <p:nvSpPr>
          <p:cNvPr id="6" name="Text 4"/>
          <p:cNvSpPr/>
          <p:nvPr/>
        </p:nvSpPr>
        <p:spPr>
          <a:xfrm>
            <a:off x="11384280" y="6510528"/>
            <a:ext cx="32004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10</a:t>
            </a:r>
            <a:endParaRPr lang="en-US" sz="800" dirty="0"/>
          </a:p>
        </p:txBody>
      </p:sp>
      <p:sp>
        <p:nvSpPr>
          <p:cNvPr id="7" name="Shape 5"/>
          <p:cNvSpPr/>
          <p:nvPr/>
        </p:nvSpPr>
        <p:spPr>
          <a:xfrm>
            <a:off x="502920" y="1261872"/>
            <a:ext cx="6565392" cy="3703320"/>
          </a:xfrm>
          <a:prstGeom prst="roundRect">
            <a:avLst>
              <a:gd name="adj" fmla="val 1975"/>
            </a:avLst>
          </a:prstGeom>
          <a:solidFill>
            <a:srgbClr val="FFFFFF"/>
          </a:solidFill>
          <a:ln w="13970">
            <a:solidFill>
              <a:srgbClr val="D9D3E6"/>
            </a:solidFill>
            <a:prstDash val="solid"/>
          </a:ln>
          <a:effectLst>
            <a:outerShdw sx="100000" sy="100000" kx="0" ky="0" algn="bl" rotWithShape="0" blurRad="25400" dist="50800" dir="2700000">
              <a:srgbClr val="9D95AD">
                <a:alpha val="18000"/>
              </a:srgbClr>
            </a:outerShdw>
          </a:effectLst>
        </p:spPr>
      </p:sp>
      <p:pic>
        <p:nvPicPr>
          <p:cNvPr id="8" name="Image 0" descr="C:\Users\luzlorenz\OneDrive - Microsoft\Documents\Microsoft Scout\CoworkSuperUser\images\report-pages\03-weekly-adoption.png">    </p:cNvPr>
          <p:cNvPicPr>
            <a:picLocks noChangeAspect="1"/>
          </p:cNvPicPr>
          <p:nvPr/>
        </p:nvPicPr>
        <p:blipFill>
          <a:blip r:embed="rId1"/>
          <a:stretch>
            <a:fillRect/>
          </a:stretch>
        </p:blipFill>
        <p:spPr>
          <a:xfrm>
            <a:off x="585216" y="1344168"/>
            <a:ext cx="6400800" cy="3602736"/>
          </a:xfrm>
          <a:prstGeom prst="rect">
            <a:avLst/>
          </a:prstGeom>
        </p:spPr>
      </p:pic>
      <p:sp>
        <p:nvSpPr>
          <p:cNvPr id="9" name="Text 6"/>
          <p:cNvSpPr/>
          <p:nvPr/>
        </p:nvSpPr>
        <p:spPr>
          <a:xfrm>
            <a:off x="685800" y="5093208"/>
            <a:ext cx="1920240" cy="182880"/>
          </a:xfrm>
          <a:prstGeom prst="rect">
            <a:avLst/>
          </a:prstGeom>
          <a:noFill/>
          <a:ln/>
        </p:spPr>
        <p:txBody>
          <a:bodyPr wrap="square" lIns="0" tIns="0" rIns="0" bIns="0" rtlCol="0" anchor="ctr"/>
          <a:lstStyle/>
          <a:p>
            <a:pPr indent="0" marL="0">
              <a:buNone/>
            </a:pPr>
            <a:r>
              <a:rPr lang="en-US" sz="900" dirty="0">
                <a:solidFill>
                  <a:srgbClr val="6B4EA2"/>
                </a:solidFill>
                <a:latin typeface="Segoe UI Semibold" pitchFamily="34" charset="0"/>
                <a:ea typeface="Segoe UI Semibold" pitchFamily="34" charset="-122"/>
                <a:cs typeface="Segoe UI Semibold" pitchFamily="34" charset="-120"/>
              </a:rPr>
              <a:t>3 of 9 report pages</a:t>
            </a:r>
            <a:endParaRPr lang="en-US" sz="900" dirty="0"/>
          </a:p>
        </p:txBody>
      </p:sp>
      <p:sp>
        <p:nvSpPr>
          <p:cNvPr id="10" name="Shape 7"/>
          <p:cNvSpPr/>
          <p:nvPr/>
        </p:nvSpPr>
        <p:spPr>
          <a:xfrm>
            <a:off x="7315200" y="1261872"/>
            <a:ext cx="310896" cy="310896"/>
          </a:xfrm>
          <a:prstGeom prst="ellipse">
            <a:avLst/>
          </a:prstGeom>
          <a:solidFill>
            <a:srgbClr val="6B4EA2"/>
          </a:solidFill>
          <a:ln w="12700">
            <a:solidFill>
              <a:srgbClr val="6B4EA2"/>
            </a:solidFill>
            <a:prstDash val="solid"/>
          </a:ln>
        </p:spPr>
      </p:sp>
      <p:sp>
        <p:nvSpPr>
          <p:cNvPr id="11" name="Text 8"/>
          <p:cNvSpPr/>
          <p:nvPr/>
        </p:nvSpPr>
        <p:spPr>
          <a:xfrm>
            <a:off x="7315200" y="131216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1</a:t>
            </a:r>
            <a:endParaRPr lang="en-US" sz="900" dirty="0"/>
          </a:p>
        </p:txBody>
      </p:sp>
      <p:sp>
        <p:nvSpPr>
          <p:cNvPr id="12" name="Text 9"/>
          <p:cNvSpPr/>
          <p:nvPr/>
        </p:nvSpPr>
        <p:spPr>
          <a:xfrm>
            <a:off x="7754112" y="125272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Purpose</a:t>
            </a:r>
            <a:endParaRPr lang="en-US" sz="1150" dirty="0"/>
          </a:p>
        </p:txBody>
      </p:sp>
      <p:sp>
        <p:nvSpPr>
          <p:cNvPr id="13" name="Text 10"/>
          <p:cNvSpPr/>
          <p:nvPr/>
        </p:nvSpPr>
        <p:spPr>
          <a:xfrm>
            <a:off x="7754112" y="149047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Explain whether use is growing, recurring, and distributed.</a:t>
            </a:r>
            <a:endParaRPr lang="en-US" sz="940" dirty="0"/>
          </a:p>
        </p:txBody>
      </p:sp>
      <p:sp>
        <p:nvSpPr>
          <p:cNvPr id="14" name="Shape 11"/>
          <p:cNvSpPr/>
          <p:nvPr/>
        </p:nvSpPr>
        <p:spPr>
          <a:xfrm>
            <a:off x="7315200" y="2130552"/>
            <a:ext cx="310896" cy="310896"/>
          </a:xfrm>
          <a:prstGeom prst="ellipse">
            <a:avLst/>
          </a:prstGeom>
          <a:solidFill>
            <a:srgbClr val="4F80C1"/>
          </a:solidFill>
          <a:ln w="12700">
            <a:solidFill>
              <a:srgbClr val="4F80C1"/>
            </a:solidFill>
            <a:prstDash val="solid"/>
          </a:ln>
        </p:spPr>
      </p:sp>
      <p:sp>
        <p:nvSpPr>
          <p:cNvPr id="15" name="Text 12"/>
          <p:cNvSpPr/>
          <p:nvPr/>
        </p:nvSpPr>
        <p:spPr>
          <a:xfrm>
            <a:off x="7315200" y="218084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2</a:t>
            </a:r>
            <a:endParaRPr lang="en-US" sz="900" dirty="0"/>
          </a:p>
        </p:txBody>
      </p:sp>
      <p:sp>
        <p:nvSpPr>
          <p:cNvPr id="16" name="Text 13"/>
          <p:cNvSpPr/>
          <p:nvPr/>
        </p:nvSpPr>
        <p:spPr>
          <a:xfrm>
            <a:off x="7754112" y="212140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Select one view</a:t>
            </a:r>
            <a:endParaRPr lang="en-US" sz="1150" dirty="0"/>
          </a:p>
        </p:txBody>
      </p:sp>
      <p:sp>
        <p:nvSpPr>
          <p:cNvPr id="17" name="Text 14"/>
          <p:cNvSpPr/>
          <p:nvPr/>
        </p:nvSpPr>
        <p:spPr>
          <a:xfrm>
            <a:off x="7754112" y="235915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Bookmark controls preserve filters while changing the question.</a:t>
            </a:r>
            <a:endParaRPr lang="en-US" sz="940" dirty="0"/>
          </a:p>
        </p:txBody>
      </p:sp>
      <p:sp>
        <p:nvSpPr>
          <p:cNvPr id="18" name="Shape 15"/>
          <p:cNvSpPr/>
          <p:nvPr/>
        </p:nvSpPr>
        <p:spPr>
          <a:xfrm>
            <a:off x="7315200" y="2999232"/>
            <a:ext cx="310896" cy="310896"/>
          </a:xfrm>
          <a:prstGeom prst="ellipse">
            <a:avLst/>
          </a:prstGeom>
          <a:solidFill>
            <a:srgbClr val="168B82"/>
          </a:solidFill>
          <a:ln w="12700">
            <a:solidFill>
              <a:srgbClr val="168B82"/>
            </a:solidFill>
            <a:prstDash val="solid"/>
          </a:ln>
        </p:spPr>
      </p:sp>
      <p:sp>
        <p:nvSpPr>
          <p:cNvPr id="19" name="Text 16"/>
          <p:cNvSpPr/>
          <p:nvPr/>
        </p:nvSpPr>
        <p:spPr>
          <a:xfrm>
            <a:off x="7315200" y="304952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3</a:t>
            </a:r>
            <a:endParaRPr lang="en-US" sz="900" dirty="0"/>
          </a:p>
        </p:txBody>
      </p:sp>
      <p:sp>
        <p:nvSpPr>
          <p:cNvPr id="20" name="Text 17"/>
          <p:cNvSpPr/>
          <p:nvPr/>
        </p:nvSpPr>
        <p:spPr>
          <a:xfrm>
            <a:off x="7754112" y="299008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Read exact values</a:t>
            </a:r>
            <a:endParaRPr lang="en-US" sz="1150" dirty="0"/>
          </a:p>
        </p:txBody>
      </p:sp>
      <p:sp>
        <p:nvSpPr>
          <p:cNvPr id="21" name="Text 18"/>
          <p:cNvSpPr/>
          <p:nvPr/>
        </p:nvSpPr>
        <p:spPr>
          <a:xfrm>
            <a:off x="7754112" y="322783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Color is relative; table and heatmap numbers carry precision.</a:t>
            </a:r>
            <a:endParaRPr lang="en-US" sz="940" dirty="0"/>
          </a:p>
        </p:txBody>
      </p:sp>
      <p:sp>
        <p:nvSpPr>
          <p:cNvPr id="22" name="Shape 19"/>
          <p:cNvSpPr/>
          <p:nvPr/>
        </p:nvSpPr>
        <p:spPr>
          <a:xfrm>
            <a:off x="7315200" y="3867912"/>
            <a:ext cx="310896" cy="310896"/>
          </a:xfrm>
          <a:prstGeom prst="ellipse">
            <a:avLst/>
          </a:prstGeom>
          <a:solidFill>
            <a:srgbClr val="3A8F5B"/>
          </a:solidFill>
          <a:ln w="12700">
            <a:solidFill>
              <a:srgbClr val="3A8F5B"/>
            </a:solidFill>
            <a:prstDash val="solid"/>
          </a:ln>
        </p:spPr>
      </p:sp>
      <p:sp>
        <p:nvSpPr>
          <p:cNvPr id="23" name="Text 20"/>
          <p:cNvSpPr/>
          <p:nvPr/>
        </p:nvSpPr>
        <p:spPr>
          <a:xfrm>
            <a:off x="7315200" y="391820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4</a:t>
            </a:r>
            <a:endParaRPr lang="en-US" sz="900" dirty="0"/>
          </a:p>
        </p:txBody>
      </p:sp>
      <p:sp>
        <p:nvSpPr>
          <p:cNvPr id="24" name="Text 21"/>
          <p:cNvSpPr/>
          <p:nvPr/>
        </p:nvSpPr>
        <p:spPr>
          <a:xfrm>
            <a:off x="7754112" y="385876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Diagnose the cohort</a:t>
            </a:r>
            <a:endParaRPr lang="en-US" sz="1150" dirty="0"/>
          </a:p>
        </p:txBody>
      </p:sp>
      <p:sp>
        <p:nvSpPr>
          <p:cNvPr id="25" name="Text 22"/>
          <p:cNvSpPr/>
          <p:nvPr/>
        </p:nvSpPr>
        <p:spPr>
          <a:xfrm>
            <a:off x="7754112" y="409651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Separate new, retained, resurrected, and churned people.</a:t>
            </a:r>
            <a:endParaRPr lang="en-US" sz="940" dirty="0"/>
          </a:p>
        </p:txBody>
      </p:sp>
      <p:sp>
        <p:nvSpPr>
          <p:cNvPr id="26" name="Shape 23"/>
          <p:cNvSpPr/>
          <p:nvPr/>
        </p:nvSpPr>
        <p:spPr>
          <a:xfrm>
            <a:off x="7315200" y="4736592"/>
            <a:ext cx="310896" cy="310896"/>
          </a:xfrm>
          <a:prstGeom prst="ellipse">
            <a:avLst/>
          </a:prstGeom>
          <a:solidFill>
            <a:srgbClr val="D9872D"/>
          </a:solidFill>
          <a:ln w="12700">
            <a:solidFill>
              <a:srgbClr val="D9872D"/>
            </a:solidFill>
            <a:prstDash val="solid"/>
          </a:ln>
        </p:spPr>
      </p:sp>
      <p:sp>
        <p:nvSpPr>
          <p:cNvPr id="27" name="Text 24"/>
          <p:cNvSpPr/>
          <p:nvPr/>
        </p:nvSpPr>
        <p:spPr>
          <a:xfrm>
            <a:off x="7315200" y="478688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5</a:t>
            </a:r>
            <a:endParaRPr lang="en-US" sz="900" dirty="0"/>
          </a:p>
        </p:txBody>
      </p:sp>
      <p:sp>
        <p:nvSpPr>
          <p:cNvPr id="28" name="Text 25"/>
          <p:cNvSpPr/>
          <p:nvPr/>
        </p:nvSpPr>
        <p:spPr>
          <a:xfrm>
            <a:off x="7754112" y="472744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Choose the response</a:t>
            </a:r>
            <a:endParaRPr lang="en-US" sz="1150" dirty="0"/>
          </a:p>
        </p:txBody>
      </p:sp>
      <p:sp>
        <p:nvSpPr>
          <p:cNvPr id="29" name="Text 26"/>
          <p:cNvSpPr/>
          <p:nvPr/>
        </p:nvSpPr>
        <p:spPr>
          <a:xfrm>
            <a:off x="7754112" y="496519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Map reach, return, or intensity gaps to different enablement actions.</a:t>
            </a:r>
            <a:endParaRPr lang="en-US" sz="940" dirty="0"/>
          </a:p>
        </p:txBody>
      </p:sp>
      <p:sp>
        <p:nvSpPr>
          <p:cNvPr id="30" name="Shape 27"/>
          <p:cNvSpPr/>
          <p:nvPr/>
        </p:nvSpPr>
        <p:spPr>
          <a:xfrm>
            <a:off x="594360" y="5925312"/>
            <a:ext cx="11018520" cy="438912"/>
          </a:xfrm>
          <a:prstGeom prst="roundRect">
            <a:avLst>
              <a:gd name="adj" fmla="val 12500"/>
            </a:avLst>
          </a:prstGeom>
          <a:solidFill>
            <a:srgbClr val="F7EEE4"/>
          </a:solidFill>
          <a:ln w="12700">
            <a:solidFill>
              <a:srgbClr val="E4C49A"/>
            </a:solidFill>
            <a:prstDash val="solid"/>
          </a:ln>
        </p:spPr>
      </p:sp>
      <p:sp>
        <p:nvSpPr>
          <p:cNvPr id="31" name="Text 28"/>
          <p:cNvSpPr/>
          <p:nvPr/>
        </p:nvSpPr>
        <p:spPr>
          <a:xfrm>
            <a:off x="749808" y="6053328"/>
            <a:ext cx="804672" cy="146304"/>
          </a:xfrm>
          <a:prstGeom prst="rect">
            <a:avLst/>
          </a:prstGeom>
          <a:noFill/>
          <a:ln/>
        </p:spPr>
        <p:txBody>
          <a:bodyPr wrap="square" lIns="0" tIns="0" rIns="0" bIns="0" rtlCol="0" anchor="ctr"/>
          <a:lstStyle/>
          <a:p>
            <a:pPr indent="0" marL="0">
              <a:buNone/>
            </a:pPr>
            <a:r>
              <a:rPr lang="en-US" sz="850" b="1" dirty="0">
                <a:solidFill>
                  <a:srgbClr val="D9872D"/>
                </a:solidFill>
                <a:latin typeface="Segoe UI Semibold" pitchFamily="34" charset="0"/>
                <a:ea typeface="Segoe UI Semibold" pitchFamily="34" charset="-122"/>
                <a:cs typeface="Segoe UI Semibold" pitchFamily="34" charset="-120"/>
              </a:rPr>
              <a:t>GUARDRAIL</a:t>
            </a:r>
            <a:endParaRPr lang="en-US" sz="850" dirty="0"/>
          </a:p>
        </p:txBody>
      </p:sp>
      <p:sp>
        <p:nvSpPr>
          <p:cNvPr id="32" name="Text 29"/>
          <p:cNvSpPr/>
          <p:nvPr/>
        </p:nvSpPr>
        <p:spPr>
          <a:xfrm>
            <a:off x="1600200" y="6007608"/>
            <a:ext cx="9784080" cy="210312"/>
          </a:xfrm>
          <a:prstGeom prst="rect">
            <a:avLst/>
          </a:prstGeom>
          <a:noFill/>
          <a:ln/>
        </p:spPr>
        <p:txBody>
          <a:bodyPr wrap="square" lIns="0" tIns="0" rIns="0" bIns="0" rtlCol="0" anchor="ctr"/>
          <a:lstStyle/>
          <a:p>
            <a:pPr indent="0" marL="0">
              <a:buNone/>
            </a:pPr>
            <a:r>
              <a:rPr lang="en-US" sz="930" dirty="0">
                <a:solidFill>
                  <a:srgbClr val="172033"/>
                </a:solidFill>
                <a:latin typeface="Segoe UI" pitchFamily="34" charset="0"/>
                <a:ea typeface="Segoe UI" pitchFamily="34" charset="-122"/>
                <a:cs typeface="Segoe UI" pitchFamily="34" charset="-120"/>
              </a:rPr>
              <a:t>Sessions and credits describe usage and consumption - not task completion, productivity, quality, or business value.</a:t>
            </a:r>
            <a:endParaRPr lang="en-US" sz="93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20040"/>
            <a:ext cx="8046720" cy="438912"/>
          </a:xfrm>
          <a:prstGeom prst="rect">
            <a:avLst/>
          </a:prstGeom>
          <a:noFill/>
          <a:ln/>
        </p:spPr>
        <p:txBody>
          <a:bodyPr wrap="square" lIns="0" tIns="0" rIns="0" bIns="0" rtlCol="0" anchor="ctr"/>
          <a:lstStyle/>
          <a:p>
            <a:pPr indent="0" marL="0">
              <a:buNone/>
            </a:pPr>
            <a:r>
              <a:rPr lang="en-US" sz="2600" b="1" dirty="0">
                <a:solidFill>
                  <a:srgbClr val="172033"/>
                </a:solidFill>
                <a:latin typeface="Segoe UI Semibold" pitchFamily="34" charset="0"/>
                <a:ea typeface="Segoe UI Semibold" pitchFamily="34" charset="-122"/>
                <a:cs typeface="Segoe UI Semibold" pitchFamily="34" charset="-120"/>
              </a:rPr>
              <a:t>Adoption by Attributes</a:t>
            </a:r>
            <a:endParaRPr lang="en-US" sz="2600" dirty="0"/>
          </a:p>
        </p:txBody>
      </p:sp>
      <p:sp>
        <p:nvSpPr>
          <p:cNvPr id="3" name="Text 1"/>
          <p:cNvSpPr/>
          <p:nvPr/>
        </p:nvSpPr>
        <p:spPr>
          <a:xfrm>
            <a:off x="502920" y="795528"/>
            <a:ext cx="10881360" cy="310896"/>
          </a:xfrm>
          <a:prstGeom prst="rect">
            <a:avLst/>
          </a:prstGeom>
          <a:noFill/>
          <a:ln/>
        </p:spPr>
        <p:txBody>
          <a:bodyPr wrap="square" lIns="0" tIns="0" rIns="0" bIns="0" rtlCol="0" anchor="ctr"/>
          <a:lstStyle/>
          <a:p>
            <a:pPr indent="0" marL="0">
              <a:buNone/>
            </a:pPr>
            <a:r>
              <a:rPr lang="en-US" sz="1200" dirty="0">
                <a:solidFill>
                  <a:srgbClr val="647084"/>
                </a:solidFill>
                <a:latin typeface="Segoe UI" pitchFamily="34" charset="0"/>
                <a:ea typeface="Segoe UI" pitchFamily="34" charset="-122"/>
                <a:cs typeface="Segoe UI" pitchFamily="34" charset="-120"/>
              </a:rPr>
              <a:t>Compare observed reach and sustained use across organization attributes</a:t>
            </a:r>
            <a:endParaRPr lang="en-US" sz="1200" dirty="0"/>
          </a:p>
        </p:txBody>
      </p:sp>
      <p:sp>
        <p:nvSpPr>
          <p:cNvPr id="4" name="Text 2"/>
          <p:cNvSpPr/>
          <p:nvPr/>
        </p:nvSpPr>
        <p:spPr>
          <a:xfrm>
            <a:off x="502920" y="6510528"/>
            <a:ext cx="3017520" cy="164592"/>
          </a:xfrm>
          <a:prstGeom prst="rect">
            <a:avLst/>
          </a:prstGeom>
          <a:noFill/>
          <a:ln/>
        </p:spPr>
        <p:txBody>
          <a:bodyPr wrap="square" lIns="0" tIns="0" rIns="0" bIns="0" rtlCol="0" anchor="ctr"/>
          <a:lstStyle/>
          <a:p>
            <a:pPr indent="0" marL="0">
              <a:buNone/>
            </a:pPr>
            <a:r>
              <a:rPr lang="en-US" sz="800" dirty="0">
                <a:solidFill>
                  <a:srgbClr val="647084"/>
                </a:solidFill>
                <a:latin typeface="Segoe UI" pitchFamily="34" charset="0"/>
                <a:ea typeface="Segoe UI" pitchFamily="34" charset="-122"/>
                <a:cs typeface="Segoe UI" pitchFamily="34" charset="-120"/>
              </a:rPr>
              <a:t>microsoft/CoworkSuperUser</a:t>
            </a:r>
            <a:endParaRPr lang="en-US" sz="800" dirty="0"/>
          </a:p>
        </p:txBody>
      </p:sp>
      <p:sp>
        <p:nvSpPr>
          <p:cNvPr id="5" name="Text 3"/>
          <p:cNvSpPr/>
          <p:nvPr/>
        </p:nvSpPr>
        <p:spPr>
          <a:xfrm>
            <a:off x="7772400" y="6510528"/>
            <a:ext cx="356616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Version 1.0 | Public | Page walkthrough</a:t>
            </a:r>
            <a:endParaRPr lang="en-US" sz="800" dirty="0"/>
          </a:p>
        </p:txBody>
      </p:sp>
      <p:sp>
        <p:nvSpPr>
          <p:cNvPr id="6" name="Text 4"/>
          <p:cNvSpPr/>
          <p:nvPr/>
        </p:nvSpPr>
        <p:spPr>
          <a:xfrm>
            <a:off x="11384280" y="6510528"/>
            <a:ext cx="32004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11</a:t>
            </a:r>
            <a:endParaRPr lang="en-US" sz="800" dirty="0"/>
          </a:p>
        </p:txBody>
      </p:sp>
      <p:sp>
        <p:nvSpPr>
          <p:cNvPr id="7" name="Shape 5"/>
          <p:cNvSpPr/>
          <p:nvPr/>
        </p:nvSpPr>
        <p:spPr>
          <a:xfrm>
            <a:off x="502920" y="1261872"/>
            <a:ext cx="6565392" cy="3703320"/>
          </a:xfrm>
          <a:prstGeom prst="roundRect">
            <a:avLst>
              <a:gd name="adj" fmla="val 1975"/>
            </a:avLst>
          </a:prstGeom>
          <a:solidFill>
            <a:srgbClr val="FFFFFF"/>
          </a:solidFill>
          <a:ln w="13970">
            <a:solidFill>
              <a:srgbClr val="D9D3E6"/>
            </a:solidFill>
            <a:prstDash val="solid"/>
          </a:ln>
          <a:effectLst>
            <a:outerShdw sx="100000" sy="100000" kx="0" ky="0" algn="bl" rotWithShape="0" blurRad="25400" dist="50800" dir="2700000">
              <a:srgbClr val="9D95AD">
                <a:alpha val="18000"/>
              </a:srgbClr>
            </a:outerShdw>
          </a:effectLst>
        </p:spPr>
      </p:sp>
      <p:pic>
        <p:nvPicPr>
          <p:cNvPr id="8" name="Image 0" descr="C:\Users\luzlorenz\OneDrive - Microsoft\Documents\Microsoft Scout\CoworkSuperUser\images\report-pages\04-adoption-by-attributes.png">    </p:cNvPr>
          <p:cNvPicPr>
            <a:picLocks noChangeAspect="1"/>
          </p:cNvPicPr>
          <p:nvPr/>
        </p:nvPicPr>
        <p:blipFill>
          <a:blip r:embed="rId1"/>
          <a:stretch>
            <a:fillRect/>
          </a:stretch>
        </p:blipFill>
        <p:spPr>
          <a:xfrm>
            <a:off x="585216" y="1344168"/>
            <a:ext cx="6400800" cy="3602736"/>
          </a:xfrm>
          <a:prstGeom prst="rect">
            <a:avLst/>
          </a:prstGeom>
        </p:spPr>
      </p:pic>
      <p:sp>
        <p:nvSpPr>
          <p:cNvPr id="9" name="Text 6"/>
          <p:cNvSpPr/>
          <p:nvPr/>
        </p:nvSpPr>
        <p:spPr>
          <a:xfrm>
            <a:off x="685800" y="5093208"/>
            <a:ext cx="1920240" cy="182880"/>
          </a:xfrm>
          <a:prstGeom prst="rect">
            <a:avLst/>
          </a:prstGeom>
          <a:noFill/>
          <a:ln/>
        </p:spPr>
        <p:txBody>
          <a:bodyPr wrap="square" lIns="0" tIns="0" rIns="0" bIns="0" rtlCol="0" anchor="ctr"/>
          <a:lstStyle/>
          <a:p>
            <a:pPr indent="0" marL="0">
              <a:buNone/>
            </a:pPr>
            <a:r>
              <a:rPr lang="en-US" sz="900" dirty="0">
                <a:solidFill>
                  <a:srgbClr val="6B4EA2"/>
                </a:solidFill>
                <a:latin typeface="Segoe UI Semibold" pitchFamily="34" charset="0"/>
                <a:ea typeface="Segoe UI Semibold" pitchFamily="34" charset="-122"/>
                <a:cs typeface="Segoe UI Semibold" pitchFamily="34" charset="-120"/>
              </a:rPr>
              <a:t>4 of 9 report pages</a:t>
            </a:r>
            <a:endParaRPr lang="en-US" sz="900" dirty="0"/>
          </a:p>
        </p:txBody>
      </p:sp>
      <p:sp>
        <p:nvSpPr>
          <p:cNvPr id="10" name="Shape 7"/>
          <p:cNvSpPr/>
          <p:nvPr/>
        </p:nvSpPr>
        <p:spPr>
          <a:xfrm>
            <a:off x="7315200" y="1261872"/>
            <a:ext cx="310896" cy="310896"/>
          </a:xfrm>
          <a:prstGeom prst="ellipse">
            <a:avLst/>
          </a:prstGeom>
          <a:solidFill>
            <a:srgbClr val="6B4EA2"/>
          </a:solidFill>
          <a:ln w="12700">
            <a:solidFill>
              <a:srgbClr val="6B4EA2"/>
            </a:solidFill>
            <a:prstDash val="solid"/>
          </a:ln>
        </p:spPr>
      </p:sp>
      <p:sp>
        <p:nvSpPr>
          <p:cNvPr id="11" name="Text 8"/>
          <p:cNvSpPr/>
          <p:nvPr/>
        </p:nvSpPr>
        <p:spPr>
          <a:xfrm>
            <a:off x="7315200" y="131216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1</a:t>
            </a:r>
            <a:endParaRPr lang="en-US" sz="900" dirty="0"/>
          </a:p>
        </p:txBody>
      </p:sp>
      <p:sp>
        <p:nvSpPr>
          <p:cNvPr id="12" name="Text 9"/>
          <p:cNvSpPr/>
          <p:nvPr/>
        </p:nvSpPr>
        <p:spPr>
          <a:xfrm>
            <a:off x="7754112" y="125272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Purpose</a:t>
            </a:r>
            <a:endParaRPr lang="en-US" sz="1150" dirty="0"/>
          </a:p>
        </p:txBody>
      </p:sp>
      <p:sp>
        <p:nvSpPr>
          <p:cNvPr id="13" name="Text 10"/>
          <p:cNvSpPr/>
          <p:nvPr/>
        </p:nvSpPr>
        <p:spPr>
          <a:xfrm>
            <a:off x="7754112" y="149047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Locate organization groups with different adoption and habit patterns.</a:t>
            </a:r>
            <a:endParaRPr lang="en-US" sz="940" dirty="0"/>
          </a:p>
        </p:txBody>
      </p:sp>
      <p:sp>
        <p:nvSpPr>
          <p:cNvPr id="14" name="Shape 11"/>
          <p:cNvSpPr/>
          <p:nvPr/>
        </p:nvSpPr>
        <p:spPr>
          <a:xfrm>
            <a:off x="7315200" y="2130552"/>
            <a:ext cx="310896" cy="310896"/>
          </a:xfrm>
          <a:prstGeom prst="ellipse">
            <a:avLst/>
          </a:prstGeom>
          <a:solidFill>
            <a:srgbClr val="4F80C1"/>
          </a:solidFill>
          <a:ln w="12700">
            <a:solidFill>
              <a:srgbClr val="4F80C1"/>
            </a:solidFill>
            <a:prstDash val="solid"/>
          </a:ln>
        </p:spPr>
      </p:sp>
      <p:sp>
        <p:nvSpPr>
          <p:cNvPr id="15" name="Text 12"/>
          <p:cNvSpPr/>
          <p:nvPr/>
        </p:nvSpPr>
        <p:spPr>
          <a:xfrm>
            <a:off x="7315200" y="218084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2</a:t>
            </a:r>
            <a:endParaRPr lang="en-US" sz="900" dirty="0"/>
          </a:p>
        </p:txBody>
      </p:sp>
      <p:sp>
        <p:nvSpPr>
          <p:cNvPr id="16" name="Text 13"/>
          <p:cNvSpPr/>
          <p:nvPr/>
        </p:nvSpPr>
        <p:spPr>
          <a:xfrm>
            <a:off x="7754112" y="212140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Check population</a:t>
            </a:r>
            <a:endParaRPr lang="en-US" sz="1150" dirty="0"/>
          </a:p>
        </p:txBody>
      </p:sp>
      <p:sp>
        <p:nvSpPr>
          <p:cNvPr id="17" name="Text 14"/>
          <p:cNvSpPr/>
          <p:nvPr/>
        </p:nvSpPr>
        <p:spPr>
          <a:xfrm>
            <a:off x="7754112" y="235915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Confirm the comparison meets the 10-person privacy floor.</a:t>
            </a:r>
            <a:endParaRPr lang="en-US" sz="940" dirty="0"/>
          </a:p>
        </p:txBody>
      </p:sp>
      <p:sp>
        <p:nvSpPr>
          <p:cNvPr id="18" name="Shape 15"/>
          <p:cNvSpPr/>
          <p:nvPr/>
        </p:nvSpPr>
        <p:spPr>
          <a:xfrm>
            <a:off x="7315200" y="2999232"/>
            <a:ext cx="310896" cy="310896"/>
          </a:xfrm>
          <a:prstGeom prst="ellipse">
            <a:avLst/>
          </a:prstGeom>
          <a:solidFill>
            <a:srgbClr val="168B82"/>
          </a:solidFill>
          <a:ln w="12700">
            <a:solidFill>
              <a:srgbClr val="168B82"/>
            </a:solidFill>
            <a:prstDash val="solid"/>
          </a:ln>
        </p:spPr>
      </p:sp>
      <p:sp>
        <p:nvSpPr>
          <p:cNvPr id="19" name="Text 16"/>
          <p:cNvSpPr/>
          <p:nvPr/>
        </p:nvSpPr>
        <p:spPr>
          <a:xfrm>
            <a:off x="7315200" y="304952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3</a:t>
            </a:r>
            <a:endParaRPr lang="en-US" sz="900" dirty="0"/>
          </a:p>
        </p:txBody>
      </p:sp>
      <p:sp>
        <p:nvSpPr>
          <p:cNvPr id="20" name="Text 17"/>
          <p:cNvSpPr/>
          <p:nvPr/>
        </p:nvSpPr>
        <p:spPr>
          <a:xfrm>
            <a:off x="7754112" y="299008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Choose a lens</a:t>
            </a:r>
            <a:endParaRPr lang="en-US" sz="1150" dirty="0"/>
          </a:p>
        </p:txBody>
      </p:sp>
      <p:sp>
        <p:nvSpPr>
          <p:cNvPr id="21" name="Text 18"/>
          <p:cNvSpPr/>
          <p:nvPr/>
        </p:nvSpPr>
        <p:spPr>
          <a:xfrm>
            <a:off x="7754112" y="322783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Compare reach, sustained use, weekly activity, or recommended focus.</a:t>
            </a:r>
            <a:endParaRPr lang="en-US" sz="940" dirty="0"/>
          </a:p>
        </p:txBody>
      </p:sp>
      <p:sp>
        <p:nvSpPr>
          <p:cNvPr id="22" name="Shape 19"/>
          <p:cNvSpPr/>
          <p:nvPr/>
        </p:nvSpPr>
        <p:spPr>
          <a:xfrm>
            <a:off x="7315200" y="3867912"/>
            <a:ext cx="310896" cy="310896"/>
          </a:xfrm>
          <a:prstGeom prst="ellipse">
            <a:avLst/>
          </a:prstGeom>
          <a:solidFill>
            <a:srgbClr val="3A8F5B"/>
          </a:solidFill>
          <a:ln w="12700">
            <a:solidFill>
              <a:srgbClr val="3A8F5B"/>
            </a:solidFill>
            <a:prstDash val="solid"/>
          </a:ln>
        </p:spPr>
      </p:sp>
      <p:sp>
        <p:nvSpPr>
          <p:cNvPr id="23" name="Text 20"/>
          <p:cNvSpPr/>
          <p:nvPr/>
        </p:nvSpPr>
        <p:spPr>
          <a:xfrm>
            <a:off x="7315200" y="391820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4</a:t>
            </a:r>
            <a:endParaRPr lang="en-US" sz="900" dirty="0"/>
          </a:p>
        </p:txBody>
      </p:sp>
      <p:sp>
        <p:nvSpPr>
          <p:cNvPr id="24" name="Text 21"/>
          <p:cNvSpPr/>
          <p:nvPr/>
        </p:nvSpPr>
        <p:spPr>
          <a:xfrm>
            <a:off x="7754112" y="385876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Read the benchmark</a:t>
            </a:r>
            <a:endParaRPr lang="en-US" sz="1150" dirty="0"/>
          </a:p>
        </p:txBody>
      </p:sp>
      <p:sp>
        <p:nvSpPr>
          <p:cNvPr id="25" name="Text 22"/>
          <p:cNvSpPr/>
          <p:nvPr/>
        </p:nvSpPr>
        <p:spPr>
          <a:xfrm>
            <a:off x="7754112" y="409651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Company comparison removes only the selected Function filter.</a:t>
            </a:r>
            <a:endParaRPr lang="en-US" sz="940" dirty="0"/>
          </a:p>
        </p:txBody>
      </p:sp>
      <p:sp>
        <p:nvSpPr>
          <p:cNvPr id="26" name="Shape 23"/>
          <p:cNvSpPr/>
          <p:nvPr/>
        </p:nvSpPr>
        <p:spPr>
          <a:xfrm>
            <a:off x="7315200" y="4736592"/>
            <a:ext cx="310896" cy="310896"/>
          </a:xfrm>
          <a:prstGeom prst="ellipse">
            <a:avLst/>
          </a:prstGeom>
          <a:solidFill>
            <a:srgbClr val="D9872D"/>
          </a:solidFill>
          <a:ln w="12700">
            <a:solidFill>
              <a:srgbClr val="D9872D"/>
            </a:solidFill>
            <a:prstDash val="solid"/>
          </a:ln>
        </p:spPr>
      </p:sp>
      <p:sp>
        <p:nvSpPr>
          <p:cNvPr id="27" name="Text 24"/>
          <p:cNvSpPr/>
          <p:nvPr/>
        </p:nvSpPr>
        <p:spPr>
          <a:xfrm>
            <a:off x="7315200" y="478688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5</a:t>
            </a:r>
            <a:endParaRPr lang="en-US" sz="900" dirty="0"/>
          </a:p>
        </p:txBody>
      </p:sp>
      <p:sp>
        <p:nvSpPr>
          <p:cNvPr id="28" name="Text 25"/>
          <p:cNvSpPr/>
          <p:nvPr/>
        </p:nvSpPr>
        <p:spPr>
          <a:xfrm>
            <a:off x="7754112" y="472744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Validate locally</a:t>
            </a:r>
            <a:endParaRPr lang="en-US" sz="1150" dirty="0"/>
          </a:p>
        </p:txBody>
      </p:sp>
      <p:sp>
        <p:nvSpPr>
          <p:cNvPr id="29" name="Text 26"/>
          <p:cNvSpPr/>
          <p:nvPr/>
        </p:nvSpPr>
        <p:spPr>
          <a:xfrm>
            <a:off x="7754112" y="496519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Role mix, rollout timing, and work type can explain differences.</a:t>
            </a:r>
            <a:endParaRPr lang="en-US" sz="940" dirty="0"/>
          </a:p>
        </p:txBody>
      </p:sp>
      <p:sp>
        <p:nvSpPr>
          <p:cNvPr id="30" name="Shape 27"/>
          <p:cNvSpPr/>
          <p:nvPr/>
        </p:nvSpPr>
        <p:spPr>
          <a:xfrm>
            <a:off x="594360" y="5925312"/>
            <a:ext cx="11018520" cy="438912"/>
          </a:xfrm>
          <a:prstGeom prst="roundRect">
            <a:avLst>
              <a:gd name="adj" fmla="val 12500"/>
            </a:avLst>
          </a:prstGeom>
          <a:solidFill>
            <a:srgbClr val="F7EEE4"/>
          </a:solidFill>
          <a:ln w="12700">
            <a:solidFill>
              <a:srgbClr val="E4C49A"/>
            </a:solidFill>
            <a:prstDash val="solid"/>
          </a:ln>
        </p:spPr>
      </p:sp>
      <p:sp>
        <p:nvSpPr>
          <p:cNvPr id="31" name="Text 28"/>
          <p:cNvSpPr/>
          <p:nvPr/>
        </p:nvSpPr>
        <p:spPr>
          <a:xfrm>
            <a:off x="749808" y="6053328"/>
            <a:ext cx="804672" cy="146304"/>
          </a:xfrm>
          <a:prstGeom prst="rect">
            <a:avLst/>
          </a:prstGeom>
          <a:noFill/>
          <a:ln/>
        </p:spPr>
        <p:txBody>
          <a:bodyPr wrap="square" lIns="0" tIns="0" rIns="0" bIns="0" rtlCol="0" anchor="ctr"/>
          <a:lstStyle/>
          <a:p>
            <a:pPr indent="0" marL="0">
              <a:buNone/>
            </a:pPr>
            <a:r>
              <a:rPr lang="en-US" sz="850" b="1" dirty="0">
                <a:solidFill>
                  <a:srgbClr val="D9872D"/>
                </a:solidFill>
                <a:latin typeface="Segoe UI Semibold" pitchFamily="34" charset="0"/>
                <a:ea typeface="Segoe UI Semibold" pitchFamily="34" charset="-122"/>
                <a:cs typeface="Segoe UI Semibold" pitchFamily="34" charset="-120"/>
              </a:rPr>
              <a:t>GUARDRAIL</a:t>
            </a:r>
            <a:endParaRPr lang="en-US" sz="850" dirty="0"/>
          </a:p>
        </p:txBody>
      </p:sp>
      <p:sp>
        <p:nvSpPr>
          <p:cNvPr id="32" name="Text 29"/>
          <p:cNvSpPr/>
          <p:nvPr/>
        </p:nvSpPr>
        <p:spPr>
          <a:xfrm>
            <a:off x="1600200" y="6007608"/>
            <a:ext cx="9784080" cy="210312"/>
          </a:xfrm>
          <a:prstGeom prst="rect">
            <a:avLst/>
          </a:prstGeom>
          <a:noFill/>
          <a:ln/>
        </p:spPr>
        <p:txBody>
          <a:bodyPr wrap="square" lIns="0" tIns="0" rIns="0" bIns="0" rtlCol="0" anchor="ctr"/>
          <a:lstStyle/>
          <a:p>
            <a:pPr indent="0" marL="0">
              <a:buNone/>
            </a:pPr>
            <a:r>
              <a:rPr lang="en-US" sz="930" dirty="0">
                <a:solidFill>
                  <a:srgbClr val="172033"/>
                </a:solidFill>
                <a:latin typeface="Segoe UI" pitchFamily="34" charset="0"/>
                <a:ea typeface="Segoe UI" pitchFamily="34" charset="-122"/>
                <a:cs typeface="Segoe UI" pitchFamily="34" charset="-120"/>
              </a:rPr>
              <a:t>Organizational differences are program signals, not employee-performance comparisons.</a:t>
            </a:r>
            <a:endParaRPr lang="en-US" sz="9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320040"/>
            <a:ext cx="8046720" cy="438912"/>
          </a:xfrm>
          <a:prstGeom prst="rect">
            <a:avLst/>
          </a:prstGeom>
          <a:noFill/>
          <a:ln/>
        </p:spPr>
        <p:txBody>
          <a:bodyPr wrap="square" lIns="0" tIns="0" rIns="0" bIns="0" rtlCol="0" anchor="ctr"/>
          <a:lstStyle/>
          <a:p>
            <a:pPr indent="0" marL="0">
              <a:buNone/>
            </a:pPr>
            <a:r>
              <a:rPr lang="en-US" sz="2600" b="1" dirty="0">
                <a:solidFill>
                  <a:srgbClr val="172033"/>
                </a:solidFill>
                <a:latin typeface="Segoe UI Semibold" pitchFamily="34" charset="0"/>
                <a:ea typeface="Segoe UI Semibold" pitchFamily="34" charset="-122"/>
                <a:cs typeface="Segoe UI Semibold" pitchFamily="34" charset="-120"/>
              </a:rPr>
              <a:t>Habit Movement</a:t>
            </a:r>
            <a:endParaRPr lang="en-US" sz="2600" dirty="0"/>
          </a:p>
        </p:txBody>
      </p:sp>
      <p:sp>
        <p:nvSpPr>
          <p:cNvPr id="3" name="Text 1"/>
          <p:cNvSpPr/>
          <p:nvPr/>
        </p:nvSpPr>
        <p:spPr>
          <a:xfrm>
            <a:off x="502920" y="795528"/>
            <a:ext cx="10881360" cy="310896"/>
          </a:xfrm>
          <a:prstGeom prst="rect">
            <a:avLst/>
          </a:prstGeom>
          <a:noFill/>
          <a:ln/>
        </p:spPr>
        <p:txBody>
          <a:bodyPr wrap="square" lIns="0" tIns="0" rIns="0" bIns="0" rtlCol="0" anchor="ctr"/>
          <a:lstStyle/>
          <a:p>
            <a:pPr indent="0" marL="0">
              <a:buNone/>
            </a:pPr>
            <a:r>
              <a:rPr lang="en-US" sz="1200" dirty="0">
                <a:solidFill>
                  <a:srgbClr val="647084"/>
                </a:solidFill>
                <a:latin typeface="Segoe UI" pitchFamily="34" charset="0"/>
                <a:ea typeface="Segoe UI" pitchFamily="34" charset="-122"/>
                <a:cs typeface="Segoe UI" pitchFamily="34" charset="-120"/>
              </a:rPr>
              <a:t>Compare previous and latest adjacent usage-stage windows</a:t>
            </a:r>
            <a:endParaRPr lang="en-US" sz="1200" dirty="0"/>
          </a:p>
        </p:txBody>
      </p:sp>
      <p:sp>
        <p:nvSpPr>
          <p:cNvPr id="4" name="Text 2"/>
          <p:cNvSpPr/>
          <p:nvPr/>
        </p:nvSpPr>
        <p:spPr>
          <a:xfrm>
            <a:off x="502920" y="6510528"/>
            <a:ext cx="3017520" cy="164592"/>
          </a:xfrm>
          <a:prstGeom prst="rect">
            <a:avLst/>
          </a:prstGeom>
          <a:noFill/>
          <a:ln/>
        </p:spPr>
        <p:txBody>
          <a:bodyPr wrap="square" lIns="0" tIns="0" rIns="0" bIns="0" rtlCol="0" anchor="ctr"/>
          <a:lstStyle/>
          <a:p>
            <a:pPr indent="0" marL="0">
              <a:buNone/>
            </a:pPr>
            <a:r>
              <a:rPr lang="en-US" sz="800" dirty="0">
                <a:solidFill>
                  <a:srgbClr val="647084"/>
                </a:solidFill>
                <a:latin typeface="Segoe UI" pitchFamily="34" charset="0"/>
                <a:ea typeface="Segoe UI" pitchFamily="34" charset="-122"/>
                <a:cs typeface="Segoe UI" pitchFamily="34" charset="-120"/>
              </a:rPr>
              <a:t>microsoft/CoworkSuperUser</a:t>
            </a:r>
            <a:endParaRPr lang="en-US" sz="800" dirty="0"/>
          </a:p>
        </p:txBody>
      </p:sp>
      <p:sp>
        <p:nvSpPr>
          <p:cNvPr id="5" name="Text 3"/>
          <p:cNvSpPr/>
          <p:nvPr/>
        </p:nvSpPr>
        <p:spPr>
          <a:xfrm>
            <a:off x="7772400" y="6510528"/>
            <a:ext cx="356616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Version 1.0 | Public | Page walkthrough</a:t>
            </a:r>
            <a:endParaRPr lang="en-US" sz="800" dirty="0"/>
          </a:p>
        </p:txBody>
      </p:sp>
      <p:sp>
        <p:nvSpPr>
          <p:cNvPr id="6" name="Text 4"/>
          <p:cNvSpPr/>
          <p:nvPr/>
        </p:nvSpPr>
        <p:spPr>
          <a:xfrm>
            <a:off x="11384280" y="6510528"/>
            <a:ext cx="32004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12</a:t>
            </a:r>
            <a:endParaRPr lang="en-US" sz="800" dirty="0"/>
          </a:p>
        </p:txBody>
      </p:sp>
      <p:sp>
        <p:nvSpPr>
          <p:cNvPr id="7" name="Shape 5"/>
          <p:cNvSpPr/>
          <p:nvPr/>
        </p:nvSpPr>
        <p:spPr>
          <a:xfrm>
            <a:off x="502920" y="1261872"/>
            <a:ext cx="6565392" cy="3703320"/>
          </a:xfrm>
          <a:prstGeom prst="roundRect">
            <a:avLst>
              <a:gd name="adj" fmla="val 1975"/>
            </a:avLst>
          </a:prstGeom>
          <a:solidFill>
            <a:srgbClr val="FFFFFF"/>
          </a:solidFill>
          <a:ln w="13970">
            <a:solidFill>
              <a:srgbClr val="D9D3E6"/>
            </a:solidFill>
            <a:prstDash val="solid"/>
          </a:ln>
          <a:effectLst>
            <a:outerShdw sx="100000" sy="100000" kx="0" ky="0" algn="bl" rotWithShape="0" blurRad="25400" dist="50800" dir="2700000">
              <a:srgbClr val="9D95AD">
                <a:alpha val="18000"/>
              </a:srgbClr>
            </a:outerShdw>
          </a:effectLst>
        </p:spPr>
      </p:sp>
      <p:pic>
        <p:nvPicPr>
          <p:cNvPr id="8" name="Image 0" descr="C:\Users\luzlorenz\OneDrive - Microsoft\Documents\Microsoft Scout\CoworkSuperUser\images\report-pages\05-habit-movement.png">    </p:cNvPr>
          <p:cNvPicPr>
            <a:picLocks noChangeAspect="1"/>
          </p:cNvPicPr>
          <p:nvPr/>
        </p:nvPicPr>
        <p:blipFill>
          <a:blip r:embed="rId1"/>
          <a:stretch>
            <a:fillRect/>
          </a:stretch>
        </p:blipFill>
        <p:spPr>
          <a:xfrm>
            <a:off x="585216" y="1344168"/>
            <a:ext cx="6400800" cy="3602736"/>
          </a:xfrm>
          <a:prstGeom prst="rect">
            <a:avLst/>
          </a:prstGeom>
        </p:spPr>
      </p:pic>
      <p:sp>
        <p:nvSpPr>
          <p:cNvPr id="9" name="Text 6"/>
          <p:cNvSpPr/>
          <p:nvPr/>
        </p:nvSpPr>
        <p:spPr>
          <a:xfrm>
            <a:off x="685800" y="5093208"/>
            <a:ext cx="1920240" cy="182880"/>
          </a:xfrm>
          <a:prstGeom prst="rect">
            <a:avLst/>
          </a:prstGeom>
          <a:noFill/>
          <a:ln/>
        </p:spPr>
        <p:txBody>
          <a:bodyPr wrap="square" lIns="0" tIns="0" rIns="0" bIns="0" rtlCol="0" anchor="ctr"/>
          <a:lstStyle/>
          <a:p>
            <a:pPr indent="0" marL="0">
              <a:buNone/>
            </a:pPr>
            <a:r>
              <a:rPr lang="en-US" sz="900" dirty="0">
                <a:solidFill>
                  <a:srgbClr val="6B4EA2"/>
                </a:solidFill>
                <a:latin typeface="Segoe UI Semibold" pitchFamily="34" charset="0"/>
                <a:ea typeface="Segoe UI Semibold" pitchFamily="34" charset="-122"/>
                <a:cs typeface="Segoe UI Semibold" pitchFamily="34" charset="-120"/>
              </a:rPr>
              <a:t>5 of 9 report pages</a:t>
            </a:r>
            <a:endParaRPr lang="en-US" sz="900" dirty="0"/>
          </a:p>
        </p:txBody>
      </p:sp>
      <p:sp>
        <p:nvSpPr>
          <p:cNvPr id="10" name="Shape 7"/>
          <p:cNvSpPr/>
          <p:nvPr/>
        </p:nvSpPr>
        <p:spPr>
          <a:xfrm>
            <a:off x="7315200" y="1261872"/>
            <a:ext cx="310896" cy="310896"/>
          </a:xfrm>
          <a:prstGeom prst="ellipse">
            <a:avLst/>
          </a:prstGeom>
          <a:solidFill>
            <a:srgbClr val="6B4EA2"/>
          </a:solidFill>
          <a:ln w="12700">
            <a:solidFill>
              <a:srgbClr val="6B4EA2"/>
            </a:solidFill>
            <a:prstDash val="solid"/>
          </a:ln>
        </p:spPr>
      </p:sp>
      <p:sp>
        <p:nvSpPr>
          <p:cNvPr id="11" name="Text 8"/>
          <p:cNvSpPr/>
          <p:nvPr/>
        </p:nvSpPr>
        <p:spPr>
          <a:xfrm>
            <a:off x="7315200" y="131216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1</a:t>
            </a:r>
            <a:endParaRPr lang="en-US" sz="900" dirty="0"/>
          </a:p>
        </p:txBody>
      </p:sp>
      <p:sp>
        <p:nvSpPr>
          <p:cNvPr id="12" name="Text 9"/>
          <p:cNvSpPr/>
          <p:nvPr/>
        </p:nvSpPr>
        <p:spPr>
          <a:xfrm>
            <a:off x="7754112" y="125272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Purpose</a:t>
            </a:r>
            <a:endParaRPr lang="en-US" sz="1150" dirty="0"/>
          </a:p>
        </p:txBody>
      </p:sp>
      <p:sp>
        <p:nvSpPr>
          <p:cNvPr id="13" name="Text 10"/>
          <p:cNvSpPr/>
          <p:nvPr/>
        </p:nvSpPr>
        <p:spPr>
          <a:xfrm>
            <a:off x="7754112" y="149047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See whether people improved, remained stable, or declined.</a:t>
            </a:r>
            <a:endParaRPr lang="en-US" sz="940" dirty="0"/>
          </a:p>
        </p:txBody>
      </p:sp>
      <p:sp>
        <p:nvSpPr>
          <p:cNvPr id="14" name="Shape 11"/>
          <p:cNvSpPr/>
          <p:nvPr/>
        </p:nvSpPr>
        <p:spPr>
          <a:xfrm>
            <a:off x="7315200" y="2130552"/>
            <a:ext cx="310896" cy="310896"/>
          </a:xfrm>
          <a:prstGeom prst="ellipse">
            <a:avLst/>
          </a:prstGeom>
          <a:solidFill>
            <a:srgbClr val="4F80C1"/>
          </a:solidFill>
          <a:ln w="12700">
            <a:solidFill>
              <a:srgbClr val="4F80C1"/>
            </a:solidFill>
            <a:prstDash val="solid"/>
          </a:ln>
        </p:spPr>
      </p:sp>
      <p:sp>
        <p:nvSpPr>
          <p:cNvPr id="15" name="Text 12"/>
          <p:cNvSpPr/>
          <p:nvPr/>
        </p:nvSpPr>
        <p:spPr>
          <a:xfrm>
            <a:off x="7315200" y="218084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2</a:t>
            </a:r>
            <a:endParaRPr lang="en-US" sz="900" dirty="0"/>
          </a:p>
        </p:txBody>
      </p:sp>
      <p:sp>
        <p:nvSpPr>
          <p:cNvPr id="16" name="Text 13"/>
          <p:cNvSpPr/>
          <p:nvPr/>
        </p:nvSpPr>
        <p:spPr>
          <a:xfrm>
            <a:off x="7754112" y="212140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Read the totals</a:t>
            </a:r>
            <a:endParaRPr lang="en-US" sz="1150" dirty="0"/>
          </a:p>
        </p:txBody>
      </p:sp>
      <p:sp>
        <p:nvSpPr>
          <p:cNvPr id="17" name="Text 14"/>
          <p:cNvSpPr/>
          <p:nvPr/>
        </p:nvSpPr>
        <p:spPr>
          <a:xfrm>
            <a:off x="7754112" y="235915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Improved, stable, declined, and sustained retention establish the movement.</a:t>
            </a:r>
            <a:endParaRPr lang="en-US" sz="940" dirty="0"/>
          </a:p>
        </p:txBody>
      </p:sp>
      <p:sp>
        <p:nvSpPr>
          <p:cNvPr id="18" name="Shape 15"/>
          <p:cNvSpPr/>
          <p:nvPr/>
        </p:nvSpPr>
        <p:spPr>
          <a:xfrm>
            <a:off x="7315200" y="2999232"/>
            <a:ext cx="310896" cy="310896"/>
          </a:xfrm>
          <a:prstGeom prst="ellipse">
            <a:avLst/>
          </a:prstGeom>
          <a:solidFill>
            <a:srgbClr val="168B82"/>
          </a:solidFill>
          <a:ln w="12700">
            <a:solidFill>
              <a:srgbClr val="168B82"/>
            </a:solidFill>
            <a:prstDash val="solid"/>
          </a:ln>
        </p:spPr>
      </p:sp>
      <p:sp>
        <p:nvSpPr>
          <p:cNvPr id="19" name="Text 16"/>
          <p:cNvSpPr/>
          <p:nvPr/>
        </p:nvSpPr>
        <p:spPr>
          <a:xfrm>
            <a:off x="7315200" y="304952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3</a:t>
            </a:r>
            <a:endParaRPr lang="en-US" sz="900" dirty="0"/>
          </a:p>
        </p:txBody>
      </p:sp>
      <p:sp>
        <p:nvSpPr>
          <p:cNvPr id="20" name="Text 17"/>
          <p:cNvSpPr/>
          <p:nvPr/>
        </p:nvSpPr>
        <p:spPr>
          <a:xfrm>
            <a:off x="7754112" y="299008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Read stage shares</a:t>
            </a:r>
            <a:endParaRPr lang="en-US" sz="1150" dirty="0"/>
          </a:p>
        </p:txBody>
      </p:sp>
      <p:sp>
        <p:nvSpPr>
          <p:cNvPr id="21" name="Text 18"/>
          <p:cNvSpPr/>
          <p:nvPr/>
        </p:nvSpPr>
        <p:spPr>
          <a:xfrm>
            <a:off x="7754112" y="322783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A positive change is interpreted with the stage label.</a:t>
            </a:r>
            <a:endParaRPr lang="en-US" sz="940" dirty="0"/>
          </a:p>
        </p:txBody>
      </p:sp>
      <p:sp>
        <p:nvSpPr>
          <p:cNvPr id="22" name="Shape 19"/>
          <p:cNvSpPr/>
          <p:nvPr/>
        </p:nvSpPr>
        <p:spPr>
          <a:xfrm>
            <a:off x="7315200" y="3867912"/>
            <a:ext cx="310896" cy="310896"/>
          </a:xfrm>
          <a:prstGeom prst="ellipse">
            <a:avLst/>
          </a:prstGeom>
          <a:solidFill>
            <a:srgbClr val="3A8F5B"/>
          </a:solidFill>
          <a:ln w="12700">
            <a:solidFill>
              <a:srgbClr val="3A8F5B"/>
            </a:solidFill>
            <a:prstDash val="solid"/>
          </a:ln>
        </p:spPr>
      </p:sp>
      <p:sp>
        <p:nvSpPr>
          <p:cNvPr id="23" name="Text 20"/>
          <p:cNvSpPr/>
          <p:nvPr/>
        </p:nvSpPr>
        <p:spPr>
          <a:xfrm>
            <a:off x="7315200" y="391820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4</a:t>
            </a:r>
            <a:endParaRPr lang="en-US" sz="900" dirty="0"/>
          </a:p>
        </p:txBody>
      </p:sp>
      <p:sp>
        <p:nvSpPr>
          <p:cNvPr id="24" name="Text 21"/>
          <p:cNvSpPr/>
          <p:nvPr/>
        </p:nvSpPr>
        <p:spPr>
          <a:xfrm>
            <a:off x="7754112" y="385876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Check the trend</a:t>
            </a:r>
            <a:endParaRPr lang="en-US" sz="1150" dirty="0"/>
          </a:p>
        </p:txBody>
      </p:sp>
      <p:sp>
        <p:nvSpPr>
          <p:cNvPr id="25" name="Text 22"/>
          <p:cNvSpPr/>
          <p:nvPr/>
        </p:nvSpPr>
        <p:spPr>
          <a:xfrm>
            <a:off x="7754112" y="409651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The stack shows how the mix changes across available weeks.</a:t>
            </a:r>
            <a:endParaRPr lang="en-US" sz="940" dirty="0"/>
          </a:p>
        </p:txBody>
      </p:sp>
      <p:sp>
        <p:nvSpPr>
          <p:cNvPr id="26" name="Shape 23"/>
          <p:cNvSpPr/>
          <p:nvPr/>
        </p:nvSpPr>
        <p:spPr>
          <a:xfrm>
            <a:off x="7315200" y="4736592"/>
            <a:ext cx="310896" cy="310896"/>
          </a:xfrm>
          <a:prstGeom prst="ellipse">
            <a:avLst/>
          </a:prstGeom>
          <a:solidFill>
            <a:srgbClr val="D9872D"/>
          </a:solidFill>
          <a:ln w="12700">
            <a:solidFill>
              <a:srgbClr val="D9872D"/>
            </a:solidFill>
            <a:prstDash val="solid"/>
          </a:ln>
        </p:spPr>
      </p:sp>
      <p:sp>
        <p:nvSpPr>
          <p:cNvPr id="27" name="Text 24"/>
          <p:cNvSpPr/>
          <p:nvPr/>
        </p:nvSpPr>
        <p:spPr>
          <a:xfrm>
            <a:off x="7315200" y="478688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5</a:t>
            </a:r>
            <a:endParaRPr lang="en-US" sz="900" dirty="0"/>
          </a:p>
        </p:txBody>
      </p:sp>
      <p:sp>
        <p:nvSpPr>
          <p:cNvPr id="28" name="Text 25"/>
          <p:cNvSpPr/>
          <p:nvPr/>
        </p:nvSpPr>
        <p:spPr>
          <a:xfrm>
            <a:off x="7754112" y="472744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Open department view</a:t>
            </a:r>
            <a:endParaRPr lang="en-US" sz="1150" dirty="0"/>
          </a:p>
        </p:txBody>
      </p:sp>
      <p:sp>
        <p:nvSpPr>
          <p:cNvPr id="29" name="Text 26"/>
          <p:cNvSpPr/>
          <p:nvPr/>
        </p:nvSpPr>
        <p:spPr>
          <a:xfrm>
            <a:off x="7754112" y="496519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Locate where movement differs before selecting an intervention.</a:t>
            </a:r>
            <a:endParaRPr lang="en-US" sz="940" dirty="0"/>
          </a:p>
        </p:txBody>
      </p:sp>
      <p:sp>
        <p:nvSpPr>
          <p:cNvPr id="30" name="Shape 27"/>
          <p:cNvSpPr/>
          <p:nvPr/>
        </p:nvSpPr>
        <p:spPr>
          <a:xfrm>
            <a:off x="594360" y="5925312"/>
            <a:ext cx="11018520" cy="438912"/>
          </a:xfrm>
          <a:prstGeom prst="roundRect">
            <a:avLst>
              <a:gd name="adj" fmla="val 12500"/>
            </a:avLst>
          </a:prstGeom>
          <a:solidFill>
            <a:srgbClr val="F7EEE4"/>
          </a:solidFill>
          <a:ln w="12700">
            <a:solidFill>
              <a:srgbClr val="E4C49A"/>
            </a:solidFill>
            <a:prstDash val="solid"/>
          </a:ln>
        </p:spPr>
      </p:sp>
      <p:sp>
        <p:nvSpPr>
          <p:cNvPr id="31" name="Text 28"/>
          <p:cNvSpPr/>
          <p:nvPr/>
        </p:nvSpPr>
        <p:spPr>
          <a:xfrm>
            <a:off x="749808" y="6053328"/>
            <a:ext cx="804672" cy="146304"/>
          </a:xfrm>
          <a:prstGeom prst="rect">
            <a:avLst/>
          </a:prstGeom>
          <a:noFill/>
          <a:ln/>
        </p:spPr>
        <p:txBody>
          <a:bodyPr wrap="square" lIns="0" tIns="0" rIns="0" bIns="0" rtlCol="0" anchor="ctr"/>
          <a:lstStyle/>
          <a:p>
            <a:pPr indent="0" marL="0">
              <a:buNone/>
            </a:pPr>
            <a:r>
              <a:rPr lang="en-US" sz="850" b="1" dirty="0">
                <a:solidFill>
                  <a:srgbClr val="D9872D"/>
                </a:solidFill>
                <a:latin typeface="Segoe UI Semibold" pitchFamily="34" charset="0"/>
                <a:ea typeface="Segoe UI Semibold" pitchFamily="34" charset="-122"/>
                <a:cs typeface="Segoe UI Semibold" pitchFamily="34" charset="-120"/>
              </a:rPr>
              <a:t>GUARDRAIL</a:t>
            </a:r>
            <a:endParaRPr lang="en-US" sz="850" dirty="0"/>
          </a:p>
        </p:txBody>
      </p:sp>
      <p:sp>
        <p:nvSpPr>
          <p:cNvPr id="32" name="Text 29"/>
          <p:cNvSpPr/>
          <p:nvPr/>
        </p:nvSpPr>
        <p:spPr>
          <a:xfrm>
            <a:off x="1600200" y="6007608"/>
            <a:ext cx="9784080" cy="210312"/>
          </a:xfrm>
          <a:prstGeom prst="rect">
            <a:avLst/>
          </a:prstGeom>
          <a:noFill/>
          <a:ln/>
        </p:spPr>
        <p:txBody>
          <a:bodyPr wrap="square" lIns="0" tIns="0" rIns="0" bIns="0" rtlCol="0" anchor="ctr"/>
          <a:lstStyle/>
          <a:p>
            <a:pPr indent="0" marL="0">
              <a:buNone/>
            </a:pPr>
            <a:r>
              <a:rPr lang="en-US" sz="930" dirty="0">
                <a:solidFill>
                  <a:srgbClr val="172033"/>
                </a:solidFill>
                <a:latin typeface="Segoe UI" pitchFamily="34" charset="0"/>
                <a:ea typeface="Segoe UI" pitchFamily="34" charset="-122"/>
                <a:cs typeface="Segoe UI" pitchFamily="34" charset="-120"/>
              </a:rPr>
              <a:t>Movement is descriptive and can reflect new history, organizational changes, or temporary behavior.</a:t>
            </a:r>
            <a:endParaRPr lang="en-US" sz="93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320040"/>
            <a:ext cx="8046720" cy="438912"/>
          </a:xfrm>
          <a:prstGeom prst="rect">
            <a:avLst/>
          </a:prstGeom>
          <a:noFill/>
          <a:ln/>
        </p:spPr>
        <p:txBody>
          <a:bodyPr wrap="square" lIns="0" tIns="0" rIns="0" bIns="0" rtlCol="0" anchor="ctr"/>
          <a:lstStyle/>
          <a:p>
            <a:pPr indent="0" marL="0">
              <a:buNone/>
            </a:pPr>
            <a:r>
              <a:rPr lang="en-US" sz="2600" b="1" dirty="0">
                <a:solidFill>
                  <a:srgbClr val="172033"/>
                </a:solidFill>
                <a:latin typeface="Segoe UI Semibold" pitchFamily="34" charset="0"/>
                <a:ea typeface="Segoe UI Semibold" pitchFamily="34" charset="-122"/>
                <a:cs typeface="Segoe UI Semibold" pitchFamily="34" charset="-120"/>
              </a:rPr>
              <a:t>Champion Identification</a:t>
            </a:r>
            <a:endParaRPr lang="en-US" sz="2600" dirty="0"/>
          </a:p>
        </p:txBody>
      </p:sp>
      <p:sp>
        <p:nvSpPr>
          <p:cNvPr id="3" name="Text 1"/>
          <p:cNvSpPr/>
          <p:nvPr/>
        </p:nvSpPr>
        <p:spPr>
          <a:xfrm>
            <a:off x="502920" y="795528"/>
            <a:ext cx="10881360" cy="310896"/>
          </a:xfrm>
          <a:prstGeom prst="rect">
            <a:avLst/>
          </a:prstGeom>
          <a:noFill/>
          <a:ln/>
        </p:spPr>
        <p:txBody>
          <a:bodyPr wrap="square" lIns="0" tIns="0" rIns="0" bIns="0" rtlCol="0" anchor="ctr"/>
          <a:lstStyle/>
          <a:p>
            <a:pPr indent="0" marL="0">
              <a:buNone/>
            </a:pPr>
            <a:r>
              <a:rPr lang="en-US" sz="1200" dirty="0">
                <a:solidFill>
                  <a:srgbClr val="647084"/>
                </a:solidFill>
                <a:latin typeface="Segoe UI" pitchFamily="34" charset="0"/>
                <a:ea typeface="Segoe UI" pitchFamily="34" charset="-122"/>
                <a:cs typeface="Segoe UI" pitchFamily="34" charset="-120"/>
              </a:rPr>
              <a:t>Potential peer-enablement partners and department coverage</a:t>
            </a:r>
            <a:endParaRPr lang="en-US" sz="1200" dirty="0"/>
          </a:p>
        </p:txBody>
      </p:sp>
      <p:sp>
        <p:nvSpPr>
          <p:cNvPr id="4" name="Text 2"/>
          <p:cNvSpPr/>
          <p:nvPr/>
        </p:nvSpPr>
        <p:spPr>
          <a:xfrm>
            <a:off x="502920" y="6510528"/>
            <a:ext cx="3017520" cy="164592"/>
          </a:xfrm>
          <a:prstGeom prst="rect">
            <a:avLst/>
          </a:prstGeom>
          <a:noFill/>
          <a:ln/>
        </p:spPr>
        <p:txBody>
          <a:bodyPr wrap="square" lIns="0" tIns="0" rIns="0" bIns="0" rtlCol="0" anchor="ctr"/>
          <a:lstStyle/>
          <a:p>
            <a:pPr indent="0" marL="0">
              <a:buNone/>
            </a:pPr>
            <a:r>
              <a:rPr lang="en-US" sz="800" dirty="0">
                <a:solidFill>
                  <a:srgbClr val="647084"/>
                </a:solidFill>
                <a:latin typeface="Segoe UI" pitchFamily="34" charset="0"/>
                <a:ea typeface="Segoe UI" pitchFamily="34" charset="-122"/>
                <a:cs typeface="Segoe UI" pitchFamily="34" charset="-120"/>
              </a:rPr>
              <a:t>microsoft/CoworkSuperUser</a:t>
            </a:r>
            <a:endParaRPr lang="en-US" sz="800" dirty="0"/>
          </a:p>
        </p:txBody>
      </p:sp>
      <p:sp>
        <p:nvSpPr>
          <p:cNvPr id="5" name="Text 3"/>
          <p:cNvSpPr/>
          <p:nvPr/>
        </p:nvSpPr>
        <p:spPr>
          <a:xfrm>
            <a:off x="7772400" y="6510528"/>
            <a:ext cx="356616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Version 1.0 | Public | Page walkthrough</a:t>
            </a:r>
            <a:endParaRPr lang="en-US" sz="800" dirty="0"/>
          </a:p>
        </p:txBody>
      </p:sp>
      <p:sp>
        <p:nvSpPr>
          <p:cNvPr id="6" name="Text 4"/>
          <p:cNvSpPr/>
          <p:nvPr/>
        </p:nvSpPr>
        <p:spPr>
          <a:xfrm>
            <a:off x="11384280" y="6510528"/>
            <a:ext cx="32004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13</a:t>
            </a:r>
            <a:endParaRPr lang="en-US" sz="800" dirty="0"/>
          </a:p>
        </p:txBody>
      </p:sp>
      <p:sp>
        <p:nvSpPr>
          <p:cNvPr id="7" name="Shape 5"/>
          <p:cNvSpPr/>
          <p:nvPr/>
        </p:nvSpPr>
        <p:spPr>
          <a:xfrm>
            <a:off x="502920" y="1261872"/>
            <a:ext cx="6565392" cy="3703320"/>
          </a:xfrm>
          <a:prstGeom prst="roundRect">
            <a:avLst>
              <a:gd name="adj" fmla="val 1975"/>
            </a:avLst>
          </a:prstGeom>
          <a:solidFill>
            <a:srgbClr val="FFFFFF"/>
          </a:solidFill>
          <a:ln w="13970">
            <a:solidFill>
              <a:srgbClr val="D9D3E6"/>
            </a:solidFill>
            <a:prstDash val="solid"/>
          </a:ln>
          <a:effectLst>
            <a:outerShdw sx="100000" sy="100000" kx="0" ky="0" algn="bl" rotWithShape="0" blurRad="25400" dist="50800" dir="2700000">
              <a:srgbClr val="9D95AD">
                <a:alpha val="18000"/>
              </a:srgbClr>
            </a:outerShdw>
          </a:effectLst>
        </p:spPr>
      </p:sp>
      <p:pic>
        <p:nvPicPr>
          <p:cNvPr id="8" name="Image 0" descr="C:\Users\luzlorenz\OneDrive - Microsoft\Documents\Microsoft Scout\CoworkSuperUser\images\report-pages\06-champion-identification.png">    </p:cNvPr>
          <p:cNvPicPr>
            <a:picLocks noChangeAspect="1"/>
          </p:cNvPicPr>
          <p:nvPr/>
        </p:nvPicPr>
        <p:blipFill>
          <a:blip r:embed="rId1"/>
          <a:stretch>
            <a:fillRect/>
          </a:stretch>
        </p:blipFill>
        <p:spPr>
          <a:xfrm>
            <a:off x="585216" y="1344168"/>
            <a:ext cx="6400800" cy="3602736"/>
          </a:xfrm>
          <a:prstGeom prst="rect">
            <a:avLst/>
          </a:prstGeom>
        </p:spPr>
      </p:pic>
      <p:sp>
        <p:nvSpPr>
          <p:cNvPr id="9" name="Text 6"/>
          <p:cNvSpPr/>
          <p:nvPr/>
        </p:nvSpPr>
        <p:spPr>
          <a:xfrm>
            <a:off x="685800" y="5093208"/>
            <a:ext cx="1920240" cy="182880"/>
          </a:xfrm>
          <a:prstGeom prst="rect">
            <a:avLst/>
          </a:prstGeom>
          <a:noFill/>
          <a:ln/>
        </p:spPr>
        <p:txBody>
          <a:bodyPr wrap="square" lIns="0" tIns="0" rIns="0" bIns="0" rtlCol="0" anchor="ctr"/>
          <a:lstStyle/>
          <a:p>
            <a:pPr indent="0" marL="0">
              <a:buNone/>
            </a:pPr>
            <a:r>
              <a:rPr lang="en-US" sz="900" dirty="0">
                <a:solidFill>
                  <a:srgbClr val="6B4EA2"/>
                </a:solidFill>
                <a:latin typeface="Segoe UI Semibold" pitchFamily="34" charset="0"/>
                <a:ea typeface="Segoe UI Semibold" pitchFamily="34" charset="-122"/>
                <a:cs typeface="Segoe UI Semibold" pitchFamily="34" charset="-120"/>
              </a:rPr>
              <a:t>6 of 9 report pages</a:t>
            </a:r>
            <a:endParaRPr lang="en-US" sz="900" dirty="0"/>
          </a:p>
        </p:txBody>
      </p:sp>
      <p:sp>
        <p:nvSpPr>
          <p:cNvPr id="10" name="Shape 7"/>
          <p:cNvSpPr/>
          <p:nvPr/>
        </p:nvSpPr>
        <p:spPr>
          <a:xfrm>
            <a:off x="7315200" y="1261872"/>
            <a:ext cx="310896" cy="310896"/>
          </a:xfrm>
          <a:prstGeom prst="ellipse">
            <a:avLst/>
          </a:prstGeom>
          <a:solidFill>
            <a:srgbClr val="6B4EA2"/>
          </a:solidFill>
          <a:ln w="12700">
            <a:solidFill>
              <a:srgbClr val="6B4EA2"/>
            </a:solidFill>
            <a:prstDash val="solid"/>
          </a:ln>
        </p:spPr>
      </p:sp>
      <p:sp>
        <p:nvSpPr>
          <p:cNvPr id="11" name="Text 8"/>
          <p:cNvSpPr/>
          <p:nvPr/>
        </p:nvSpPr>
        <p:spPr>
          <a:xfrm>
            <a:off x="7315200" y="131216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1</a:t>
            </a:r>
            <a:endParaRPr lang="en-US" sz="900" dirty="0"/>
          </a:p>
        </p:txBody>
      </p:sp>
      <p:sp>
        <p:nvSpPr>
          <p:cNvPr id="12" name="Text 9"/>
          <p:cNvSpPr/>
          <p:nvPr/>
        </p:nvSpPr>
        <p:spPr>
          <a:xfrm>
            <a:off x="7754112" y="125272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Purpose</a:t>
            </a:r>
            <a:endParaRPr lang="en-US" sz="1150" dirty="0"/>
          </a:p>
        </p:txBody>
      </p:sp>
      <p:sp>
        <p:nvSpPr>
          <p:cNvPr id="13" name="Text 10"/>
          <p:cNvSpPr/>
          <p:nvPr/>
        </p:nvSpPr>
        <p:spPr>
          <a:xfrm>
            <a:off x="7754112" y="149047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Find a small, transparent outreach starting point.</a:t>
            </a:r>
            <a:endParaRPr lang="en-US" sz="940" dirty="0"/>
          </a:p>
        </p:txBody>
      </p:sp>
      <p:sp>
        <p:nvSpPr>
          <p:cNvPr id="14" name="Shape 11"/>
          <p:cNvSpPr/>
          <p:nvPr/>
        </p:nvSpPr>
        <p:spPr>
          <a:xfrm>
            <a:off x="7315200" y="2130552"/>
            <a:ext cx="310896" cy="310896"/>
          </a:xfrm>
          <a:prstGeom prst="ellipse">
            <a:avLst/>
          </a:prstGeom>
          <a:solidFill>
            <a:srgbClr val="4F80C1"/>
          </a:solidFill>
          <a:ln w="12700">
            <a:solidFill>
              <a:srgbClr val="4F80C1"/>
            </a:solidFill>
            <a:prstDash val="solid"/>
          </a:ln>
        </p:spPr>
      </p:sp>
      <p:sp>
        <p:nvSpPr>
          <p:cNvPr id="15" name="Text 12"/>
          <p:cNvSpPr/>
          <p:nvPr/>
        </p:nvSpPr>
        <p:spPr>
          <a:xfrm>
            <a:off x="7315200" y="218084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2</a:t>
            </a:r>
            <a:endParaRPr lang="en-US" sz="900" dirty="0"/>
          </a:p>
        </p:txBody>
      </p:sp>
      <p:sp>
        <p:nvSpPr>
          <p:cNvPr id="16" name="Text 13"/>
          <p:cNvSpPr/>
          <p:nvPr/>
        </p:nvSpPr>
        <p:spPr>
          <a:xfrm>
            <a:off x="7754112" y="212140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Check the window</a:t>
            </a:r>
            <a:endParaRPr lang="en-US" sz="1150" dirty="0"/>
          </a:p>
        </p:txBody>
      </p:sp>
      <p:sp>
        <p:nvSpPr>
          <p:cNvPr id="17" name="Text 14"/>
          <p:cNvSpPr/>
          <p:nvPr/>
        </p:nvSpPr>
        <p:spPr>
          <a:xfrm>
            <a:off x="7754112" y="235915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Candidate evidence is provisional before the selected cap is populated.</a:t>
            </a:r>
            <a:endParaRPr lang="en-US" sz="940" dirty="0"/>
          </a:p>
        </p:txBody>
      </p:sp>
      <p:sp>
        <p:nvSpPr>
          <p:cNvPr id="18" name="Shape 15"/>
          <p:cNvSpPr/>
          <p:nvPr/>
        </p:nvSpPr>
        <p:spPr>
          <a:xfrm>
            <a:off x="7315200" y="2999232"/>
            <a:ext cx="310896" cy="310896"/>
          </a:xfrm>
          <a:prstGeom prst="ellipse">
            <a:avLst/>
          </a:prstGeom>
          <a:solidFill>
            <a:srgbClr val="168B82"/>
          </a:solidFill>
          <a:ln w="12700">
            <a:solidFill>
              <a:srgbClr val="168B82"/>
            </a:solidFill>
            <a:prstDash val="solid"/>
          </a:ln>
        </p:spPr>
      </p:sp>
      <p:sp>
        <p:nvSpPr>
          <p:cNvPr id="19" name="Text 16"/>
          <p:cNvSpPr/>
          <p:nvPr/>
        </p:nvSpPr>
        <p:spPr>
          <a:xfrm>
            <a:off x="7315200" y="304952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3</a:t>
            </a:r>
            <a:endParaRPr lang="en-US" sz="900" dirty="0"/>
          </a:p>
        </p:txBody>
      </p:sp>
      <p:sp>
        <p:nvSpPr>
          <p:cNvPr id="20" name="Text 17"/>
          <p:cNvSpPr/>
          <p:nvPr/>
        </p:nvSpPr>
        <p:spPr>
          <a:xfrm>
            <a:off x="7754112" y="299008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Read consistency</a:t>
            </a:r>
            <a:endParaRPr lang="en-US" sz="1150" dirty="0"/>
          </a:p>
        </p:txBody>
      </p:sp>
      <p:sp>
        <p:nvSpPr>
          <p:cNvPr id="21" name="Text 18"/>
          <p:cNvSpPr/>
          <p:nvPr/>
        </p:nvSpPr>
        <p:spPr>
          <a:xfrm>
            <a:off x="7754112" y="322783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Active weeks appear before session intensity in the global ranking.</a:t>
            </a:r>
            <a:endParaRPr lang="en-US" sz="940" dirty="0"/>
          </a:p>
        </p:txBody>
      </p:sp>
      <p:sp>
        <p:nvSpPr>
          <p:cNvPr id="22" name="Shape 19"/>
          <p:cNvSpPr/>
          <p:nvPr/>
        </p:nvSpPr>
        <p:spPr>
          <a:xfrm>
            <a:off x="7315200" y="3867912"/>
            <a:ext cx="310896" cy="310896"/>
          </a:xfrm>
          <a:prstGeom prst="ellipse">
            <a:avLst/>
          </a:prstGeom>
          <a:solidFill>
            <a:srgbClr val="3A8F5B"/>
          </a:solidFill>
          <a:ln w="12700">
            <a:solidFill>
              <a:srgbClr val="3A8F5B"/>
            </a:solidFill>
            <a:prstDash val="solid"/>
          </a:ln>
        </p:spPr>
      </p:sp>
      <p:sp>
        <p:nvSpPr>
          <p:cNvPr id="23" name="Text 20"/>
          <p:cNvSpPr/>
          <p:nvPr/>
        </p:nvSpPr>
        <p:spPr>
          <a:xfrm>
            <a:off x="7315200" y="391820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4</a:t>
            </a:r>
            <a:endParaRPr lang="en-US" sz="900" dirty="0"/>
          </a:p>
        </p:txBody>
      </p:sp>
      <p:sp>
        <p:nvSpPr>
          <p:cNvPr id="24" name="Text 21"/>
          <p:cNvSpPr/>
          <p:nvPr/>
        </p:nvSpPr>
        <p:spPr>
          <a:xfrm>
            <a:off x="7754112" y="385876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Check coverage</a:t>
            </a:r>
            <a:endParaRPr lang="en-US" sz="1150" dirty="0"/>
          </a:p>
        </p:txBody>
      </p:sp>
      <p:sp>
        <p:nvSpPr>
          <p:cNvPr id="25" name="Text 22"/>
          <p:cNvSpPr/>
          <p:nvPr/>
        </p:nvSpPr>
        <p:spPr>
          <a:xfrm>
            <a:off x="7754112" y="409651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Department coverage reveals enablement gaps.</a:t>
            </a:r>
            <a:endParaRPr lang="en-US" sz="940" dirty="0"/>
          </a:p>
        </p:txBody>
      </p:sp>
      <p:sp>
        <p:nvSpPr>
          <p:cNvPr id="26" name="Shape 23"/>
          <p:cNvSpPr/>
          <p:nvPr/>
        </p:nvSpPr>
        <p:spPr>
          <a:xfrm>
            <a:off x="7315200" y="4736592"/>
            <a:ext cx="310896" cy="310896"/>
          </a:xfrm>
          <a:prstGeom prst="ellipse">
            <a:avLst/>
          </a:prstGeom>
          <a:solidFill>
            <a:srgbClr val="D9872D"/>
          </a:solidFill>
          <a:ln w="12700">
            <a:solidFill>
              <a:srgbClr val="D9872D"/>
            </a:solidFill>
            <a:prstDash val="solid"/>
          </a:ln>
        </p:spPr>
      </p:sp>
      <p:sp>
        <p:nvSpPr>
          <p:cNvPr id="27" name="Text 24"/>
          <p:cNvSpPr/>
          <p:nvPr/>
        </p:nvSpPr>
        <p:spPr>
          <a:xfrm>
            <a:off x="7315200" y="478688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5</a:t>
            </a:r>
            <a:endParaRPr lang="en-US" sz="900" dirty="0"/>
          </a:p>
        </p:txBody>
      </p:sp>
      <p:sp>
        <p:nvSpPr>
          <p:cNvPr id="28" name="Text 25"/>
          <p:cNvSpPr/>
          <p:nvPr/>
        </p:nvSpPr>
        <p:spPr>
          <a:xfrm>
            <a:off x="7754112" y="472744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Validate people</a:t>
            </a:r>
            <a:endParaRPr lang="en-US" sz="1150" dirty="0"/>
          </a:p>
        </p:txBody>
      </p:sp>
      <p:sp>
        <p:nvSpPr>
          <p:cNvPr id="29" name="Text 26"/>
          <p:cNvSpPr/>
          <p:nvPr/>
        </p:nvSpPr>
        <p:spPr>
          <a:xfrm>
            <a:off x="7754112" y="496519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Confirm role fit, willingness, manager support, and appropriate data use.</a:t>
            </a:r>
            <a:endParaRPr lang="en-US" sz="940" dirty="0"/>
          </a:p>
        </p:txBody>
      </p:sp>
      <p:sp>
        <p:nvSpPr>
          <p:cNvPr id="30" name="Shape 27"/>
          <p:cNvSpPr/>
          <p:nvPr/>
        </p:nvSpPr>
        <p:spPr>
          <a:xfrm>
            <a:off x="594360" y="5925312"/>
            <a:ext cx="11018520" cy="438912"/>
          </a:xfrm>
          <a:prstGeom prst="roundRect">
            <a:avLst>
              <a:gd name="adj" fmla="val 12500"/>
            </a:avLst>
          </a:prstGeom>
          <a:solidFill>
            <a:srgbClr val="F7EEE4"/>
          </a:solidFill>
          <a:ln w="12700">
            <a:solidFill>
              <a:srgbClr val="E4C49A"/>
            </a:solidFill>
            <a:prstDash val="solid"/>
          </a:ln>
        </p:spPr>
      </p:sp>
      <p:sp>
        <p:nvSpPr>
          <p:cNvPr id="31" name="Text 28"/>
          <p:cNvSpPr/>
          <p:nvPr/>
        </p:nvSpPr>
        <p:spPr>
          <a:xfrm>
            <a:off x="749808" y="6053328"/>
            <a:ext cx="804672" cy="146304"/>
          </a:xfrm>
          <a:prstGeom prst="rect">
            <a:avLst/>
          </a:prstGeom>
          <a:noFill/>
          <a:ln/>
        </p:spPr>
        <p:txBody>
          <a:bodyPr wrap="square" lIns="0" tIns="0" rIns="0" bIns="0" rtlCol="0" anchor="ctr"/>
          <a:lstStyle/>
          <a:p>
            <a:pPr indent="0" marL="0">
              <a:buNone/>
            </a:pPr>
            <a:r>
              <a:rPr lang="en-US" sz="850" b="1" dirty="0">
                <a:solidFill>
                  <a:srgbClr val="D9872D"/>
                </a:solidFill>
                <a:latin typeface="Segoe UI Semibold" pitchFamily="34" charset="0"/>
                <a:ea typeface="Segoe UI Semibold" pitchFamily="34" charset="-122"/>
                <a:cs typeface="Segoe UI Semibold" pitchFamily="34" charset="-120"/>
              </a:rPr>
              <a:t>GUARDRAIL</a:t>
            </a:r>
            <a:endParaRPr lang="en-US" sz="850" dirty="0"/>
          </a:p>
        </p:txBody>
      </p:sp>
      <p:sp>
        <p:nvSpPr>
          <p:cNvPr id="32" name="Text 29"/>
          <p:cNvSpPr/>
          <p:nvPr/>
        </p:nvSpPr>
        <p:spPr>
          <a:xfrm>
            <a:off x="1600200" y="6007608"/>
            <a:ext cx="9784080" cy="210312"/>
          </a:xfrm>
          <a:prstGeom prst="rect">
            <a:avLst/>
          </a:prstGeom>
          <a:noFill/>
          <a:ln/>
        </p:spPr>
        <p:txBody>
          <a:bodyPr wrap="square" lIns="0" tIns="0" rIns="0" bIns="0" rtlCol="0" anchor="ctr"/>
          <a:lstStyle/>
          <a:p>
            <a:pPr indent="0" marL="0">
              <a:buNone/>
            </a:pPr>
            <a:r>
              <a:rPr lang="en-US" sz="930" dirty="0">
                <a:solidFill>
                  <a:srgbClr val="172033"/>
                </a:solidFill>
                <a:latin typeface="Segoe UI" pitchFamily="34" charset="0"/>
                <a:ea typeface="Segoe UI" pitchFamily="34" charset="-122"/>
                <a:cs typeface="Segoe UI" pitchFamily="34" charset="-120"/>
              </a:rPr>
              <a:t>Potential champion status is not expertise, aptitude, performance, promotion, or compensation evidence.</a:t>
            </a:r>
            <a:endParaRPr lang="en-US" sz="93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320040"/>
            <a:ext cx="8046720" cy="438912"/>
          </a:xfrm>
          <a:prstGeom prst="rect">
            <a:avLst/>
          </a:prstGeom>
          <a:noFill/>
          <a:ln/>
        </p:spPr>
        <p:txBody>
          <a:bodyPr wrap="square" lIns="0" tIns="0" rIns="0" bIns="0" rtlCol="0" anchor="ctr"/>
          <a:lstStyle/>
          <a:p>
            <a:pPr indent="0" marL="0">
              <a:buNone/>
            </a:pPr>
            <a:r>
              <a:rPr lang="en-US" sz="2600" b="1" dirty="0">
                <a:solidFill>
                  <a:srgbClr val="172033"/>
                </a:solidFill>
                <a:latin typeface="Segoe UI Semibold" pitchFamily="34" charset="0"/>
                <a:ea typeface="Segoe UI Semibold" pitchFamily="34" charset="-122"/>
                <a:cs typeface="Segoe UI Semibold" pitchFamily="34" charset="-120"/>
              </a:rPr>
              <a:t>Sessions and Credits</a:t>
            </a:r>
            <a:endParaRPr lang="en-US" sz="2600" dirty="0"/>
          </a:p>
        </p:txBody>
      </p:sp>
      <p:sp>
        <p:nvSpPr>
          <p:cNvPr id="3" name="Text 1"/>
          <p:cNvSpPr/>
          <p:nvPr/>
        </p:nvSpPr>
        <p:spPr>
          <a:xfrm>
            <a:off x="502920" y="795528"/>
            <a:ext cx="10881360" cy="310896"/>
          </a:xfrm>
          <a:prstGeom prst="rect">
            <a:avLst/>
          </a:prstGeom>
          <a:noFill/>
          <a:ln/>
        </p:spPr>
        <p:txBody>
          <a:bodyPr wrap="square" lIns="0" tIns="0" rIns="0" bIns="0" rtlCol="0" anchor="ctr"/>
          <a:lstStyle/>
          <a:p>
            <a:pPr indent="0" marL="0">
              <a:buNone/>
            </a:pPr>
            <a:r>
              <a:rPr lang="en-US" sz="1200" dirty="0">
                <a:solidFill>
                  <a:srgbClr val="647084"/>
                </a:solidFill>
                <a:latin typeface="Segoe UI" pitchFamily="34" charset="0"/>
                <a:ea typeface="Segoe UI" pitchFamily="34" charset="-122"/>
                <a:cs typeface="Segoe UI" pitchFamily="34" charset="-120"/>
              </a:rPr>
              <a:t>Observed Cowork frequency and resource consumption</a:t>
            </a:r>
            <a:endParaRPr lang="en-US" sz="1200" dirty="0"/>
          </a:p>
        </p:txBody>
      </p:sp>
      <p:sp>
        <p:nvSpPr>
          <p:cNvPr id="4" name="Text 2"/>
          <p:cNvSpPr/>
          <p:nvPr/>
        </p:nvSpPr>
        <p:spPr>
          <a:xfrm>
            <a:off x="502920" y="6510528"/>
            <a:ext cx="3017520" cy="164592"/>
          </a:xfrm>
          <a:prstGeom prst="rect">
            <a:avLst/>
          </a:prstGeom>
          <a:noFill/>
          <a:ln/>
        </p:spPr>
        <p:txBody>
          <a:bodyPr wrap="square" lIns="0" tIns="0" rIns="0" bIns="0" rtlCol="0" anchor="ctr"/>
          <a:lstStyle/>
          <a:p>
            <a:pPr indent="0" marL="0">
              <a:buNone/>
            </a:pPr>
            <a:r>
              <a:rPr lang="en-US" sz="800" dirty="0">
                <a:solidFill>
                  <a:srgbClr val="647084"/>
                </a:solidFill>
                <a:latin typeface="Segoe UI" pitchFamily="34" charset="0"/>
                <a:ea typeface="Segoe UI" pitchFamily="34" charset="-122"/>
                <a:cs typeface="Segoe UI" pitchFamily="34" charset="-120"/>
              </a:rPr>
              <a:t>microsoft/CoworkSuperUser</a:t>
            </a:r>
            <a:endParaRPr lang="en-US" sz="800" dirty="0"/>
          </a:p>
        </p:txBody>
      </p:sp>
      <p:sp>
        <p:nvSpPr>
          <p:cNvPr id="5" name="Text 3"/>
          <p:cNvSpPr/>
          <p:nvPr/>
        </p:nvSpPr>
        <p:spPr>
          <a:xfrm>
            <a:off x="7772400" y="6510528"/>
            <a:ext cx="356616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Version 1.0 | Public | Page walkthrough</a:t>
            </a:r>
            <a:endParaRPr lang="en-US" sz="800" dirty="0"/>
          </a:p>
        </p:txBody>
      </p:sp>
      <p:sp>
        <p:nvSpPr>
          <p:cNvPr id="6" name="Text 4"/>
          <p:cNvSpPr/>
          <p:nvPr/>
        </p:nvSpPr>
        <p:spPr>
          <a:xfrm>
            <a:off x="11384280" y="6510528"/>
            <a:ext cx="32004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14</a:t>
            </a:r>
            <a:endParaRPr lang="en-US" sz="800" dirty="0"/>
          </a:p>
        </p:txBody>
      </p:sp>
      <p:sp>
        <p:nvSpPr>
          <p:cNvPr id="7" name="Shape 5"/>
          <p:cNvSpPr/>
          <p:nvPr/>
        </p:nvSpPr>
        <p:spPr>
          <a:xfrm>
            <a:off x="502920" y="1261872"/>
            <a:ext cx="6565392" cy="3703320"/>
          </a:xfrm>
          <a:prstGeom prst="roundRect">
            <a:avLst>
              <a:gd name="adj" fmla="val 1975"/>
            </a:avLst>
          </a:prstGeom>
          <a:solidFill>
            <a:srgbClr val="FFFFFF"/>
          </a:solidFill>
          <a:ln w="13970">
            <a:solidFill>
              <a:srgbClr val="D9D3E6"/>
            </a:solidFill>
            <a:prstDash val="solid"/>
          </a:ln>
          <a:effectLst>
            <a:outerShdw sx="100000" sy="100000" kx="0" ky="0" algn="bl" rotWithShape="0" blurRad="25400" dist="50800" dir="2700000">
              <a:srgbClr val="9D95AD">
                <a:alpha val="18000"/>
              </a:srgbClr>
            </a:outerShdw>
          </a:effectLst>
        </p:spPr>
      </p:sp>
      <p:pic>
        <p:nvPicPr>
          <p:cNvPr id="8" name="Image 0" descr="C:\Users\luzlorenz\OneDrive - Microsoft\Documents\Microsoft Scout\CoworkSuperUser\images\report-pages\07-sessions-and-credits.png">    </p:cNvPr>
          <p:cNvPicPr>
            <a:picLocks noChangeAspect="1"/>
          </p:cNvPicPr>
          <p:nvPr/>
        </p:nvPicPr>
        <p:blipFill>
          <a:blip r:embed="rId1"/>
          <a:stretch>
            <a:fillRect/>
          </a:stretch>
        </p:blipFill>
        <p:spPr>
          <a:xfrm>
            <a:off x="585216" y="1344168"/>
            <a:ext cx="6400800" cy="3602736"/>
          </a:xfrm>
          <a:prstGeom prst="rect">
            <a:avLst/>
          </a:prstGeom>
        </p:spPr>
      </p:pic>
      <p:sp>
        <p:nvSpPr>
          <p:cNvPr id="9" name="Text 6"/>
          <p:cNvSpPr/>
          <p:nvPr/>
        </p:nvSpPr>
        <p:spPr>
          <a:xfrm>
            <a:off x="685800" y="5093208"/>
            <a:ext cx="1920240" cy="182880"/>
          </a:xfrm>
          <a:prstGeom prst="rect">
            <a:avLst/>
          </a:prstGeom>
          <a:noFill/>
          <a:ln/>
        </p:spPr>
        <p:txBody>
          <a:bodyPr wrap="square" lIns="0" tIns="0" rIns="0" bIns="0" rtlCol="0" anchor="ctr"/>
          <a:lstStyle/>
          <a:p>
            <a:pPr indent="0" marL="0">
              <a:buNone/>
            </a:pPr>
            <a:r>
              <a:rPr lang="en-US" sz="900" dirty="0">
                <a:solidFill>
                  <a:srgbClr val="6B4EA2"/>
                </a:solidFill>
                <a:latin typeface="Segoe UI Semibold" pitchFamily="34" charset="0"/>
                <a:ea typeface="Segoe UI Semibold" pitchFamily="34" charset="-122"/>
                <a:cs typeface="Segoe UI Semibold" pitchFamily="34" charset="-120"/>
              </a:rPr>
              <a:t>7 of 9 report pages</a:t>
            </a:r>
            <a:endParaRPr lang="en-US" sz="900" dirty="0"/>
          </a:p>
        </p:txBody>
      </p:sp>
      <p:sp>
        <p:nvSpPr>
          <p:cNvPr id="10" name="Shape 7"/>
          <p:cNvSpPr/>
          <p:nvPr/>
        </p:nvSpPr>
        <p:spPr>
          <a:xfrm>
            <a:off x="7315200" y="1261872"/>
            <a:ext cx="310896" cy="310896"/>
          </a:xfrm>
          <a:prstGeom prst="ellipse">
            <a:avLst/>
          </a:prstGeom>
          <a:solidFill>
            <a:srgbClr val="6B4EA2"/>
          </a:solidFill>
          <a:ln w="12700">
            <a:solidFill>
              <a:srgbClr val="6B4EA2"/>
            </a:solidFill>
            <a:prstDash val="solid"/>
          </a:ln>
        </p:spPr>
      </p:sp>
      <p:sp>
        <p:nvSpPr>
          <p:cNvPr id="11" name="Text 8"/>
          <p:cNvSpPr/>
          <p:nvPr/>
        </p:nvSpPr>
        <p:spPr>
          <a:xfrm>
            <a:off x="7315200" y="131216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1</a:t>
            </a:r>
            <a:endParaRPr lang="en-US" sz="900" dirty="0"/>
          </a:p>
        </p:txBody>
      </p:sp>
      <p:sp>
        <p:nvSpPr>
          <p:cNvPr id="12" name="Text 9"/>
          <p:cNvSpPr/>
          <p:nvPr/>
        </p:nvSpPr>
        <p:spPr>
          <a:xfrm>
            <a:off x="7754112" y="125272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Purpose</a:t>
            </a:r>
            <a:endParaRPr lang="en-US" sz="1150" dirty="0"/>
          </a:p>
        </p:txBody>
      </p:sp>
      <p:sp>
        <p:nvSpPr>
          <p:cNvPr id="13" name="Text 10"/>
          <p:cNvSpPr/>
          <p:nvPr/>
        </p:nvSpPr>
        <p:spPr>
          <a:xfrm>
            <a:off x="7754112" y="149047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Describe usage volume without converting it into value.</a:t>
            </a:r>
            <a:endParaRPr lang="en-US" sz="940" dirty="0"/>
          </a:p>
        </p:txBody>
      </p:sp>
      <p:sp>
        <p:nvSpPr>
          <p:cNvPr id="14" name="Shape 11"/>
          <p:cNvSpPr/>
          <p:nvPr/>
        </p:nvSpPr>
        <p:spPr>
          <a:xfrm>
            <a:off x="7315200" y="2130552"/>
            <a:ext cx="310896" cy="310896"/>
          </a:xfrm>
          <a:prstGeom prst="ellipse">
            <a:avLst/>
          </a:prstGeom>
          <a:solidFill>
            <a:srgbClr val="4F80C1"/>
          </a:solidFill>
          <a:ln w="12700">
            <a:solidFill>
              <a:srgbClr val="4F80C1"/>
            </a:solidFill>
            <a:prstDash val="solid"/>
          </a:ln>
        </p:spPr>
      </p:sp>
      <p:sp>
        <p:nvSpPr>
          <p:cNvPr id="15" name="Text 12"/>
          <p:cNvSpPr/>
          <p:nvPr/>
        </p:nvSpPr>
        <p:spPr>
          <a:xfrm>
            <a:off x="7315200" y="218084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2</a:t>
            </a:r>
            <a:endParaRPr lang="en-US" sz="900" dirty="0"/>
          </a:p>
        </p:txBody>
      </p:sp>
      <p:sp>
        <p:nvSpPr>
          <p:cNvPr id="16" name="Text 13"/>
          <p:cNvSpPr/>
          <p:nvPr/>
        </p:nvSpPr>
        <p:spPr>
          <a:xfrm>
            <a:off x="7754112" y="212140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Read totals</a:t>
            </a:r>
            <a:endParaRPr lang="en-US" sz="1150" dirty="0"/>
          </a:p>
        </p:txBody>
      </p:sp>
      <p:sp>
        <p:nvSpPr>
          <p:cNvPr id="17" name="Text 14"/>
          <p:cNvSpPr/>
          <p:nvPr/>
        </p:nvSpPr>
        <p:spPr>
          <a:xfrm>
            <a:off x="7754112" y="235915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Sessions and credits answer separate consumption questions.</a:t>
            </a:r>
            <a:endParaRPr lang="en-US" sz="940" dirty="0"/>
          </a:p>
        </p:txBody>
      </p:sp>
      <p:sp>
        <p:nvSpPr>
          <p:cNvPr id="18" name="Shape 15"/>
          <p:cNvSpPr/>
          <p:nvPr/>
        </p:nvSpPr>
        <p:spPr>
          <a:xfrm>
            <a:off x="7315200" y="2999232"/>
            <a:ext cx="310896" cy="310896"/>
          </a:xfrm>
          <a:prstGeom prst="ellipse">
            <a:avLst/>
          </a:prstGeom>
          <a:solidFill>
            <a:srgbClr val="168B82"/>
          </a:solidFill>
          <a:ln w="12700">
            <a:solidFill>
              <a:srgbClr val="168B82"/>
            </a:solidFill>
            <a:prstDash val="solid"/>
          </a:ln>
        </p:spPr>
      </p:sp>
      <p:sp>
        <p:nvSpPr>
          <p:cNvPr id="19" name="Text 16"/>
          <p:cNvSpPr/>
          <p:nvPr/>
        </p:nvSpPr>
        <p:spPr>
          <a:xfrm>
            <a:off x="7315200" y="304952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3</a:t>
            </a:r>
            <a:endParaRPr lang="en-US" sz="900" dirty="0"/>
          </a:p>
        </p:txBody>
      </p:sp>
      <p:sp>
        <p:nvSpPr>
          <p:cNvPr id="20" name="Text 17"/>
          <p:cNvSpPr/>
          <p:nvPr/>
        </p:nvSpPr>
        <p:spPr>
          <a:xfrm>
            <a:off x="7754112" y="299008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Read intensity</a:t>
            </a:r>
            <a:endParaRPr lang="en-US" sz="1150" dirty="0"/>
          </a:p>
        </p:txBody>
      </p:sp>
      <p:sp>
        <p:nvSpPr>
          <p:cNvPr id="21" name="Text 18"/>
          <p:cNvSpPr/>
          <p:nvPr/>
        </p:nvSpPr>
        <p:spPr>
          <a:xfrm>
            <a:off x="7754112" y="322783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Sessions per active person and credits per session are descriptive ratios.</a:t>
            </a:r>
            <a:endParaRPr lang="en-US" sz="940" dirty="0"/>
          </a:p>
        </p:txBody>
      </p:sp>
      <p:sp>
        <p:nvSpPr>
          <p:cNvPr id="22" name="Shape 19"/>
          <p:cNvSpPr/>
          <p:nvPr/>
        </p:nvSpPr>
        <p:spPr>
          <a:xfrm>
            <a:off x="7315200" y="3867912"/>
            <a:ext cx="310896" cy="310896"/>
          </a:xfrm>
          <a:prstGeom prst="ellipse">
            <a:avLst/>
          </a:prstGeom>
          <a:solidFill>
            <a:srgbClr val="3A8F5B"/>
          </a:solidFill>
          <a:ln w="12700">
            <a:solidFill>
              <a:srgbClr val="3A8F5B"/>
            </a:solidFill>
            <a:prstDash val="solid"/>
          </a:ln>
        </p:spPr>
      </p:sp>
      <p:sp>
        <p:nvSpPr>
          <p:cNvPr id="23" name="Text 20"/>
          <p:cNvSpPr/>
          <p:nvPr/>
        </p:nvSpPr>
        <p:spPr>
          <a:xfrm>
            <a:off x="7315200" y="391820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4</a:t>
            </a:r>
            <a:endParaRPr lang="en-US" sz="900" dirty="0"/>
          </a:p>
        </p:txBody>
      </p:sp>
      <p:sp>
        <p:nvSpPr>
          <p:cNvPr id="24" name="Text 21"/>
          <p:cNvSpPr/>
          <p:nvPr/>
        </p:nvSpPr>
        <p:spPr>
          <a:xfrm>
            <a:off x="7754112" y="385876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Switch the view</a:t>
            </a:r>
            <a:endParaRPr lang="en-US" sz="1150" dirty="0"/>
          </a:p>
        </p:txBody>
      </p:sp>
      <p:sp>
        <p:nvSpPr>
          <p:cNvPr id="25" name="Text 22"/>
          <p:cNvSpPr/>
          <p:nvPr/>
        </p:nvSpPr>
        <p:spPr>
          <a:xfrm>
            <a:off x="7754112" y="409651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Overall and By department use the same filter context.</a:t>
            </a:r>
            <a:endParaRPr lang="en-US" sz="940" dirty="0"/>
          </a:p>
        </p:txBody>
      </p:sp>
      <p:sp>
        <p:nvSpPr>
          <p:cNvPr id="26" name="Shape 23"/>
          <p:cNvSpPr/>
          <p:nvPr/>
        </p:nvSpPr>
        <p:spPr>
          <a:xfrm>
            <a:off x="7315200" y="4736592"/>
            <a:ext cx="310896" cy="310896"/>
          </a:xfrm>
          <a:prstGeom prst="ellipse">
            <a:avLst/>
          </a:prstGeom>
          <a:solidFill>
            <a:srgbClr val="D9872D"/>
          </a:solidFill>
          <a:ln w="12700">
            <a:solidFill>
              <a:srgbClr val="D9872D"/>
            </a:solidFill>
            <a:prstDash val="solid"/>
          </a:ln>
        </p:spPr>
      </p:sp>
      <p:sp>
        <p:nvSpPr>
          <p:cNvPr id="27" name="Text 24"/>
          <p:cNvSpPr/>
          <p:nvPr/>
        </p:nvSpPr>
        <p:spPr>
          <a:xfrm>
            <a:off x="7315200" y="478688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5</a:t>
            </a:r>
            <a:endParaRPr lang="en-US" sz="900" dirty="0"/>
          </a:p>
        </p:txBody>
      </p:sp>
      <p:sp>
        <p:nvSpPr>
          <p:cNvPr id="28" name="Text 25"/>
          <p:cNvSpPr/>
          <p:nvPr/>
        </p:nvSpPr>
        <p:spPr>
          <a:xfrm>
            <a:off x="7754112" y="472744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Drill carefully</a:t>
            </a:r>
            <a:endParaRPr lang="en-US" sz="1150" dirty="0"/>
          </a:p>
        </p:txBody>
      </p:sp>
      <p:sp>
        <p:nvSpPr>
          <p:cNvPr id="29" name="Text 26"/>
          <p:cNvSpPr/>
          <p:nvPr/>
        </p:nvSpPr>
        <p:spPr>
          <a:xfrm>
            <a:off x="7754112" y="496519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User IDs are available under departments but remain collapsed by default.</a:t>
            </a:r>
            <a:endParaRPr lang="en-US" sz="940" dirty="0"/>
          </a:p>
        </p:txBody>
      </p:sp>
      <p:sp>
        <p:nvSpPr>
          <p:cNvPr id="30" name="Shape 27"/>
          <p:cNvSpPr/>
          <p:nvPr/>
        </p:nvSpPr>
        <p:spPr>
          <a:xfrm>
            <a:off x="594360" y="5925312"/>
            <a:ext cx="11018520" cy="438912"/>
          </a:xfrm>
          <a:prstGeom prst="roundRect">
            <a:avLst>
              <a:gd name="adj" fmla="val 12500"/>
            </a:avLst>
          </a:prstGeom>
          <a:solidFill>
            <a:srgbClr val="F7EEE4"/>
          </a:solidFill>
          <a:ln w="12700">
            <a:solidFill>
              <a:srgbClr val="E4C49A"/>
            </a:solidFill>
            <a:prstDash val="solid"/>
          </a:ln>
        </p:spPr>
      </p:sp>
      <p:sp>
        <p:nvSpPr>
          <p:cNvPr id="31" name="Text 28"/>
          <p:cNvSpPr/>
          <p:nvPr/>
        </p:nvSpPr>
        <p:spPr>
          <a:xfrm>
            <a:off x="749808" y="6053328"/>
            <a:ext cx="804672" cy="146304"/>
          </a:xfrm>
          <a:prstGeom prst="rect">
            <a:avLst/>
          </a:prstGeom>
          <a:noFill/>
          <a:ln/>
        </p:spPr>
        <p:txBody>
          <a:bodyPr wrap="square" lIns="0" tIns="0" rIns="0" bIns="0" rtlCol="0" anchor="ctr"/>
          <a:lstStyle/>
          <a:p>
            <a:pPr indent="0" marL="0">
              <a:buNone/>
            </a:pPr>
            <a:r>
              <a:rPr lang="en-US" sz="850" b="1" dirty="0">
                <a:solidFill>
                  <a:srgbClr val="D9872D"/>
                </a:solidFill>
                <a:latin typeface="Segoe UI Semibold" pitchFamily="34" charset="0"/>
                <a:ea typeface="Segoe UI Semibold" pitchFamily="34" charset="-122"/>
                <a:cs typeface="Segoe UI Semibold" pitchFamily="34" charset="-120"/>
              </a:rPr>
              <a:t>GUARDRAIL</a:t>
            </a:r>
            <a:endParaRPr lang="en-US" sz="850" dirty="0"/>
          </a:p>
        </p:txBody>
      </p:sp>
      <p:sp>
        <p:nvSpPr>
          <p:cNvPr id="32" name="Text 29"/>
          <p:cNvSpPr/>
          <p:nvPr/>
        </p:nvSpPr>
        <p:spPr>
          <a:xfrm>
            <a:off x="1600200" y="6007608"/>
            <a:ext cx="9784080" cy="210312"/>
          </a:xfrm>
          <a:prstGeom prst="rect">
            <a:avLst/>
          </a:prstGeom>
          <a:noFill/>
          <a:ln/>
        </p:spPr>
        <p:txBody>
          <a:bodyPr wrap="square" lIns="0" tIns="0" rIns="0" bIns="0" rtlCol="0" anchor="ctr"/>
          <a:lstStyle/>
          <a:p>
            <a:pPr indent="0" marL="0">
              <a:buNone/>
            </a:pPr>
            <a:r>
              <a:rPr lang="en-US" sz="930" dirty="0">
                <a:solidFill>
                  <a:srgbClr val="172033"/>
                </a:solidFill>
                <a:latin typeface="Segoe UI" pitchFamily="34" charset="0"/>
                <a:ea typeface="Segoe UI" pitchFamily="34" charset="-122"/>
                <a:cs typeface="Segoe UI" pitchFamily="34" charset="-120"/>
              </a:rPr>
              <a:t>Sessions are not tasks. Credits are not productivity, quality, complexity, time saved, or business value.</a:t>
            </a:r>
            <a:endParaRPr lang="en-US" sz="93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320040"/>
            <a:ext cx="8046720" cy="438912"/>
          </a:xfrm>
          <a:prstGeom prst="rect">
            <a:avLst/>
          </a:prstGeom>
          <a:noFill/>
          <a:ln/>
        </p:spPr>
        <p:txBody>
          <a:bodyPr wrap="square" lIns="0" tIns="0" rIns="0" bIns="0" rtlCol="0" anchor="ctr"/>
          <a:lstStyle/>
          <a:p>
            <a:pPr indent="0" marL="0">
              <a:buNone/>
            </a:pPr>
            <a:r>
              <a:rPr lang="en-US" sz="2600" b="1" dirty="0">
                <a:solidFill>
                  <a:srgbClr val="172033"/>
                </a:solidFill>
                <a:latin typeface="Segoe UI Semibold" pitchFamily="34" charset="0"/>
                <a:ea typeface="Segoe UI Semibold" pitchFamily="34" charset="-122"/>
                <a:cs typeface="Segoe UI Semibold" pitchFamily="34" charset="-120"/>
              </a:rPr>
              <a:t>Work Pattern Context</a:t>
            </a:r>
            <a:endParaRPr lang="en-US" sz="2600" dirty="0"/>
          </a:p>
        </p:txBody>
      </p:sp>
      <p:sp>
        <p:nvSpPr>
          <p:cNvPr id="3" name="Text 1"/>
          <p:cNvSpPr/>
          <p:nvPr/>
        </p:nvSpPr>
        <p:spPr>
          <a:xfrm>
            <a:off x="502920" y="795528"/>
            <a:ext cx="10881360" cy="310896"/>
          </a:xfrm>
          <a:prstGeom prst="rect">
            <a:avLst/>
          </a:prstGeom>
          <a:noFill/>
          <a:ln/>
        </p:spPr>
        <p:txBody>
          <a:bodyPr wrap="square" lIns="0" tIns="0" rIns="0" bIns="0" rtlCol="0" anchor="ctr"/>
          <a:lstStyle/>
          <a:p>
            <a:pPr indent="0" marL="0">
              <a:buNone/>
            </a:pPr>
            <a:r>
              <a:rPr lang="en-US" sz="1200" dirty="0">
                <a:solidFill>
                  <a:srgbClr val="647084"/>
                </a:solidFill>
                <a:latin typeface="Segoe UI" pitchFamily="34" charset="0"/>
                <a:ea typeface="Segoe UI" pitchFamily="34" charset="-122"/>
                <a:cs typeface="Segoe UI" pitchFamily="34" charset="-120"/>
              </a:rPr>
              <a:t>Descriptive collaboration and network patterns by Cowork stage</a:t>
            </a:r>
            <a:endParaRPr lang="en-US" sz="1200" dirty="0"/>
          </a:p>
        </p:txBody>
      </p:sp>
      <p:sp>
        <p:nvSpPr>
          <p:cNvPr id="4" name="Text 2"/>
          <p:cNvSpPr/>
          <p:nvPr/>
        </p:nvSpPr>
        <p:spPr>
          <a:xfrm>
            <a:off x="502920" y="6510528"/>
            <a:ext cx="3017520" cy="164592"/>
          </a:xfrm>
          <a:prstGeom prst="rect">
            <a:avLst/>
          </a:prstGeom>
          <a:noFill/>
          <a:ln/>
        </p:spPr>
        <p:txBody>
          <a:bodyPr wrap="square" lIns="0" tIns="0" rIns="0" bIns="0" rtlCol="0" anchor="ctr"/>
          <a:lstStyle/>
          <a:p>
            <a:pPr indent="0" marL="0">
              <a:buNone/>
            </a:pPr>
            <a:r>
              <a:rPr lang="en-US" sz="800" dirty="0">
                <a:solidFill>
                  <a:srgbClr val="647084"/>
                </a:solidFill>
                <a:latin typeface="Segoe UI" pitchFamily="34" charset="0"/>
                <a:ea typeface="Segoe UI" pitchFamily="34" charset="-122"/>
                <a:cs typeface="Segoe UI" pitchFamily="34" charset="-120"/>
              </a:rPr>
              <a:t>microsoft/CoworkSuperUser</a:t>
            </a:r>
            <a:endParaRPr lang="en-US" sz="800" dirty="0"/>
          </a:p>
        </p:txBody>
      </p:sp>
      <p:sp>
        <p:nvSpPr>
          <p:cNvPr id="5" name="Text 3"/>
          <p:cNvSpPr/>
          <p:nvPr/>
        </p:nvSpPr>
        <p:spPr>
          <a:xfrm>
            <a:off x="7772400" y="6510528"/>
            <a:ext cx="356616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Version 1.0 | Public | Page walkthrough</a:t>
            </a:r>
            <a:endParaRPr lang="en-US" sz="800" dirty="0"/>
          </a:p>
        </p:txBody>
      </p:sp>
      <p:sp>
        <p:nvSpPr>
          <p:cNvPr id="6" name="Text 4"/>
          <p:cNvSpPr/>
          <p:nvPr/>
        </p:nvSpPr>
        <p:spPr>
          <a:xfrm>
            <a:off x="11384280" y="6510528"/>
            <a:ext cx="32004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15</a:t>
            </a:r>
            <a:endParaRPr lang="en-US" sz="800" dirty="0"/>
          </a:p>
        </p:txBody>
      </p:sp>
      <p:sp>
        <p:nvSpPr>
          <p:cNvPr id="7" name="Shape 5"/>
          <p:cNvSpPr/>
          <p:nvPr/>
        </p:nvSpPr>
        <p:spPr>
          <a:xfrm>
            <a:off x="502920" y="1261872"/>
            <a:ext cx="6565392" cy="3703320"/>
          </a:xfrm>
          <a:prstGeom prst="roundRect">
            <a:avLst>
              <a:gd name="adj" fmla="val 1975"/>
            </a:avLst>
          </a:prstGeom>
          <a:solidFill>
            <a:srgbClr val="FFFFFF"/>
          </a:solidFill>
          <a:ln w="13970">
            <a:solidFill>
              <a:srgbClr val="D9D3E6"/>
            </a:solidFill>
            <a:prstDash val="solid"/>
          </a:ln>
          <a:effectLst>
            <a:outerShdw sx="100000" sy="100000" kx="0" ky="0" algn="bl" rotWithShape="0" blurRad="25400" dist="50800" dir="2700000">
              <a:srgbClr val="9D95AD">
                <a:alpha val="18000"/>
              </a:srgbClr>
            </a:outerShdw>
          </a:effectLst>
        </p:spPr>
      </p:sp>
      <p:pic>
        <p:nvPicPr>
          <p:cNvPr id="8" name="Image 0" descr="C:\Users\luzlorenz\OneDrive - Microsoft\Documents\Microsoft Scout\CoworkSuperUser\images\report-pages\08-work-pattern-context.png">    </p:cNvPr>
          <p:cNvPicPr>
            <a:picLocks noChangeAspect="1"/>
          </p:cNvPicPr>
          <p:nvPr/>
        </p:nvPicPr>
        <p:blipFill>
          <a:blip r:embed="rId1"/>
          <a:stretch>
            <a:fillRect/>
          </a:stretch>
        </p:blipFill>
        <p:spPr>
          <a:xfrm>
            <a:off x="585216" y="1344168"/>
            <a:ext cx="6400800" cy="3602736"/>
          </a:xfrm>
          <a:prstGeom prst="rect">
            <a:avLst/>
          </a:prstGeom>
        </p:spPr>
      </p:pic>
      <p:sp>
        <p:nvSpPr>
          <p:cNvPr id="9" name="Text 6"/>
          <p:cNvSpPr/>
          <p:nvPr/>
        </p:nvSpPr>
        <p:spPr>
          <a:xfrm>
            <a:off x="685800" y="5093208"/>
            <a:ext cx="1920240" cy="182880"/>
          </a:xfrm>
          <a:prstGeom prst="rect">
            <a:avLst/>
          </a:prstGeom>
          <a:noFill/>
          <a:ln/>
        </p:spPr>
        <p:txBody>
          <a:bodyPr wrap="square" lIns="0" tIns="0" rIns="0" bIns="0" rtlCol="0" anchor="ctr"/>
          <a:lstStyle/>
          <a:p>
            <a:pPr indent="0" marL="0">
              <a:buNone/>
            </a:pPr>
            <a:r>
              <a:rPr lang="en-US" sz="900" dirty="0">
                <a:solidFill>
                  <a:srgbClr val="6B4EA2"/>
                </a:solidFill>
                <a:latin typeface="Segoe UI Semibold" pitchFamily="34" charset="0"/>
                <a:ea typeface="Segoe UI Semibold" pitchFamily="34" charset="-122"/>
                <a:cs typeface="Segoe UI Semibold" pitchFamily="34" charset="-120"/>
              </a:rPr>
              <a:t>8 of 9 report pages</a:t>
            </a:r>
            <a:endParaRPr lang="en-US" sz="900" dirty="0"/>
          </a:p>
        </p:txBody>
      </p:sp>
      <p:sp>
        <p:nvSpPr>
          <p:cNvPr id="10" name="Shape 7"/>
          <p:cNvSpPr/>
          <p:nvPr/>
        </p:nvSpPr>
        <p:spPr>
          <a:xfrm>
            <a:off x="7315200" y="1261872"/>
            <a:ext cx="310896" cy="310896"/>
          </a:xfrm>
          <a:prstGeom prst="ellipse">
            <a:avLst/>
          </a:prstGeom>
          <a:solidFill>
            <a:srgbClr val="6B4EA2"/>
          </a:solidFill>
          <a:ln w="12700">
            <a:solidFill>
              <a:srgbClr val="6B4EA2"/>
            </a:solidFill>
            <a:prstDash val="solid"/>
          </a:ln>
        </p:spPr>
      </p:sp>
      <p:sp>
        <p:nvSpPr>
          <p:cNvPr id="11" name="Text 8"/>
          <p:cNvSpPr/>
          <p:nvPr/>
        </p:nvSpPr>
        <p:spPr>
          <a:xfrm>
            <a:off x="7315200" y="131216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1</a:t>
            </a:r>
            <a:endParaRPr lang="en-US" sz="900" dirty="0"/>
          </a:p>
        </p:txBody>
      </p:sp>
      <p:sp>
        <p:nvSpPr>
          <p:cNvPr id="12" name="Text 9"/>
          <p:cNvSpPr/>
          <p:nvPr/>
        </p:nvSpPr>
        <p:spPr>
          <a:xfrm>
            <a:off x="7754112" y="125272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Purpose</a:t>
            </a:r>
            <a:endParaRPr lang="en-US" sz="1150" dirty="0"/>
          </a:p>
        </p:txBody>
      </p:sp>
      <p:sp>
        <p:nvSpPr>
          <p:cNvPr id="13" name="Text 10"/>
          <p:cNvSpPr/>
          <p:nvPr/>
        </p:nvSpPr>
        <p:spPr>
          <a:xfrm>
            <a:off x="7754112" y="149047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Frame local questions about collaboration network and beyond-hours work.</a:t>
            </a:r>
            <a:endParaRPr lang="en-US" sz="940" dirty="0"/>
          </a:p>
        </p:txBody>
      </p:sp>
      <p:sp>
        <p:nvSpPr>
          <p:cNvPr id="14" name="Shape 11"/>
          <p:cNvSpPr/>
          <p:nvPr/>
        </p:nvSpPr>
        <p:spPr>
          <a:xfrm>
            <a:off x="7315200" y="2130552"/>
            <a:ext cx="310896" cy="310896"/>
          </a:xfrm>
          <a:prstGeom prst="ellipse">
            <a:avLst/>
          </a:prstGeom>
          <a:solidFill>
            <a:srgbClr val="4F80C1"/>
          </a:solidFill>
          <a:ln w="12700">
            <a:solidFill>
              <a:srgbClr val="4F80C1"/>
            </a:solidFill>
            <a:prstDash val="solid"/>
          </a:ln>
        </p:spPr>
      </p:sp>
      <p:sp>
        <p:nvSpPr>
          <p:cNvPr id="15" name="Text 12"/>
          <p:cNvSpPr/>
          <p:nvPr/>
        </p:nvSpPr>
        <p:spPr>
          <a:xfrm>
            <a:off x="7315200" y="218084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2</a:t>
            </a:r>
            <a:endParaRPr lang="en-US" sz="900" dirty="0"/>
          </a:p>
        </p:txBody>
      </p:sp>
      <p:sp>
        <p:nvSpPr>
          <p:cNvPr id="16" name="Text 13"/>
          <p:cNvSpPr/>
          <p:nvPr/>
        </p:nvSpPr>
        <p:spPr>
          <a:xfrm>
            <a:off x="7754112" y="212140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Select one pattern</a:t>
            </a:r>
            <a:endParaRPr lang="en-US" sz="1150" dirty="0"/>
          </a:p>
        </p:txBody>
      </p:sp>
      <p:sp>
        <p:nvSpPr>
          <p:cNvPr id="17" name="Text 14"/>
          <p:cNvSpPr/>
          <p:nvPr/>
        </p:nvSpPr>
        <p:spPr>
          <a:xfrm>
            <a:off x="7754112" y="235915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Only metrics supplied by the Person Query are selectable.</a:t>
            </a:r>
            <a:endParaRPr lang="en-US" sz="940" dirty="0"/>
          </a:p>
        </p:txBody>
      </p:sp>
      <p:sp>
        <p:nvSpPr>
          <p:cNvPr id="18" name="Shape 15"/>
          <p:cNvSpPr/>
          <p:nvPr/>
        </p:nvSpPr>
        <p:spPr>
          <a:xfrm>
            <a:off x="7315200" y="2999232"/>
            <a:ext cx="310896" cy="310896"/>
          </a:xfrm>
          <a:prstGeom prst="ellipse">
            <a:avLst/>
          </a:prstGeom>
          <a:solidFill>
            <a:srgbClr val="168B82"/>
          </a:solidFill>
          <a:ln w="12700">
            <a:solidFill>
              <a:srgbClr val="168B82"/>
            </a:solidFill>
            <a:prstDash val="solid"/>
          </a:ln>
        </p:spPr>
      </p:sp>
      <p:sp>
        <p:nvSpPr>
          <p:cNvPr id="19" name="Text 16"/>
          <p:cNvSpPr/>
          <p:nvPr/>
        </p:nvSpPr>
        <p:spPr>
          <a:xfrm>
            <a:off x="7315200" y="304952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3</a:t>
            </a:r>
            <a:endParaRPr lang="en-US" sz="900" dirty="0"/>
          </a:p>
        </p:txBody>
      </p:sp>
      <p:sp>
        <p:nvSpPr>
          <p:cNvPr id="20" name="Text 17"/>
          <p:cNvSpPr/>
          <p:nvPr/>
        </p:nvSpPr>
        <p:spPr>
          <a:xfrm>
            <a:off x="7754112" y="299008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Compare stages</a:t>
            </a:r>
            <a:endParaRPr lang="en-US" sz="1150" dirty="0"/>
          </a:p>
        </p:txBody>
      </p:sp>
      <p:sp>
        <p:nvSpPr>
          <p:cNvPr id="21" name="Text 18"/>
          <p:cNvSpPr/>
          <p:nvPr/>
        </p:nvSpPr>
        <p:spPr>
          <a:xfrm>
            <a:off x="7754112" y="322783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The Non-user group is a descriptive reference, not a control group.</a:t>
            </a:r>
            <a:endParaRPr lang="en-US" sz="940" dirty="0"/>
          </a:p>
        </p:txBody>
      </p:sp>
      <p:sp>
        <p:nvSpPr>
          <p:cNvPr id="22" name="Shape 19"/>
          <p:cNvSpPr/>
          <p:nvPr/>
        </p:nvSpPr>
        <p:spPr>
          <a:xfrm>
            <a:off x="7315200" y="3867912"/>
            <a:ext cx="310896" cy="310896"/>
          </a:xfrm>
          <a:prstGeom prst="ellipse">
            <a:avLst/>
          </a:prstGeom>
          <a:solidFill>
            <a:srgbClr val="3A8F5B"/>
          </a:solidFill>
          <a:ln w="12700">
            <a:solidFill>
              <a:srgbClr val="3A8F5B"/>
            </a:solidFill>
            <a:prstDash val="solid"/>
          </a:ln>
        </p:spPr>
      </p:sp>
      <p:sp>
        <p:nvSpPr>
          <p:cNvPr id="23" name="Text 20"/>
          <p:cNvSpPr/>
          <p:nvPr/>
        </p:nvSpPr>
        <p:spPr>
          <a:xfrm>
            <a:off x="7315200" y="391820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4</a:t>
            </a:r>
            <a:endParaRPr lang="en-US" sz="900" dirty="0"/>
          </a:p>
        </p:txBody>
      </p:sp>
      <p:sp>
        <p:nvSpPr>
          <p:cNvPr id="24" name="Text 21"/>
          <p:cNvSpPr/>
          <p:nvPr/>
        </p:nvSpPr>
        <p:spPr>
          <a:xfrm>
            <a:off x="7754112" y="385876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Read separate axes</a:t>
            </a:r>
            <a:endParaRPr lang="en-US" sz="1150" dirty="0"/>
          </a:p>
        </p:txBody>
      </p:sp>
      <p:sp>
        <p:nvSpPr>
          <p:cNvPr id="25" name="Text 22"/>
          <p:cNvSpPr/>
          <p:nvPr/>
        </p:nvSpPr>
        <p:spPr>
          <a:xfrm>
            <a:off x="7754112" y="409651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Pattern averages and Cowork sessions use independent scales.</a:t>
            </a:r>
            <a:endParaRPr lang="en-US" sz="940" dirty="0"/>
          </a:p>
        </p:txBody>
      </p:sp>
      <p:sp>
        <p:nvSpPr>
          <p:cNvPr id="26" name="Shape 23"/>
          <p:cNvSpPr/>
          <p:nvPr/>
        </p:nvSpPr>
        <p:spPr>
          <a:xfrm>
            <a:off x="7315200" y="4736592"/>
            <a:ext cx="310896" cy="310896"/>
          </a:xfrm>
          <a:prstGeom prst="ellipse">
            <a:avLst/>
          </a:prstGeom>
          <a:solidFill>
            <a:srgbClr val="D9872D"/>
          </a:solidFill>
          <a:ln w="12700">
            <a:solidFill>
              <a:srgbClr val="D9872D"/>
            </a:solidFill>
            <a:prstDash val="solid"/>
          </a:ln>
        </p:spPr>
      </p:sp>
      <p:sp>
        <p:nvSpPr>
          <p:cNvPr id="27" name="Text 24"/>
          <p:cNvSpPr/>
          <p:nvPr/>
        </p:nvSpPr>
        <p:spPr>
          <a:xfrm>
            <a:off x="7315200" y="478688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5</a:t>
            </a:r>
            <a:endParaRPr lang="en-US" sz="900" dirty="0"/>
          </a:p>
        </p:txBody>
      </p:sp>
      <p:sp>
        <p:nvSpPr>
          <p:cNvPr id="28" name="Text 25"/>
          <p:cNvSpPr/>
          <p:nvPr/>
        </p:nvSpPr>
        <p:spPr>
          <a:xfrm>
            <a:off x="7754112" y="472744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Open priorities</a:t>
            </a:r>
            <a:endParaRPr lang="en-US" sz="1150" dirty="0"/>
          </a:p>
        </p:txBody>
      </p:sp>
      <p:sp>
        <p:nvSpPr>
          <p:cNvPr id="29" name="Text 26"/>
          <p:cNvSpPr/>
          <p:nvPr/>
        </p:nvSpPr>
        <p:spPr>
          <a:xfrm>
            <a:off x="7754112" y="496519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Department enablement prompts explain what to investigate next.</a:t>
            </a:r>
            <a:endParaRPr lang="en-US" sz="940" dirty="0"/>
          </a:p>
        </p:txBody>
      </p:sp>
      <p:sp>
        <p:nvSpPr>
          <p:cNvPr id="30" name="Shape 27"/>
          <p:cNvSpPr/>
          <p:nvPr/>
        </p:nvSpPr>
        <p:spPr>
          <a:xfrm>
            <a:off x="594360" y="5925312"/>
            <a:ext cx="11018520" cy="438912"/>
          </a:xfrm>
          <a:prstGeom prst="roundRect">
            <a:avLst>
              <a:gd name="adj" fmla="val 12500"/>
            </a:avLst>
          </a:prstGeom>
          <a:solidFill>
            <a:srgbClr val="F7EEE4"/>
          </a:solidFill>
          <a:ln w="12700">
            <a:solidFill>
              <a:srgbClr val="E4C49A"/>
            </a:solidFill>
            <a:prstDash val="solid"/>
          </a:ln>
        </p:spPr>
      </p:sp>
      <p:sp>
        <p:nvSpPr>
          <p:cNvPr id="31" name="Text 28"/>
          <p:cNvSpPr/>
          <p:nvPr/>
        </p:nvSpPr>
        <p:spPr>
          <a:xfrm>
            <a:off x="749808" y="6053328"/>
            <a:ext cx="804672" cy="146304"/>
          </a:xfrm>
          <a:prstGeom prst="rect">
            <a:avLst/>
          </a:prstGeom>
          <a:noFill/>
          <a:ln/>
        </p:spPr>
        <p:txBody>
          <a:bodyPr wrap="square" lIns="0" tIns="0" rIns="0" bIns="0" rtlCol="0" anchor="ctr"/>
          <a:lstStyle/>
          <a:p>
            <a:pPr indent="0" marL="0">
              <a:buNone/>
            </a:pPr>
            <a:r>
              <a:rPr lang="en-US" sz="850" b="1" dirty="0">
                <a:solidFill>
                  <a:srgbClr val="D9872D"/>
                </a:solidFill>
                <a:latin typeface="Segoe UI Semibold" pitchFamily="34" charset="0"/>
                <a:ea typeface="Segoe UI Semibold" pitchFamily="34" charset="-122"/>
                <a:cs typeface="Segoe UI Semibold" pitchFamily="34" charset="-120"/>
              </a:rPr>
              <a:t>GUARDRAIL</a:t>
            </a:r>
            <a:endParaRPr lang="en-US" sz="850" dirty="0"/>
          </a:p>
        </p:txBody>
      </p:sp>
      <p:sp>
        <p:nvSpPr>
          <p:cNvPr id="32" name="Text 29"/>
          <p:cNvSpPr/>
          <p:nvPr/>
        </p:nvSpPr>
        <p:spPr>
          <a:xfrm>
            <a:off x="1600200" y="6007608"/>
            <a:ext cx="9784080" cy="210312"/>
          </a:xfrm>
          <a:prstGeom prst="rect">
            <a:avLst/>
          </a:prstGeom>
          <a:noFill/>
          <a:ln/>
        </p:spPr>
        <p:txBody>
          <a:bodyPr wrap="square" lIns="0" tIns="0" rIns="0" bIns="0" rtlCol="0" anchor="ctr"/>
          <a:lstStyle/>
          <a:p>
            <a:pPr indent="0" marL="0">
              <a:buNone/>
            </a:pPr>
            <a:r>
              <a:rPr lang="en-US" sz="930" dirty="0">
                <a:solidFill>
                  <a:srgbClr val="172033"/>
                </a:solidFill>
                <a:latin typeface="Segoe UI" pitchFamily="34" charset="0"/>
                <a:ea typeface="Segoe UI" pitchFamily="34" charset="-122"/>
                <a:cs typeface="Segoe UI" pitchFamily="34" charset="-120"/>
              </a:rPr>
              <a:t>Differences are descriptive and non-causal. Cowork use can coexist with a pattern without causing it.</a:t>
            </a:r>
            <a:endParaRPr lang="en-US" sz="93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320040"/>
            <a:ext cx="8046720" cy="438912"/>
          </a:xfrm>
          <a:prstGeom prst="rect">
            <a:avLst/>
          </a:prstGeom>
          <a:noFill/>
          <a:ln/>
        </p:spPr>
        <p:txBody>
          <a:bodyPr wrap="square" lIns="0" tIns="0" rIns="0" bIns="0" rtlCol="0" anchor="ctr"/>
          <a:lstStyle/>
          <a:p>
            <a:pPr indent="0" marL="0">
              <a:buNone/>
            </a:pPr>
            <a:r>
              <a:rPr lang="en-US" sz="2600" b="1" dirty="0">
                <a:solidFill>
                  <a:srgbClr val="172033"/>
                </a:solidFill>
                <a:latin typeface="Segoe UI Semibold" pitchFamily="34" charset="0"/>
                <a:ea typeface="Segoe UI Semibold" pitchFamily="34" charset="-122"/>
                <a:cs typeface="Segoe UI Semibold" pitchFamily="34" charset="-120"/>
              </a:rPr>
              <a:t>Methods and Metric Guide</a:t>
            </a:r>
            <a:endParaRPr lang="en-US" sz="2600" dirty="0"/>
          </a:p>
        </p:txBody>
      </p:sp>
      <p:sp>
        <p:nvSpPr>
          <p:cNvPr id="3" name="Text 1"/>
          <p:cNvSpPr/>
          <p:nvPr/>
        </p:nvSpPr>
        <p:spPr>
          <a:xfrm>
            <a:off x="502920" y="795528"/>
            <a:ext cx="10881360" cy="310896"/>
          </a:xfrm>
          <a:prstGeom prst="rect">
            <a:avLst/>
          </a:prstGeom>
          <a:noFill/>
          <a:ln/>
        </p:spPr>
        <p:txBody>
          <a:bodyPr wrap="square" lIns="0" tIns="0" rIns="0" bIns="0" rtlCol="0" anchor="ctr"/>
          <a:lstStyle/>
          <a:p>
            <a:pPr indent="0" marL="0">
              <a:buNone/>
            </a:pPr>
            <a:r>
              <a:rPr lang="en-US" sz="1200" dirty="0">
                <a:solidFill>
                  <a:srgbClr val="647084"/>
                </a:solidFill>
                <a:latin typeface="Segoe UI" pitchFamily="34" charset="0"/>
                <a:ea typeface="Segoe UI" pitchFamily="34" charset="-122"/>
                <a:cs typeface="Segoe UI" pitchFamily="34" charset="-120"/>
              </a:rPr>
              <a:t>Definitions, sources, calculations, grains, directions, and caveats</a:t>
            </a:r>
            <a:endParaRPr lang="en-US" sz="1200" dirty="0"/>
          </a:p>
        </p:txBody>
      </p:sp>
      <p:sp>
        <p:nvSpPr>
          <p:cNvPr id="4" name="Text 2"/>
          <p:cNvSpPr/>
          <p:nvPr/>
        </p:nvSpPr>
        <p:spPr>
          <a:xfrm>
            <a:off x="502920" y="6510528"/>
            <a:ext cx="3017520" cy="164592"/>
          </a:xfrm>
          <a:prstGeom prst="rect">
            <a:avLst/>
          </a:prstGeom>
          <a:noFill/>
          <a:ln/>
        </p:spPr>
        <p:txBody>
          <a:bodyPr wrap="square" lIns="0" tIns="0" rIns="0" bIns="0" rtlCol="0" anchor="ctr"/>
          <a:lstStyle/>
          <a:p>
            <a:pPr indent="0" marL="0">
              <a:buNone/>
            </a:pPr>
            <a:r>
              <a:rPr lang="en-US" sz="800" dirty="0">
                <a:solidFill>
                  <a:srgbClr val="647084"/>
                </a:solidFill>
                <a:latin typeface="Segoe UI" pitchFamily="34" charset="0"/>
                <a:ea typeface="Segoe UI" pitchFamily="34" charset="-122"/>
                <a:cs typeface="Segoe UI" pitchFamily="34" charset="-120"/>
              </a:rPr>
              <a:t>microsoft/CoworkSuperUser</a:t>
            </a:r>
            <a:endParaRPr lang="en-US" sz="800" dirty="0"/>
          </a:p>
        </p:txBody>
      </p:sp>
      <p:sp>
        <p:nvSpPr>
          <p:cNvPr id="5" name="Text 3"/>
          <p:cNvSpPr/>
          <p:nvPr/>
        </p:nvSpPr>
        <p:spPr>
          <a:xfrm>
            <a:off x="7772400" y="6510528"/>
            <a:ext cx="356616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Version 1.0 | Public | Page walkthrough</a:t>
            </a:r>
            <a:endParaRPr lang="en-US" sz="800" dirty="0"/>
          </a:p>
        </p:txBody>
      </p:sp>
      <p:sp>
        <p:nvSpPr>
          <p:cNvPr id="6" name="Text 4"/>
          <p:cNvSpPr/>
          <p:nvPr/>
        </p:nvSpPr>
        <p:spPr>
          <a:xfrm>
            <a:off x="11384280" y="6510528"/>
            <a:ext cx="32004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16</a:t>
            </a:r>
            <a:endParaRPr lang="en-US" sz="800" dirty="0"/>
          </a:p>
        </p:txBody>
      </p:sp>
      <p:sp>
        <p:nvSpPr>
          <p:cNvPr id="7" name="Shape 5"/>
          <p:cNvSpPr/>
          <p:nvPr/>
        </p:nvSpPr>
        <p:spPr>
          <a:xfrm>
            <a:off x="502920" y="1261872"/>
            <a:ext cx="6565392" cy="3703320"/>
          </a:xfrm>
          <a:prstGeom prst="roundRect">
            <a:avLst>
              <a:gd name="adj" fmla="val 1975"/>
            </a:avLst>
          </a:prstGeom>
          <a:solidFill>
            <a:srgbClr val="FFFFFF"/>
          </a:solidFill>
          <a:ln w="13970">
            <a:solidFill>
              <a:srgbClr val="D9D3E6"/>
            </a:solidFill>
            <a:prstDash val="solid"/>
          </a:ln>
          <a:effectLst>
            <a:outerShdw sx="100000" sy="100000" kx="0" ky="0" algn="bl" rotWithShape="0" blurRad="25400" dist="50800" dir="2700000">
              <a:srgbClr val="9D95AD">
                <a:alpha val="18000"/>
              </a:srgbClr>
            </a:outerShdw>
          </a:effectLst>
        </p:spPr>
      </p:sp>
      <p:pic>
        <p:nvPicPr>
          <p:cNvPr id="8" name="Image 0" descr="C:\Users\luzlorenz\OneDrive - Microsoft\Documents\Microsoft Scout\CoworkSuperUser\images\report-pages\09-methods-and-metric-guide.png">    </p:cNvPr>
          <p:cNvPicPr>
            <a:picLocks noChangeAspect="1"/>
          </p:cNvPicPr>
          <p:nvPr/>
        </p:nvPicPr>
        <p:blipFill>
          <a:blip r:embed="rId1"/>
          <a:stretch>
            <a:fillRect/>
          </a:stretch>
        </p:blipFill>
        <p:spPr>
          <a:xfrm>
            <a:off x="585216" y="1344168"/>
            <a:ext cx="6400800" cy="3602736"/>
          </a:xfrm>
          <a:prstGeom prst="rect">
            <a:avLst/>
          </a:prstGeom>
        </p:spPr>
      </p:pic>
      <p:sp>
        <p:nvSpPr>
          <p:cNvPr id="9" name="Text 6"/>
          <p:cNvSpPr/>
          <p:nvPr/>
        </p:nvSpPr>
        <p:spPr>
          <a:xfrm>
            <a:off x="685800" y="5093208"/>
            <a:ext cx="1920240" cy="182880"/>
          </a:xfrm>
          <a:prstGeom prst="rect">
            <a:avLst/>
          </a:prstGeom>
          <a:noFill/>
          <a:ln/>
        </p:spPr>
        <p:txBody>
          <a:bodyPr wrap="square" lIns="0" tIns="0" rIns="0" bIns="0" rtlCol="0" anchor="ctr"/>
          <a:lstStyle/>
          <a:p>
            <a:pPr indent="0" marL="0">
              <a:buNone/>
            </a:pPr>
            <a:r>
              <a:rPr lang="en-US" sz="900" dirty="0">
                <a:solidFill>
                  <a:srgbClr val="6B4EA2"/>
                </a:solidFill>
                <a:latin typeface="Segoe UI Semibold" pitchFamily="34" charset="0"/>
                <a:ea typeface="Segoe UI Semibold" pitchFamily="34" charset="-122"/>
                <a:cs typeface="Segoe UI Semibold" pitchFamily="34" charset="-120"/>
              </a:rPr>
              <a:t>9 of 9 report pages</a:t>
            </a:r>
            <a:endParaRPr lang="en-US" sz="900" dirty="0"/>
          </a:p>
        </p:txBody>
      </p:sp>
      <p:sp>
        <p:nvSpPr>
          <p:cNvPr id="10" name="Shape 7"/>
          <p:cNvSpPr/>
          <p:nvPr/>
        </p:nvSpPr>
        <p:spPr>
          <a:xfrm>
            <a:off x="7315200" y="1261872"/>
            <a:ext cx="310896" cy="310896"/>
          </a:xfrm>
          <a:prstGeom prst="ellipse">
            <a:avLst/>
          </a:prstGeom>
          <a:solidFill>
            <a:srgbClr val="6B4EA2"/>
          </a:solidFill>
          <a:ln w="12700">
            <a:solidFill>
              <a:srgbClr val="6B4EA2"/>
            </a:solidFill>
            <a:prstDash val="solid"/>
          </a:ln>
        </p:spPr>
      </p:sp>
      <p:sp>
        <p:nvSpPr>
          <p:cNvPr id="11" name="Text 8"/>
          <p:cNvSpPr/>
          <p:nvPr/>
        </p:nvSpPr>
        <p:spPr>
          <a:xfrm>
            <a:off x="7315200" y="131216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1</a:t>
            </a:r>
            <a:endParaRPr lang="en-US" sz="900" dirty="0"/>
          </a:p>
        </p:txBody>
      </p:sp>
      <p:sp>
        <p:nvSpPr>
          <p:cNvPr id="12" name="Text 9"/>
          <p:cNvSpPr/>
          <p:nvPr/>
        </p:nvSpPr>
        <p:spPr>
          <a:xfrm>
            <a:off x="7754112" y="125272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Purpose</a:t>
            </a:r>
            <a:endParaRPr lang="en-US" sz="1150" dirty="0"/>
          </a:p>
        </p:txBody>
      </p:sp>
      <p:sp>
        <p:nvSpPr>
          <p:cNvPr id="13" name="Text 10"/>
          <p:cNvSpPr/>
          <p:nvPr/>
        </p:nvSpPr>
        <p:spPr>
          <a:xfrm>
            <a:off x="7754112" y="149047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Settle the definition before the metric enters a decision record.</a:t>
            </a:r>
            <a:endParaRPr lang="en-US" sz="940" dirty="0"/>
          </a:p>
        </p:txBody>
      </p:sp>
      <p:sp>
        <p:nvSpPr>
          <p:cNvPr id="14" name="Shape 11"/>
          <p:cNvSpPr/>
          <p:nvPr/>
        </p:nvSpPr>
        <p:spPr>
          <a:xfrm>
            <a:off x="7315200" y="2130552"/>
            <a:ext cx="310896" cy="310896"/>
          </a:xfrm>
          <a:prstGeom prst="ellipse">
            <a:avLst/>
          </a:prstGeom>
          <a:solidFill>
            <a:srgbClr val="4F80C1"/>
          </a:solidFill>
          <a:ln w="12700">
            <a:solidFill>
              <a:srgbClr val="4F80C1"/>
            </a:solidFill>
            <a:prstDash val="solid"/>
          </a:ln>
        </p:spPr>
      </p:sp>
      <p:sp>
        <p:nvSpPr>
          <p:cNvPr id="15" name="Text 12"/>
          <p:cNvSpPr/>
          <p:nvPr/>
        </p:nvSpPr>
        <p:spPr>
          <a:xfrm>
            <a:off x="7315200" y="218084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2</a:t>
            </a:r>
            <a:endParaRPr lang="en-US" sz="900" dirty="0"/>
          </a:p>
        </p:txBody>
      </p:sp>
      <p:sp>
        <p:nvSpPr>
          <p:cNvPr id="16" name="Text 13"/>
          <p:cNvSpPr/>
          <p:nvPr/>
        </p:nvSpPr>
        <p:spPr>
          <a:xfrm>
            <a:off x="7754112" y="212140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Filter to the page</a:t>
            </a:r>
            <a:endParaRPr lang="en-US" sz="1150" dirty="0"/>
          </a:p>
        </p:txBody>
      </p:sp>
      <p:sp>
        <p:nvSpPr>
          <p:cNvPr id="17" name="Text 14"/>
          <p:cNvSpPr/>
          <p:nvPr/>
        </p:nvSpPr>
        <p:spPr>
          <a:xfrm>
            <a:off x="7754112" y="235915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Find the exact metric name and source family.</a:t>
            </a:r>
            <a:endParaRPr lang="en-US" sz="940" dirty="0"/>
          </a:p>
        </p:txBody>
      </p:sp>
      <p:sp>
        <p:nvSpPr>
          <p:cNvPr id="18" name="Shape 15"/>
          <p:cNvSpPr/>
          <p:nvPr/>
        </p:nvSpPr>
        <p:spPr>
          <a:xfrm>
            <a:off x="7315200" y="2999232"/>
            <a:ext cx="310896" cy="310896"/>
          </a:xfrm>
          <a:prstGeom prst="ellipse">
            <a:avLst/>
          </a:prstGeom>
          <a:solidFill>
            <a:srgbClr val="168B82"/>
          </a:solidFill>
          <a:ln w="12700">
            <a:solidFill>
              <a:srgbClr val="168B82"/>
            </a:solidFill>
            <a:prstDash val="solid"/>
          </a:ln>
        </p:spPr>
      </p:sp>
      <p:sp>
        <p:nvSpPr>
          <p:cNvPr id="19" name="Text 16"/>
          <p:cNvSpPr/>
          <p:nvPr/>
        </p:nvSpPr>
        <p:spPr>
          <a:xfrm>
            <a:off x="7315200" y="304952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3</a:t>
            </a:r>
            <a:endParaRPr lang="en-US" sz="900" dirty="0"/>
          </a:p>
        </p:txBody>
      </p:sp>
      <p:sp>
        <p:nvSpPr>
          <p:cNvPr id="20" name="Text 17"/>
          <p:cNvSpPr/>
          <p:nvPr/>
        </p:nvSpPr>
        <p:spPr>
          <a:xfrm>
            <a:off x="7754112" y="299008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Read the calculation</a:t>
            </a:r>
            <a:endParaRPr lang="en-US" sz="1150" dirty="0"/>
          </a:p>
        </p:txBody>
      </p:sp>
      <p:sp>
        <p:nvSpPr>
          <p:cNvPr id="21" name="Text 18"/>
          <p:cNvSpPr/>
          <p:nvPr/>
        </p:nvSpPr>
        <p:spPr>
          <a:xfrm>
            <a:off x="7754112" y="322783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Confirm grain, denominator, and window behavior.</a:t>
            </a:r>
            <a:endParaRPr lang="en-US" sz="940" dirty="0"/>
          </a:p>
        </p:txBody>
      </p:sp>
      <p:sp>
        <p:nvSpPr>
          <p:cNvPr id="22" name="Shape 19"/>
          <p:cNvSpPr/>
          <p:nvPr/>
        </p:nvSpPr>
        <p:spPr>
          <a:xfrm>
            <a:off x="7315200" y="3867912"/>
            <a:ext cx="310896" cy="310896"/>
          </a:xfrm>
          <a:prstGeom prst="ellipse">
            <a:avLst/>
          </a:prstGeom>
          <a:solidFill>
            <a:srgbClr val="3A8F5B"/>
          </a:solidFill>
          <a:ln w="12700">
            <a:solidFill>
              <a:srgbClr val="3A8F5B"/>
            </a:solidFill>
            <a:prstDash val="solid"/>
          </a:ln>
        </p:spPr>
      </p:sp>
      <p:sp>
        <p:nvSpPr>
          <p:cNvPr id="23" name="Text 20"/>
          <p:cNvSpPr/>
          <p:nvPr/>
        </p:nvSpPr>
        <p:spPr>
          <a:xfrm>
            <a:off x="7315200" y="391820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4</a:t>
            </a:r>
            <a:endParaRPr lang="en-US" sz="900" dirty="0"/>
          </a:p>
        </p:txBody>
      </p:sp>
      <p:sp>
        <p:nvSpPr>
          <p:cNvPr id="24" name="Text 21"/>
          <p:cNvSpPr/>
          <p:nvPr/>
        </p:nvSpPr>
        <p:spPr>
          <a:xfrm>
            <a:off x="7754112" y="385876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Read the caveat</a:t>
            </a:r>
            <a:endParaRPr lang="en-US" sz="1150" dirty="0"/>
          </a:p>
        </p:txBody>
      </p:sp>
      <p:sp>
        <p:nvSpPr>
          <p:cNvPr id="25" name="Text 22"/>
          <p:cNvSpPr/>
          <p:nvPr/>
        </p:nvSpPr>
        <p:spPr>
          <a:xfrm>
            <a:off x="7754112" y="409651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Check privacy, optional fields, and evidence status.</a:t>
            </a:r>
            <a:endParaRPr lang="en-US" sz="940" dirty="0"/>
          </a:p>
        </p:txBody>
      </p:sp>
      <p:sp>
        <p:nvSpPr>
          <p:cNvPr id="26" name="Shape 23"/>
          <p:cNvSpPr/>
          <p:nvPr/>
        </p:nvSpPr>
        <p:spPr>
          <a:xfrm>
            <a:off x="7315200" y="4736592"/>
            <a:ext cx="310896" cy="310896"/>
          </a:xfrm>
          <a:prstGeom prst="ellipse">
            <a:avLst/>
          </a:prstGeom>
          <a:solidFill>
            <a:srgbClr val="D9872D"/>
          </a:solidFill>
          <a:ln w="12700">
            <a:solidFill>
              <a:srgbClr val="D9872D"/>
            </a:solidFill>
            <a:prstDash val="solid"/>
          </a:ln>
        </p:spPr>
      </p:sp>
      <p:sp>
        <p:nvSpPr>
          <p:cNvPr id="27" name="Text 24"/>
          <p:cNvSpPr/>
          <p:nvPr/>
        </p:nvSpPr>
        <p:spPr>
          <a:xfrm>
            <a:off x="7315200" y="4786884"/>
            <a:ext cx="310896"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5</a:t>
            </a:r>
            <a:endParaRPr lang="en-US" sz="900" dirty="0"/>
          </a:p>
        </p:txBody>
      </p:sp>
      <p:sp>
        <p:nvSpPr>
          <p:cNvPr id="28" name="Text 25"/>
          <p:cNvSpPr/>
          <p:nvPr/>
        </p:nvSpPr>
        <p:spPr>
          <a:xfrm>
            <a:off x="7754112" y="4727448"/>
            <a:ext cx="3813048" cy="219456"/>
          </a:xfrm>
          <a:prstGeom prst="rect">
            <a:avLst/>
          </a:prstGeom>
          <a:noFill/>
          <a:ln/>
        </p:spPr>
        <p:txBody>
          <a:bodyPr wrap="square" lIns="0" tIns="0" rIns="0" bIns="0" rtlCol="0" anchor="ctr"/>
          <a:lstStyle/>
          <a:p>
            <a:pPr indent="0" marL="0">
              <a:buNone/>
            </a:pPr>
            <a:r>
              <a:rPr lang="en-US" sz="1150" b="1" dirty="0">
                <a:solidFill>
                  <a:srgbClr val="172033"/>
                </a:solidFill>
                <a:latin typeface="Segoe UI Semibold" pitchFamily="34" charset="0"/>
                <a:ea typeface="Segoe UI Semibold" pitchFamily="34" charset="-122"/>
                <a:cs typeface="Segoe UI Semibold" pitchFamily="34" charset="-120"/>
              </a:rPr>
              <a:t>Copy the context</a:t>
            </a:r>
            <a:endParaRPr lang="en-US" sz="1150" dirty="0"/>
          </a:p>
        </p:txBody>
      </p:sp>
      <p:sp>
        <p:nvSpPr>
          <p:cNvPr id="29" name="Text 26"/>
          <p:cNvSpPr/>
          <p:nvPr/>
        </p:nvSpPr>
        <p:spPr>
          <a:xfrm>
            <a:off x="7754112" y="4965192"/>
            <a:ext cx="3813048" cy="429768"/>
          </a:xfrm>
          <a:prstGeom prst="rect">
            <a:avLst/>
          </a:prstGeom>
          <a:noFill/>
          <a:ln/>
        </p:spPr>
        <p:txBody>
          <a:bodyPr wrap="square" lIns="0" tIns="0" rIns="0" bIns="0" rtlCol="0" anchor="t"/>
          <a:lstStyle/>
          <a:p>
            <a:pPr indent="0" marL="0">
              <a:buNone/>
            </a:pPr>
            <a:r>
              <a:rPr lang="en-US" sz="940" dirty="0">
                <a:solidFill>
                  <a:srgbClr val="647084"/>
                </a:solidFill>
                <a:latin typeface="Segoe UI" pitchFamily="34" charset="0"/>
                <a:ea typeface="Segoe UI" pitchFamily="34" charset="-122"/>
                <a:cs typeface="Segoe UI" pitchFamily="34" charset="-120"/>
              </a:rPr>
              <a:t>Record the definition, filters, version, and source state.</a:t>
            </a:r>
            <a:endParaRPr lang="en-US" sz="940" dirty="0"/>
          </a:p>
        </p:txBody>
      </p:sp>
      <p:sp>
        <p:nvSpPr>
          <p:cNvPr id="30" name="Shape 27"/>
          <p:cNvSpPr/>
          <p:nvPr/>
        </p:nvSpPr>
        <p:spPr>
          <a:xfrm>
            <a:off x="594360" y="5925312"/>
            <a:ext cx="11018520" cy="438912"/>
          </a:xfrm>
          <a:prstGeom prst="roundRect">
            <a:avLst>
              <a:gd name="adj" fmla="val 12500"/>
            </a:avLst>
          </a:prstGeom>
          <a:solidFill>
            <a:srgbClr val="F7EEE4"/>
          </a:solidFill>
          <a:ln w="12700">
            <a:solidFill>
              <a:srgbClr val="E4C49A"/>
            </a:solidFill>
            <a:prstDash val="solid"/>
          </a:ln>
        </p:spPr>
      </p:sp>
      <p:sp>
        <p:nvSpPr>
          <p:cNvPr id="31" name="Text 28"/>
          <p:cNvSpPr/>
          <p:nvPr/>
        </p:nvSpPr>
        <p:spPr>
          <a:xfrm>
            <a:off x="749808" y="6053328"/>
            <a:ext cx="804672" cy="146304"/>
          </a:xfrm>
          <a:prstGeom prst="rect">
            <a:avLst/>
          </a:prstGeom>
          <a:noFill/>
          <a:ln/>
        </p:spPr>
        <p:txBody>
          <a:bodyPr wrap="square" lIns="0" tIns="0" rIns="0" bIns="0" rtlCol="0" anchor="ctr"/>
          <a:lstStyle/>
          <a:p>
            <a:pPr indent="0" marL="0">
              <a:buNone/>
            </a:pPr>
            <a:r>
              <a:rPr lang="en-US" sz="850" b="1" dirty="0">
                <a:solidFill>
                  <a:srgbClr val="D9872D"/>
                </a:solidFill>
                <a:latin typeface="Segoe UI Semibold" pitchFamily="34" charset="0"/>
                <a:ea typeface="Segoe UI Semibold" pitchFamily="34" charset="-122"/>
                <a:cs typeface="Segoe UI Semibold" pitchFamily="34" charset="-120"/>
              </a:rPr>
              <a:t>GUARDRAIL</a:t>
            </a:r>
            <a:endParaRPr lang="en-US" sz="850" dirty="0"/>
          </a:p>
        </p:txBody>
      </p:sp>
      <p:sp>
        <p:nvSpPr>
          <p:cNvPr id="32" name="Text 29"/>
          <p:cNvSpPr/>
          <p:nvPr/>
        </p:nvSpPr>
        <p:spPr>
          <a:xfrm>
            <a:off x="1600200" y="6007608"/>
            <a:ext cx="9784080" cy="210312"/>
          </a:xfrm>
          <a:prstGeom prst="rect">
            <a:avLst/>
          </a:prstGeom>
          <a:noFill/>
          <a:ln/>
        </p:spPr>
        <p:txBody>
          <a:bodyPr wrap="square" lIns="0" tIns="0" rIns="0" bIns="0" rtlCol="0" anchor="ctr"/>
          <a:lstStyle/>
          <a:p>
            <a:pPr indent="0" marL="0">
              <a:buNone/>
            </a:pPr>
            <a:r>
              <a:rPr lang="en-US" sz="930" dirty="0">
                <a:solidFill>
                  <a:srgbClr val="172033"/>
                </a:solidFill>
                <a:latin typeface="Segoe UI" pitchFamily="34" charset="0"/>
                <a:ea typeface="Segoe UI" pitchFamily="34" charset="-122"/>
                <a:cs typeface="Segoe UI" pitchFamily="34" charset="-120"/>
              </a:rPr>
              <a:t>Missing evidence means unavailable, not zero; a correct measure can still be unsuitable without context.</a:t>
            </a:r>
            <a:endParaRPr lang="en-US" sz="93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320040"/>
            <a:ext cx="8046720" cy="438912"/>
          </a:xfrm>
          <a:prstGeom prst="rect">
            <a:avLst/>
          </a:prstGeom>
          <a:noFill/>
          <a:ln/>
        </p:spPr>
        <p:txBody>
          <a:bodyPr wrap="square" lIns="0" tIns="0" rIns="0" bIns="0" rtlCol="0" anchor="ctr"/>
          <a:lstStyle/>
          <a:p>
            <a:pPr indent="0" marL="0">
              <a:buNone/>
            </a:pPr>
            <a:r>
              <a:rPr lang="en-US" sz="2600" b="1" dirty="0">
                <a:solidFill>
                  <a:srgbClr val="172033"/>
                </a:solidFill>
                <a:latin typeface="Segoe UI Semibold" pitchFamily="34" charset="0"/>
                <a:ea typeface="Segoe UI Semibold" pitchFamily="34" charset="-122"/>
                <a:cs typeface="Segoe UI Semibold" pitchFamily="34" charset="-120"/>
              </a:rPr>
              <a:t>Two connection options. One report experience.</a:t>
            </a:r>
            <a:endParaRPr lang="en-US" sz="2600" dirty="0"/>
          </a:p>
        </p:txBody>
      </p:sp>
      <p:sp>
        <p:nvSpPr>
          <p:cNvPr id="3" name="Text 1"/>
          <p:cNvSpPr/>
          <p:nvPr/>
        </p:nvSpPr>
        <p:spPr>
          <a:xfrm>
            <a:off x="502920" y="795528"/>
            <a:ext cx="10881360" cy="310896"/>
          </a:xfrm>
          <a:prstGeom prst="rect">
            <a:avLst/>
          </a:prstGeom>
          <a:noFill/>
          <a:ln/>
        </p:spPr>
        <p:txBody>
          <a:bodyPr wrap="square" lIns="0" tIns="0" rIns="0" bIns="0" rtlCol="0" anchor="ctr"/>
          <a:lstStyle/>
          <a:p>
            <a:pPr indent="0" marL="0">
              <a:buNone/>
            </a:pPr>
            <a:r>
              <a:rPr lang="en-US" sz="1200" dirty="0">
                <a:solidFill>
                  <a:srgbClr val="647084"/>
                </a:solidFill>
                <a:latin typeface="Segoe UI" pitchFamily="34" charset="0"/>
                <a:ea typeface="Segoe UI" pitchFamily="34" charset="-122"/>
                <a:cs typeface="Segoe UI" pitchFamily="34" charset="-120"/>
              </a:rPr>
              <a:t>Choose the implementation path without changing the visuals or interpretation</a:t>
            </a:r>
            <a:endParaRPr lang="en-US" sz="1200" dirty="0"/>
          </a:p>
        </p:txBody>
      </p:sp>
      <p:sp>
        <p:nvSpPr>
          <p:cNvPr id="4" name="Text 2"/>
          <p:cNvSpPr/>
          <p:nvPr/>
        </p:nvSpPr>
        <p:spPr>
          <a:xfrm>
            <a:off x="502920" y="6510528"/>
            <a:ext cx="3017520" cy="164592"/>
          </a:xfrm>
          <a:prstGeom prst="rect">
            <a:avLst/>
          </a:prstGeom>
          <a:noFill/>
          <a:ln/>
        </p:spPr>
        <p:txBody>
          <a:bodyPr wrap="square" lIns="0" tIns="0" rIns="0" bIns="0" rtlCol="0" anchor="ctr"/>
          <a:lstStyle/>
          <a:p>
            <a:pPr indent="0" marL="0">
              <a:buNone/>
            </a:pPr>
            <a:r>
              <a:rPr lang="en-US" sz="800" dirty="0">
                <a:solidFill>
                  <a:srgbClr val="647084"/>
                </a:solidFill>
                <a:latin typeface="Segoe UI" pitchFamily="34" charset="0"/>
                <a:ea typeface="Segoe UI" pitchFamily="34" charset="-122"/>
                <a:cs typeface="Segoe UI" pitchFamily="34" charset="-120"/>
              </a:rPr>
              <a:t>microsoft/CoworkSuperUser</a:t>
            </a:r>
            <a:endParaRPr lang="en-US" sz="800" dirty="0"/>
          </a:p>
        </p:txBody>
      </p:sp>
      <p:sp>
        <p:nvSpPr>
          <p:cNvPr id="5" name="Text 3"/>
          <p:cNvSpPr/>
          <p:nvPr/>
        </p:nvSpPr>
        <p:spPr>
          <a:xfrm>
            <a:off x="7772400" y="6510528"/>
            <a:ext cx="356616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Version 1.0 | Public | Operations</a:t>
            </a:r>
            <a:endParaRPr lang="en-US" sz="800" dirty="0"/>
          </a:p>
        </p:txBody>
      </p:sp>
      <p:sp>
        <p:nvSpPr>
          <p:cNvPr id="6" name="Text 4"/>
          <p:cNvSpPr/>
          <p:nvPr/>
        </p:nvSpPr>
        <p:spPr>
          <a:xfrm>
            <a:off x="11384280" y="6510528"/>
            <a:ext cx="32004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17</a:t>
            </a:r>
            <a:endParaRPr lang="en-US" sz="800" dirty="0"/>
          </a:p>
        </p:txBody>
      </p:sp>
      <p:sp>
        <p:nvSpPr>
          <p:cNvPr id="7" name="Shape 5"/>
          <p:cNvSpPr/>
          <p:nvPr/>
        </p:nvSpPr>
        <p:spPr>
          <a:xfrm>
            <a:off x="685800" y="1417320"/>
            <a:ext cx="5257800" cy="3337560"/>
          </a:xfrm>
          <a:prstGeom prst="roundRect">
            <a:avLst>
              <a:gd name="adj" fmla="val 2192"/>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8" name="Shape 6"/>
          <p:cNvSpPr/>
          <p:nvPr/>
        </p:nvSpPr>
        <p:spPr>
          <a:xfrm>
            <a:off x="685800" y="1417320"/>
            <a:ext cx="64008" cy="3337560"/>
          </a:xfrm>
          <a:prstGeom prst="rect">
            <a:avLst/>
          </a:prstGeom>
          <a:solidFill>
            <a:srgbClr val="6B4EA2"/>
          </a:solidFill>
          <a:ln w="12700">
            <a:solidFill>
              <a:srgbClr val="6B4EA2"/>
            </a:solidFill>
            <a:prstDash val="solid"/>
          </a:ln>
        </p:spPr>
      </p:sp>
      <p:sp>
        <p:nvSpPr>
          <p:cNvPr id="9" name="Text 7"/>
          <p:cNvSpPr/>
          <p:nvPr/>
        </p:nvSpPr>
        <p:spPr>
          <a:xfrm>
            <a:off x="886968" y="1545336"/>
            <a:ext cx="492861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Direct Query template</a:t>
            </a:r>
            <a:endParaRPr lang="en-US" sz="1300" dirty="0"/>
          </a:p>
        </p:txBody>
      </p:sp>
      <p:sp>
        <p:nvSpPr>
          <p:cNvPr id="10" name="Text 8"/>
          <p:cNvSpPr/>
          <p:nvPr/>
        </p:nvSpPr>
        <p:spPr>
          <a:xfrm>
            <a:off x="886968" y="1856232"/>
            <a:ext cx="4928616" cy="278892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Customer inputs</a:t>
            </a: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 Partition Identifier</a:t>
            </a: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 Person Query Identifier</a:t>
            </a: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 Consumption Query Identifier</a:t>
            </a:r>
            <a:endParaRPr lang="en-US" sz="1050" dirty="0"/>
          </a:p>
          <a:p>
            <a:pPr indent="0" marL="0">
              <a:buNone/>
            </a:pP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Best for</a:t>
            </a: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 Script-free setup</a:t>
            </a: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 Connector-only deployment</a:t>
            </a: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 Scheduled Power BI refresh</a:t>
            </a:r>
            <a:endParaRPr lang="en-US" sz="1050" dirty="0"/>
          </a:p>
          <a:p>
            <a:pPr indent="0" marL="0">
              <a:buNone/>
            </a:pP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Validated end-to-end load: about 1.9 minutes for the QA source.</a:t>
            </a:r>
            <a:endParaRPr lang="en-US" sz="1050" dirty="0"/>
          </a:p>
        </p:txBody>
      </p:sp>
      <p:sp>
        <p:nvSpPr>
          <p:cNvPr id="11" name="Shape 9"/>
          <p:cNvSpPr/>
          <p:nvPr/>
        </p:nvSpPr>
        <p:spPr>
          <a:xfrm>
            <a:off x="6245352" y="1417320"/>
            <a:ext cx="5257800" cy="3337560"/>
          </a:xfrm>
          <a:prstGeom prst="roundRect">
            <a:avLst>
              <a:gd name="adj" fmla="val 2192"/>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12" name="Shape 10"/>
          <p:cNvSpPr/>
          <p:nvPr/>
        </p:nvSpPr>
        <p:spPr>
          <a:xfrm>
            <a:off x="6245352" y="1417320"/>
            <a:ext cx="64008" cy="3337560"/>
          </a:xfrm>
          <a:prstGeom prst="rect">
            <a:avLst/>
          </a:prstGeom>
          <a:solidFill>
            <a:srgbClr val="168B82"/>
          </a:solidFill>
          <a:ln w="12700">
            <a:solidFill>
              <a:srgbClr val="168B82"/>
            </a:solidFill>
            <a:prstDash val="solid"/>
          </a:ln>
        </p:spPr>
      </p:sp>
      <p:sp>
        <p:nvSpPr>
          <p:cNvPr id="13" name="Text 11"/>
          <p:cNvSpPr/>
          <p:nvPr/>
        </p:nvSpPr>
        <p:spPr>
          <a:xfrm>
            <a:off x="6446520" y="1545336"/>
            <a:ext cx="492861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Optimized Export template</a:t>
            </a:r>
            <a:endParaRPr lang="en-US" sz="1300" dirty="0"/>
          </a:p>
        </p:txBody>
      </p:sp>
      <p:sp>
        <p:nvSpPr>
          <p:cNvPr id="14" name="Text 12"/>
          <p:cNvSpPr/>
          <p:nvPr/>
        </p:nvSpPr>
        <p:spPr>
          <a:xfrm>
            <a:off x="6446520" y="1856232"/>
            <a:ext cx="4928616" cy="278892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Customer inputs</a:t>
            </a: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 Partition Identifier</a:t>
            </a: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 Person Query Identifier</a:t>
            </a: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 Cowork consumption export folder</a:t>
            </a:r>
            <a:endParaRPr lang="en-US" sz="1050" dirty="0"/>
          </a:p>
          <a:p>
            <a:pPr indent="0" marL="0">
              <a:buNone/>
            </a:pP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Best for</a:t>
            </a: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 Fastest refresh</a:t>
            </a: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 Support fallback</a:t>
            </a: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 Controlled CSV handoff</a:t>
            </a:r>
            <a:endParaRPr lang="en-US" sz="1050" dirty="0"/>
          </a:p>
          <a:p>
            <a:pPr indent="0" marL="0">
              <a:buNone/>
            </a:pP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Validated end-to-end load: about 1.1 minutes for the QA source.</a:t>
            </a:r>
            <a:endParaRPr lang="en-US" sz="1050" dirty="0"/>
          </a:p>
        </p:txBody>
      </p:sp>
      <p:sp>
        <p:nvSpPr>
          <p:cNvPr id="15" name="Text 13"/>
          <p:cNvSpPr/>
          <p:nvPr/>
        </p:nvSpPr>
        <p:spPr>
          <a:xfrm>
            <a:off x="1097280" y="5074920"/>
            <a:ext cx="9966960" cy="320040"/>
          </a:xfrm>
          <a:prstGeom prst="rect">
            <a:avLst/>
          </a:prstGeom>
          <a:noFill/>
          <a:ln/>
        </p:spPr>
        <p:txBody>
          <a:bodyPr wrap="square" lIns="0" tIns="0" rIns="0" bIns="0" rtlCol="0" anchor="ctr"/>
          <a:lstStyle/>
          <a:p>
            <a:pPr algn="ctr" indent="0" marL="0">
              <a:buNone/>
            </a:pPr>
            <a:r>
              <a:rPr lang="en-US" sz="1500" dirty="0">
                <a:solidFill>
                  <a:srgbClr val="311F5E"/>
                </a:solidFill>
                <a:latin typeface="Segoe UI Semibold" pitchFamily="34" charset="0"/>
                <a:ea typeface="Segoe UI Semibold" pitchFamily="34" charset="-122"/>
                <a:cs typeface="Segoe UI Semibold" pitchFamily="34" charset="-120"/>
              </a:rPr>
              <a:t>Both files contain the same 9 pages | 39 bookmarks | 117 measures | Start Here experience</a:t>
            </a:r>
            <a:endParaRPr lang="en-US" sz="1500" dirty="0"/>
          </a:p>
        </p:txBody>
      </p:sp>
      <p:sp>
        <p:nvSpPr>
          <p:cNvPr id="16" name="Shape 14"/>
          <p:cNvSpPr/>
          <p:nvPr/>
        </p:nvSpPr>
        <p:spPr>
          <a:xfrm>
            <a:off x="594360" y="5925312"/>
            <a:ext cx="11018520" cy="438912"/>
          </a:xfrm>
          <a:prstGeom prst="roundRect">
            <a:avLst>
              <a:gd name="adj" fmla="val 12500"/>
            </a:avLst>
          </a:prstGeom>
          <a:solidFill>
            <a:srgbClr val="F7EEE4"/>
          </a:solidFill>
          <a:ln w="12700">
            <a:solidFill>
              <a:srgbClr val="E4C49A"/>
            </a:solidFill>
            <a:prstDash val="solid"/>
          </a:ln>
        </p:spPr>
      </p:sp>
      <p:sp>
        <p:nvSpPr>
          <p:cNvPr id="17" name="Text 15"/>
          <p:cNvSpPr/>
          <p:nvPr/>
        </p:nvSpPr>
        <p:spPr>
          <a:xfrm>
            <a:off x="749808" y="6053328"/>
            <a:ext cx="804672" cy="146304"/>
          </a:xfrm>
          <a:prstGeom prst="rect">
            <a:avLst/>
          </a:prstGeom>
          <a:noFill/>
          <a:ln/>
        </p:spPr>
        <p:txBody>
          <a:bodyPr wrap="square" lIns="0" tIns="0" rIns="0" bIns="0" rtlCol="0" anchor="ctr"/>
          <a:lstStyle/>
          <a:p>
            <a:pPr indent="0" marL="0">
              <a:buNone/>
            </a:pPr>
            <a:r>
              <a:rPr lang="en-US" sz="850" b="1" dirty="0">
                <a:solidFill>
                  <a:srgbClr val="D9872D"/>
                </a:solidFill>
                <a:latin typeface="Segoe UI Semibold" pitchFamily="34" charset="0"/>
                <a:ea typeface="Segoe UI Semibold" pitchFamily="34" charset="-122"/>
                <a:cs typeface="Segoe UI Semibold" pitchFamily="34" charset="-120"/>
              </a:rPr>
              <a:t>GUARDRAIL</a:t>
            </a:r>
            <a:endParaRPr lang="en-US" sz="850" dirty="0"/>
          </a:p>
        </p:txBody>
      </p:sp>
      <p:sp>
        <p:nvSpPr>
          <p:cNvPr id="18" name="Text 16"/>
          <p:cNvSpPr/>
          <p:nvPr/>
        </p:nvSpPr>
        <p:spPr>
          <a:xfrm>
            <a:off x="1600200" y="6007608"/>
            <a:ext cx="9784080" cy="210312"/>
          </a:xfrm>
          <a:prstGeom prst="rect">
            <a:avLst/>
          </a:prstGeom>
          <a:noFill/>
          <a:ln/>
        </p:spPr>
        <p:txBody>
          <a:bodyPr wrap="square" lIns="0" tIns="0" rIns="0" bIns="0" rtlCol="0" anchor="ctr"/>
          <a:lstStyle/>
          <a:p>
            <a:pPr indent="0" marL="0">
              <a:buNone/>
            </a:pPr>
            <a:r>
              <a:rPr lang="en-US" sz="930" dirty="0">
                <a:solidFill>
                  <a:srgbClr val="172033"/>
                </a:solidFill>
                <a:latin typeface="Segoe UI" pitchFamily="34" charset="0"/>
                <a:ea typeface="Segoe UI" pitchFamily="34" charset="-122"/>
                <a:cs typeface="Segoe UI" pitchFamily="34" charset="-120"/>
              </a:rPr>
              <a:t>The connector template imports saved-query results during refresh; it is not Tabular DirectQuery storage mode.</a:t>
            </a:r>
            <a:endParaRPr lang="en-US" sz="93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311F5E"/>
        </a:solidFill>
      </p:bgPr>
    </p:bg>
    <p:spTree>
      <p:nvGrpSpPr>
        <p:cNvPr id="1" name=""/>
        <p:cNvGrpSpPr/>
        <p:nvPr/>
      </p:nvGrpSpPr>
      <p:grpSpPr>
        <a:xfrm>
          <a:off x="0" y="0"/>
          <a:ext cx="0" cy="0"/>
          <a:chOff x="0" y="0"/>
          <a:chExt cx="0" cy="0"/>
        </a:xfrm>
      </p:grpSpPr>
      <p:sp>
        <p:nvSpPr>
          <p:cNvPr id="2" name="Shape 0"/>
          <p:cNvSpPr/>
          <p:nvPr/>
        </p:nvSpPr>
        <p:spPr>
          <a:xfrm>
            <a:off x="8229600" y="-1097280"/>
            <a:ext cx="5212080" cy="5212080"/>
          </a:xfrm>
          <a:prstGeom prst="ellipse">
            <a:avLst/>
          </a:prstGeom>
          <a:solidFill>
            <a:srgbClr val="6B4EA2">
              <a:alpha val="65000"/>
            </a:srgbClr>
          </a:solidFill>
          <a:ln w="12700">
            <a:solidFill>
              <a:srgbClr val="6B4EA2">
                <a:alpha val="0"/>
              </a:srgbClr>
            </a:solidFill>
            <a:prstDash val="solid"/>
          </a:ln>
        </p:spPr>
      </p:sp>
      <p:sp>
        <p:nvSpPr>
          <p:cNvPr id="3" name="Shape 1"/>
          <p:cNvSpPr/>
          <p:nvPr/>
        </p:nvSpPr>
        <p:spPr>
          <a:xfrm>
            <a:off x="658368" y="640080"/>
            <a:ext cx="1417320" cy="310896"/>
          </a:xfrm>
          <a:prstGeom prst="roundRect">
            <a:avLst>
              <a:gd name="adj" fmla="val 23529"/>
            </a:avLst>
          </a:prstGeom>
          <a:solidFill>
            <a:srgbClr val="168B82"/>
          </a:solidFill>
          <a:ln w="12700">
            <a:solidFill>
              <a:srgbClr val="168B82"/>
            </a:solidFill>
            <a:prstDash val="solid"/>
          </a:ln>
        </p:spPr>
      </p:sp>
      <p:sp>
        <p:nvSpPr>
          <p:cNvPr id="4" name="Text 2"/>
          <p:cNvSpPr/>
          <p:nvPr/>
        </p:nvSpPr>
        <p:spPr>
          <a:xfrm>
            <a:off x="731520" y="694944"/>
            <a:ext cx="1271016" cy="155448"/>
          </a:xfrm>
          <a:prstGeom prst="rect">
            <a:avLst/>
          </a:prstGeom>
          <a:noFill/>
          <a:ln/>
        </p:spPr>
        <p:txBody>
          <a:bodyPr wrap="square" lIns="0" tIns="0" rIns="0" bIns="0" rtlCol="0" anchor="ctr"/>
          <a:lstStyle/>
          <a:p>
            <a:pPr algn="ctr" indent="0" marL="0">
              <a:buNone/>
            </a:pPr>
            <a:r>
              <a:rPr lang="en-US" sz="900" b="1" dirty="0">
                <a:solidFill>
                  <a:srgbClr val="FFFFFF"/>
                </a:solidFill>
                <a:latin typeface="Segoe UI Semibold" pitchFamily="34" charset="0"/>
                <a:ea typeface="Segoe UI Semibold" pitchFamily="34" charset="-122"/>
                <a:cs typeface="Segoe UI Semibold" pitchFamily="34" charset="-120"/>
              </a:rPr>
              <a:t>SECTION 2</a:t>
            </a:r>
            <a:endParaRPr lang="en-US" sz="900" dirty="0"/>
          </a:p>
        </p:txBody>
      </p:sp>
      <p:sp>
        <p:nvSpPr>
          <p:cNvPr id="5" name="Text 3"/>
          <p:cNvSpPr/>
          <p:nvPr/>
        </p:nvSpPr>
        <p:spPr>
          <a:xfrm>
            <a:off x="658368" y="1325880"/>
            <a:ext cx="7955280" cy="914400"/>
          </a:xfrm>
          <a:prstGeom prst="rect">
            <a:avLst/>
          </a:prstGeom>
          <a:noFill/>
          <a:ln/>
        </p:spPr>
        <p:txBody>
          <a:bodyPr wrap="square" lIns="0" tIns="0" rIns="0" bIns="0" rtlCol="0" anchor="ctr"/>
          <a:lstStyle/>
          <a:p>
            <a:pPr indent="0" marL="0">
              <a:buNone/>
            </a:pPr>
            <a:r>
              <a:rPr lang="en-US" sz="3400" b="1" dirty="0">
                <a:solidFill>
                  <a:srgbClr val="FFFFFF"/>
                </a:solidFill>
                <a:latin typeface="Segoe UI Semibold" pitchFamily="34" charset="0"/>
                <a:ea typeface="Segoe UI Semibold" pitchFamily="34" charset="-122"/>
                <a:cs typeface="Segoe UI Semibold" pitchFamily="34" charset="-120"/>
              </a:rPr>
              <a:t>Methodology and operating controls</a:t>
            </a:r>
            <a:endParaRPr lang="en-US" sz="3400" dirty="0"/>
          </a:p>
        </p:txBody>
      </p:sp>
      <p:sp>
        <p:nvSpPr>
          <p:cNvPr id="6" name="Text 4"/>
          <p:cNvSpPr/>
          <p:nvPr/>
        </p:nvSpPr>
        <p:spPr>
          <a:xfrm>
            <a:off x="658368" y="2423160"/>
            <a:ext cx="7223760" cy="914400"/>
          </a:xfrm>
          <a:prstGeom prst="rect">
            <a:avLst/>
          </a:prstGeom>
          <a:noFill/>
          <a:ln/>
        </p:spPr>
        <p:txBody>
          <a:bodyPr wrap="square" lIns="0" tIns="0" rIns="0" bIns="0" rtlCol="0" anchor="ctr"/>
          <a:lstStyle/>
          <a:p>
            <a:pPr indent="0" marL="0">
              <a:buNone/>
            </a:pPr>
            <a:r>
              <a:rPr lang="en-US" sz="1800" dirty="0">
                <a:solidFill>
                  <a:srgbClr val="DCD3EC"/>
                </a:solidFill>
                <a:latin typeface="Segoe UI" pitchFamily="34" charset="0"/>
                <a:ea typeface="Segoe UI" pitchFamily="34" charset="-122"/>
                <a:cs typeface="Segoe UI" pitchFamily="34" charset="-120"/>
              </a:rPr>
              <a:t>Understand the windows, thresholds, populations, privacy rules, source checks, and deployment sequence behind the visuals.</a:t>
            </a:r>
            <a:endParaRPr lang="en-US" sz="1800" dirty="0"/>
          </a:p>
        </p:txBody>
      </p:sp>
      <p:sp>
        <p:nvSpPr>
          <p:cNvPr id="7" name="Text 5"/>
          <p:cNvSpPr/>
          <p:nvPr/>
        </p:nvSpPr>
        <p:spPr>
          <a:xfrm>
            <a:off x="658368" y="5230368"/>
            <a:ext cx="6217920" cy="320040"/>
          </a:xfrm>
          <a:prstGeom prst="rect">
            <a:avLst/>
          </a:prstGeom>
          <a:noFill/>
          <a:ln/>
        </p:spPr>
        <p:txBody>
          <a:bodyPr wrap="square" lIns="0" tIns="0" rIns="0" bIns="0" rtlCol="0" anchor="ctr"/>
          <a:lstStyle/>
          <a:p>
            <a:pPr indent="0" marL="0">
              <a:buNone/>
            </a:pPr>
            <a:r>
              <a:rPr lang="en-US" sz="1300" dirty="0">
                <a:solidFill>
                  <a:srgbClr val="BBA9D8"/>
                </a:solidFill>
                <a:latin typeface="Segoe UI Semibold" pitchFamily="34" charset="0"/>
                <a:ea typeface="Segoe UI Semibold" pitchFamily="34" charset="-122"/>
                <a:cs typeface="Segoe UI Semibold" pitchFamily="34" charset="-120"/>
              </a:rPr>
              <a:t>Purpose  |  Read  |  Diagnose  |  Act  |  Guardrail</a:t>
            </a:r>
            <a:endParaRPr lang="en-US" sz="1300" dirty="0"/>
          </a:p>
        </p:txBody>
      </p:sp>
      <p:sp>
        <p:nvSpPr>
          <p:cNvPr id="8" name="Text 6"/>
          <p:cNvSpPr/>
          <p:nvPr/>
        </p:nvSpPr>
        <p:spPr>
          <a:xfrm>
            <a:off x="658368" y="6172200"/>
            <a:ext cx="4114800" cy="182880"/>
          </a:xfrm>
          <a:prstGeom prst="rect">
            <a:avLst/>
          </a:prstGeom>
          <a:noFill/>
          <a:ln/>
        </p:spPr>
        <p:txBody>
          <a:bodyPr wrap="square" lIns="0" tIns="0" rIns="0" bIns="0" rtlCol="0" anchor="ctr"/>
          <a:lstStyle/>
          <a:p>
            <a:pPr indent="0" marL="0">
              <a:buNone/>
            </a:pPr>
            <a:r>
              <a:rPr lang="en-US" sz="900" dirty="0">
                <a:solidFill>
                  <a:srgbClr val="BBA9D8"/>
                </a:solidFill>
                <a:latin typeface="Segoe UI" pitchFamily="34" charset="0"/>
                <a:ea typeface="Segoe UI" pitchFamily="34" charset="-122"/>
                <a:cs typeface="Segoe UI" pitchFamily="34" charset="-120"/>
              </a:rPr>
              <a:t>CoworkSuperUser | Version 1.0 | Public</a:t>
            </a:r>
            <a:endParaRPr lang="en-US" sz="900" dirty="0"/>
          </a:p>
        </p:txBody>
      </p:sp>
      <p:sp>
        <p:nvSpPr>
          <p:cNvPr id="9" name="Text 7"/>
          <p:cNvSpPr/>
          <p:nvPr/>
        </p:nvSpPr>
        <p:spPr>
          <a:xfrm>
            <a:off x="11292840" y="6172200"/>
            <a:ext cx="320040" cy="182880"/>
          </a:xfrm>
          <a:prstGeom prst="rect">
            <a:avLst/>
          </a:prstGeom>
          <a:noFill/>
          <a:ln/>
        </p:spPr>
        <p:txBody>
          <a:bodyPr wrap="square" lIns="0" tIns="0" rIns="0" bIns="0" rtlCol="0" anchor="ctr"/>
          <a:lstStyle/>
          <a:p>
            <a:pPr algn="r" indent="0" marL="0">
              <a:buNone/>
            </a:pPr>
            <a:r>
              <a:rPr lang="en-US" sz="900" dirty="0">
                <a:solidFill>
                  <a:srgbClr val="BBA9D8"/>
                </a:solidFill>
                <a:latin typeface="Segoe UI" pitchFamily="34" charset="0"/>
                <a:ea typeface="Segoe UI" pitchFamily="34" charset="-122"/>
                <a:cs typeface="Segoe U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320040"/>
            <a:ext cx="8046720" cy="438912"/>
          </a:xfrm>
          <a:prstGeom prst="rect">
            <a:avLst/>
          </a:prstGeom>
          <a:noFill/>
          <a:ln/>
        </p:spPr>
        <p:txBody>
          <a:bodyPr wrap="square" lIns="0" tIns="0" rIns="0" bIns="0" rtlCol="0" anchor="ctr"/>
          <a:lstStyle/>
          <a:p>
            <a:pPr indent="0" marL="0">
              <a:buNone/>
            </a:pPr>
            <a:r>
              <a:rPr lang="en-US" sz="2600" b="1" dirty="0">
                <a:solidFill>
                  <a:srgbClr val="172033"/>
                </a:solidFill>
                <a:latin typeface="Segoe UI Semibold" pitchFamily="34" charset="0"/>
                <a:ea typeface="Segoe UI Semibold" pitchFamily="34" charset="-122"/>
                <a:cs typeface="Segoe UI Semibold" pitchFamily="34" charset="-120"/>
              </a:rPr>
              <a:t>Methodology | Available-history usage stages</a:t>
            </a:r>
            <a:endParaRPr lang="en-US" sz="2600" dirty="0"/>
          </a:p>
        </p:txBody>
      </p:sp>
      <p:sp>
        <p:nvSpPr>
          <p:cNvPr id="3" name="Text 1"/>
          <p:cNvSpPr/>
          <p:nvPr/>
        </p:nvSpPr>
        <p:spPr>
          <a:xfrm>
            <a:off x="502920" y="795528"/>
            <a:ext cx="10881360" cy="310896"/>
          </a:xfrm>
          <a:prstGeom prst="rect">
            <a:avLst/>
          </a:prstGeom>
          <a:noFill/>
          <a:ln/>
        </p:spPr>
        <p:txBody>
          <a:bodyPr wrap="square" lIns="0" tIns="0" rIns="0" bIns="0" rtlCol="0" anchor="ctr"/>
          <a:lstStyle/>
          <a:p>
            <a:pPr indent="0" marL="0">
              <a:buNone/>
            </a:pPr>
            <a:r>
              <a:rPr lang="en-US" sz="1200" dirty="0">
                <a:solidFill>
                  <a:srgbClr val="647084"/>
                </a:solidFill>
                <a:latin typeface="Segoe UI" pitchFamily="34" charset="0"/>
                <a:ea typeface="Segoe UI" pitchFamily="34" charset="-122"/>
                <a:cs typeface="Segoe UI" pitchFamily="34" charset="-120"/>
              </a:rPr>
              <a:t>Stages use covered Cowork weeks up to the selected 4- or 12-week cap</a:t>
            </a:r>
            <a:endParaRPr lang="en-US" sz="1200" dirty="0"/>
          </a:p>
        </p:txBody>
      </p:sp>
      <p:sp>
        <p:nvSpPr>
          <p:cNvPr id="4" name="Text 2"/>
          <p:cNvSpPr/>
          <p:nvPr/>
        </p:nvSpPr>
        <p:spPr>
          <a:xfrm>
            <a:off x="502920" y="6510528"/>
            <a:ext cx="3017520" cy="164592"/>
          </a:xfrm>
          <a:prstGeom prst="rect">
            <a:avLst/>
          </a:prstGeom>
          <a:noFill/>
          <a:ln/>
        </p:spPr>
        <p:txBody>
          <a:bodyPr wrap="square" lIns="0" tIns="0" rIns="0" bIns="0" rtlCol="0" anchor="ctr"/>
          <a:lstStyle/>
          <a:p>
            <a:pPr indent="0" marL="0">
              <a:buNone/>
            </a:pPr>
            <a:r>
              <a:rPr lang="en-US" sz="800" dirty="0">
                <a:solidFill>
                  <a:srgbClr val="647084"/>
                </a:solidFill>
                <a:latin typeface="Segoe UI" pitchFamily="34" charset="0"/>
                <a:ea typeface="Segoe UI" pitchFamily="34" charset="-122"/>
                <a:cs typeface="Segoe UI" pitchFamily="34" charset="-120"/>
              </a:rPr>
              <a:t>microsoft/CoworkSuperUser</a:t>
            </a:r>
            <a:endParaRPr lang="en-US" sz="800" dirty="0"/>
          </a:p>
        </p:txBody>
      </p:sp>
      <p:sp>
        <p:nvSpPr>
          <p:cNvPr id="5" name="Text 3"/>
          <p:cNvSpPr/>
          <p:nvPr/>
        </p:nvSpPr>
        <p:spPr>
          <a:xfrm>
            <a:off x="7772400" y="6510528"/>
            <a:ext cx="356616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Version 1.0 | Public | Methodology</a:t>
            </a:r>
            <a:endParaRPr lang="en-US" sz="800" dirty="0"/>
          </a:p>
        </p:txBody>
      </p:sp>
      <p:sp>
        <p:nvSpPr>
          <p:cNvPr id="6" name="Text 4"/>
          <p:cNvSpPr/>
          <p:nvPr/>
        </p:nvSpPr>
        <p:spPr>
          <a:xfrm>
            <a:off x="11384280" y="6510528"/>
            <a:ext cx="32004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19</a:t>
            </a:r>
            <a:endParaRPr lang="en-US" sz="800" dirty="0"/>
          </a:p>
        </p:txBody>
      </p:sp>
      <p:sp>
        <p:nvSpPr>
          <p:cNvPr id="7" name="Shape 5"/>
          <p:cNvSpPr/>
          <p:nvPr/>
        </p:nvSpPr>
        <p:spPr>
          <a:xfrm>
            <a:off x="502920" y="1417320"/>
            <a:ext cx="2029968" cy="1554480"/>
          </a:xfrm>
          <a:prstGeom prst="roundRect">
            <a:avLst>
              <a:gd name="adj" fmla="val 4706"/>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8" name="Shape 6"/>
          <p:cNvSpPr/>
          <p:nvPr/>
        </p:nvSpPr>
        <p:spPr>
          <a:xfrm>
            <a:off x="502920" y="1417320"/>
            <a:ext cx="64008" cy="1554480"/>
          </a:xfrm>
          <a:prstGeom prst="rect">
            <a:avLst/>
          </a:prstGeom>
          <a:solidFill>
            <a:srgbClr val="311F5E"/>
          </a:solidFill>
          <a:ln w="12700">
            <a:solidFill>
              <a:srgbClr val="311F5E"/>
            </a:solidFill>
            <a:prstDash val="solid"/>
          </a:ln>
        </p:spPr>
      </p:sp>
      <p:sp>
        <p:nvSpPr>
          <p:cNvPr id="9" name="Text 7"/>
          <p:cNvSpPr/>
          <p:nvPr/>
        </p:nvSpPr>
        <p:spPr>
          <a:xfrm>
            <a:off x="704088" y="1545336"/>
            <a:ext cx="1700784"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Power User</a:t>
            </a:r>
            <a:endParaRPr lang="en-US" sz="1300" dirty="0"/>
          </a:p>
        </p:txBody>
      </p:sp>
      <p:sp>
        <p:nvSpPr>
          <p:cNvPr id="10" name="Text 8"/>
          <p:cNvSpPr/>
          <p:nvPr/>
        </p:nvSpPr>
        <p:spPr>
          <a:xfrm>
            <a:off x="704088" y="1856232"/>
            <a:ext cx="1700784" cy="100584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At least 75% active weeks</a:t>
            </a: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and at least 6 average sessions/week</a:t>
            </a:r>
            <a:endParaRPr lang="en-US" sz="1050" dirty="0"/>
          </a:p>
        </p:txBody>
      </p:sp>
      <p:sp>
        <p:nvSpPr>
          <p:cNvPr id="11" name="Shape 9"/>
          <p:cNvSpPr/>
          <p:nvPr/>
        </p:nvSpPr>
        <p:spPr>
          <a:xfrm>
            <a:off x="2807208" y="1417320"/>
            <a:ext cx="2029968" cy="1554480"/>
          </a:xfrm>
          <a:prstGeom prst="roundRect">
            <a:avLst>
              <a:gd name="adj" fmla="val 4706"/>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12" name="Shape 10"/>
          <p:cNvSpPr/>
          <p:nvPr/>
        </p:nvSpPr>
        <p:spPr>
          <a:xfrm>
            <a:off x="2807208" y="1417320"/>
            <a:ext cx="64008" cy="1554480"/>
          </a:xfrm>
          <a:prstGeom prst="rect">
            <a:avLst/>
          </a:prstGeom>
          <a:solidFill>
            <a:srgbClr val="6B4EA2"/>
          </a:solidFill>
          <a:ln w="12700">
            <a:solidFill>
              <a:srgbClr val="6B4EA2"/>
            </a:solidFill>
            <a:prstDash val="solid"/>
          </a:ln>
        </p:spPr>
      </p:sp>
      <p:sp>
        <p:nvSpPr>
          <p:cNvPr id="13" name="Text 11"/>
          <p:cNvSpPr/>
          <p:nvPr/>
        </p:nvSpPr>
        <p:spPr>
          <a:xfrm>
            <a:off x="3008376" y="1545336"/>
            <a:ext cx="1700784"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Habitual User</a:t>
            </a:r>
            <a:endParaRPr lang="en-US" sz="1300" dirty="0"/>
          </a:p>
        </p:txBody>
      </p:sp>
      <p:sp>
        <p:nvSpPr>
          <p:cNvPr id="14" name="Text 12"/>
          <p:cNvSpPr/>
          <p:nvPr/>
        </p:nvSpPr>
        <p:spPr>
          <a:xfrm>
            <a:off x="3008376" y="1856232"/>
            <a:ext cx="1700784" cy="100584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At least 75% active weeks</a:t>
            </a: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below the Power threshold</a:t>
            </a:r>
            <a:endParaRPr lang="en-US" sz="1050" dirty="0"/>
          </a:p>
        </p:txBody>
      </p:sp>
      <p:sp>
        <p:nvSpPr>
          <p:cNvPr id="15" name="Shape 13"/>
          <p:cNvSpPr/>
          <p:nvPr/>
        </p:nvSpPr>
        <p:spPr>
          <a:xfrm>
            <a:off x="5111496" y="1417320"/>
            <a:ext cx="2029968" cy="1554480"/>
          </a:xfrm>
          <a:prstGeom prst="roundRect">
            <a:avLst>
              <a:gd name="adj" fmla="val 4706"/>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16" name="Shape 14"/>
          <p:cNvSpPr/>
          <p:nvPr/>
        </p:nvSpPr>
        <p:spPr>
          <a:xfrm>
            <a:off x="5111496" y="1417320"/>
            <a:ext cx="64008" cy="1554480"/>
          </a:xfrm>
          <a:prstGeom prst="rect">
            <a:avLst/>
          </a:prstGeom>
          <a:solidFill>
            <a:srgbClr val="4F80C1"/>
          </a:solidFill>
          <a:ln w="12700">
            <a:solidFill>
              <a:srgbClr val="4F80C1"/>
            </a:solidFill>
            <a:prstDash val="solid"/>
          </a:ln>
        </p:spPr>
      </p:sp>
      <p:sp>
        <p:nvSpPr>
          <p:cNvPr id="17" name="Text 15"/>
          <p:cNvSpPr/>
          <p:nvPr/>
        </p:nvSpPr>
        <p:spPr>
          <a:xfrm>
            <a:off x="5312664" y="1545336"/>
            <a:ext cx="1700784"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Developing User</a:t>
            </a:r>
            <a:endParaRPr lang="en-US" sz="1300" dirty="0"/>
          </a:p>
        </p:txBody>
      </p:sp>
      <p:sp>
        <p:nvSpPr>
          <p:cNvPr id="18" name="Text 16"/>
          <p:cNvSpPr/>
          <p:nvPr/>
        </p:nvSpPr>
        <p:spPr>
          <a:xfrm>
            <a:off x="5312664" y="1856232"/>
            <a:ext cx="1700784" cy="100584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25%-74% active weeks</a:t>
            </a:r>
            <a:endParaRPr lang="en-US" sz="1050" dirty="0"/>
          </a:p>
        </p:txBody>
      </p:sp>
      <p:sp>
        <p:nvSpPr>
          <p:cNvPr id="19" name="Shape 17"/>
          <p:cNvSpPr/>
          <p:nvPr/>
        </p:nvSpPr>
        <p:spPr>
          <a:xfrm>
            <a:off x="7415784" y="1417320"/>
            <a:ext cx="2029968" cy="1554480"/>
          </a:xfrm>
          <a:prstGeom prst="roundRect">
            <a:avLst>
              <a:gd name="adj" fmla="val 4706"/>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20" name="Shape 18"/>
          <p:cNvSpPr/>
          <p:nvPr/>
        </p:nvSpPr>
        <p:spPr>
          <a:xfrm>
            <a:off x="7415784" y="1417320"/>
            <a:ext cx="64008" cy="1554480"/>
          </a:xfrm>
          <a:prstGeom prst="rect">
            <a:avLst/>
          </a:prstGeom>
          <a:solidFill>
            <a:srgbClr val="168B82"/>
          </a:solidFill>
          <a:ln w="12700">
            <a:solidFill>
              <a:srgbClr val="168B82"/>
            </a:solidFill>
            <a:prstDash val="solid"/>
          </a:ln>
        </p:spPr>
      </p:sp>
      <p:sp>
        <p:nvSpPr>
          <p:cNvPr id="21" name="Text 19"/>
          <p:cNvSpPr/>
          <p:nvPr/>
        </p:nvSpPr>
        <p:spPr>
          <a:xfrm>
            <a:off x="7616952" y="1545336"/>
            <a:ext cx="1700784"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Low-user</a:t>
            </a:r>
            <a:endParaRPr lang="en-US" sz="1300" dirty="0"/>
          </a:p>
        </p:txBody>
      </p:sp>
      <p:sp>
        <p:nvSpPr>
          <p:cNvPr id="22" name="Text 20"/>
          <p:cNvSpPr/>
          <p:nvPr/>
        </p:nvSpPr>
        <p:spPr>
          <a:xfrm>
            <a:off x="7616952" y="1856232"/>
            <a:ext cx="1700784" cy="100584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&lt;25% active weeks</a:t>
            </a: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but at least one session</a:t>
            </a:r>
            <a:endParaRPr lang="en-US" sz="1050" dirty="0"/>
          </a:p>
        </p:txBody>
      </p:sp>
      <p:sp>
        <p:nvSpPr>
          <p:cNvPr id="23" name="Shape 21"/>
          <p:cNvSpPr/>
          <p:nvPr/>
        </p:nvSpPr>
        <p:spPr>
          <a:xfrm>
            <a:off x="9720072" y="1417320"/>
            <a:ext cx="2029968" cy="1554480"/>
          </a:xfrm>
          <a:prstGeom prst="roundRect">
            <a:avLst>
              <a:gd name="adj" fmla="val 4706"/>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24" name="Shape 22"/>
          <p:cNvSpPr/>
          <p:nvPr/>
        </p:nvSpPr>
        <p:spPr>
          <a:xfrm>
            <a:off x="9720072" y="1417320"/>
            <a:ext cx="64008" cy="1554480"/>
          </a:xfrm>
          <a:prstGeom prst="rect">
            <a:avLst/>
          </a:prstGeom>
          <a:solidFill>
            <a:srgbClr val="8A8F9A"/>
          </a:solidFill>
          <a:ln w="12700">
            <a:solidFill>
              <a:srgbClr val="8A8F9A"/>
            </a:solidFill>
            <a:prstDash val="solid"/>
          </a:ln>
        </p:spPr>
      </p:sp>
      <p:sp>
        <p:nvSpPr>
          <p:cNvPr id="25" name="Text 23"/>
          <p:cNvSpPr/>
          <p:nvPr/>
        </p:nvSpPr>
        <p:spPr>
          <a:xfrm>
            <a:off x="9921240" y="1545336"/>
            <a:ext cx="1700784"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Non-user</a:t>
            </a:r>
            <a:endParaRPr lang="en-US" sz="1300" dirty="0"/>
          </a:p>
        </p:txBody>
      </p:sp>
      <p:sp>
        <p:nvSpPr>
          <p:cNvPr id="26" name="Text 24"/>
          <p:cNvSpPr/>
          <p:nvPr/>
        </p:nvSpPr>
        <p:spPr>
          <a:xfrm>
            <a:off x="9921240" y="1856232"/>
            <a:ext cx="1700784" cy="100584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No positive Cowork session</a:t>
            </a:r>
            <a:endParaRPr lang="en-US" sz="1050" dirty="0"/>
          </a:p>
        </p:txBody>
      </p:sp>
      <p:sp>
        <p:nvSpPr>
          <p:cNvPr id="27" name="Shape 25"/>
          <p:cNvSpPr/>
          <p:nvPr/>
        </p:nvSpPr>
        <p:spPr>
          <a:xfrm>
            <a:off x="685800" y="3429000"/>
            <a:ext cx="3383280" cy="1325880"/>
          </a:xfrm>
          <a:prstGeom prst="roundRect">
            <a:avLst>
              <a:gd name="adj" fmla="val 5517"/>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28" name="Shape 26"/>
          <p:cNvSpPr/>
          <p:nvPr/>
        </p:nvSpPr>
        <p:spPr>
          <a:xfrm>
            <a:off x="685800" y="3429000"/>
            <a:ext cx="64008" cy="1325880"/>
          </a:xfrm>
          <a:prstGeom prst="rect">
            <a:avLst/>
          </a:prstGeom>
          <a:solidFill>
            <a:srgbClr val="4F80C1"/>
          </a:solidFill>
          <a:ln w="12700">
            <a:solidFill>
              <a:srgbClr val="4F80C1"/>
            </a:solidFill>
            <a:prstDash val="solid"/>
          </a:ln>
        </p:spPr>
      </p:sp>
      <p:sp>
        <p:nvSpPr>
          <p:cNvPr id="29" name="Text 27"/>
          <p:cNvSpPr/>
          <p:nvPr/>
        </p:nvSpPr>
        <p:spPr>
          <a:xfrm>
            <a:off x="886968" y="3557016"/>
            <a:ext cx="305409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Up to 4 weeks</a:t>
            </a:r>
            <a:endParaRPr lang="en-US" sz="1300" dirty="0"/>
          </a:p>
        </p:txBody>
      </p:sp>
      <p:sp>
        <p:nvSpPr>
          <p:cNvPr id="30" name="Text 28"/>
          <p:cNvSpPr/>
          <p:nvPr/>
        </p:nvSpPr>
        <p:spPr>
          <a:xfrm>
            <a:off x="886968" y="3867912"/>
            <a:ext cx="3054096" cy="77724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Default. Loads from the first covered week and becomes fully populated at four weeks.</a:t>
            </a:r>
            <a:endParaRPr lang="en-US" sz="1050" dirty="0"/>
          </a:p>
        </p:txBody>
      </p:sp>
      <p:sp>
        <p:nvSpPr>
          <p:cNvPr id="31" name="Shape 29"/>
          <p:cNvSpPr/>
          <p:nvPr/>
        </p:nvSpPr>
        <p:spPr>
          <a:xfrm>
            <a:off x="4407408" y="3429000"/>
            <a:ext cx="3383280" cy="1325880"/>
          </a:xfrm>
          <a:prstGeom prst="roundRect">
            <a:avLst>
              <a:gd name="adj" fmla="val 5517"/>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32" name="Shape 30"/>
          <p:cNvSpPr/>
          <p:nvPr/>
        </p:nvSpPr>
        <p:spPr>
          <a:xfrm>
            <a:off x="4407408" y="3429000"/>
            <a:ext cx="64008" cy="1325880"/>
          </a:xfrm>
          <a:prstGeom prst="rect">
            <a:avLst/>
          </a:prstGeom>
          <a:solidFill>
            <a:srgbClr val="6B4EA2"/>
          </a:solidFill>
          <a:ln w="12700">
            <a:solidFill>
              <a:srgbClr val="6B4EA2"/>
            </a:solidFill>
            <a:prstDash val="solid"/>
          </a:ln>
        </p:spPr>
      </p:sp>
      <p:sp>
        <p:nvSpPr>
          <p:cNvPr id="33" name="Text 31"/>
          <p:cNvSpPr/>
          <p:nvPr/>
        </p:nvSpPr>
        <p:spPr>
          <a:xfrm>
            <a:off x="4608576" y="3557016"/>
            <a:ext cx="305409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Up to 12 weeks</a:t>
            </a:r>
            <a:endParaRPr lang="en-US" sz="1300" dirty="0"/>
          </a:p>
        </p:txBody>
      </p:sp>
      <p:sp>
        <p:nvSpPr>
          <p:cNvPr id="34" name="Text 32"/>
          <p:cNvSpPr/>
          <p:nvPr/>
        </p:nvSpPr>
        <p:spPr>
          <a:xfrm>
            <a:off x="4608576" y="3867912"/>
            <a:ext cx="3054096" cy="77724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Longer habit lens. Results remain provisional until twelve covered weeks are available.</a:t>
            </a:r>
            <a:endParaRPr lang="en-US" sz="1050" dirty="0"/>
          </a:p>
        </p:txBody>
      </p:sp>
      <p:sp>
        <p:nvSpPr>
          <p:cNvPr id="35" name="Shape 33"/>
          <p:cNvSpPr/>
          <p:nvPr/>
        </p:nvSpPr>
        <p:spPr>
          <a:xfrm>
            <a:off x="8138160" y="3429000"/>
            <a:ext cx="3383280" cy="1325880"/>
          </a:xfrm>
          <a:prstGeom prst="roundRect">
            <a:avLst>
              <a:gd name="adj" fmla="val 5517"/>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36" name="Shape 34"/>
          <p:cNvSpPr/>
          <p:nvPr/>
        </p:nvSpPr>
        <p:spPr>
          <a:xfrm>
            <a:off x="8138160" y="3429000"/>
            <a:ext cx="64008" cy="1325880"/>
          </a:xfrm>
          <a:prstGeom prst="rect">
            <a:avLst/>
          </a:prstGeom>
          <a:solidFill>
            <a:srgbClr val="168B82"/>
          </a:solidFill>
          <a:ln w="12700">
            <a:solidFill>
              <a:srgbClr val="168B82"/>
            </a:solidFill>
            <a:prstDash val="solid"/>
          </a:ln>
        </p:spPr>
      </p:sp>
      <p:sp>
        <p:nvSpPr>
          <p:cNvPr id="37" name="Text 35"/>
          <p:cNvSpPr/>
          <p:nvPr/>
        </p:nvSpPr>
        <p:spPr>
          <a:xfrm>
            <a:off x="8339328" y="3557016"/>
            <a:ext cx="305409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Adjacent movement</a:t>
            </a:r>
            <a:endParaRPr lang="en-US" sz="1300" dirty="0"/>
          </a:p>
        </p:txBody>
      </p:sp>
      <p:sp>
        <p:nvSpPr>
          <p:cNvPr id="38" name="Text 36"/>
          <p:cNvSpPr/>
          <p:nvPr/>
        </p:nvSpPr>
        <p:spPr>
          <a:xfrm>
            <a:off x="8339328" y="3867912"/>
            <a:ext cx="3054096" cy="77724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Previous and latest windows use the available history and require at least two covered weeks.</a:t>
            </a:r>
            <a:endParaRPr lang="en-US" sz="1050" dirty="0"/>
          </a:p>
        </p:txBody>
      </p:sp>
      <p:sp>
        <p:nvSpPr>
          <p:cNvPr id="39" name="Shape 37"/>
          <p:cNvSpPr/>
          <p:nvPr/>
        </p:nvSpPr>
        <p:spPr>
          <a:xfrm>
            <a:off x="594360" y="5925312"/>
            <a:ext cx="11018520" cy="438912"/>
          </a:xfrm>
          <a:prstGeom prst="roundRect">
            <a:avLst>
              <a:gd name="adj" fmla="val 12500"/>
            </a:avLst>
          </a:prstGeom>
          <a:solidFill>
            <a:srgbClr val="F7EEE4"/>
          </a:solidFill>
          <a:ln w="12700">
            <a:solidFill>
              <a:srgbClr val="E4C49A"/>
            </a:solidFill>
            <a:prstDash val="solid"/>
          </a:ln>
        </p:spPr>
      </p:sp>
      <p:sp>
        <p:nvSpPr>
          <p:cNvPr id="40" name="Text 38"/>
          <p:cNvSpPr/>
          <p:nvPr/>
        </p:nvSpPr>
        <p:spPr>
          <a:xfrm>
            <a:off x="749808" y="6053328"/>
            <a:ext cx="804672" cy="146304"/>
          </a:xfrm>
          <a:prstGeom prst="rect">
            <a:avLst/>
          </a:prstGeom>
          <a:noFill/>
          <a:ln/>
        </p:spPr>
        <p:txBody>
          <a:bodyPr wrap="square" lIns="0" tIns="0" rIns="0" bIns="0" rtlCol="0" anchor="ctr"/>
          <a:lstStyle/>
          <a:p>
            <a:pPr indent="0" marL="0">
              <a:buNone/>
            </a:pPr>
            <a:r>
              <a:rPr lang="en-US" sz="850" b="1" dirty="0">
                <a:solidFill>
                  <a:srgbClr val="D9872D"/>
                </a:solidFill>
                <a:latin typeface="Segoe UI Semibold" pitchFamily="34" charset="0"/>
                <a:ea typeface="Segoe UI Semibold" pitchFamily="34" charset="-122"/>
                <a:cs typeface="Segoe UI Semibold" pitchFamily="34" charset="-120"/>
              </a:rPr>
              <a:t>GUARDRAIL</a:t>
            </a:r>
            <a:endParaRPr lang="en-US" sz="850" dirty="0"/>
          </a:p>
        </p:txBody>
      </p:sp>
      <p:sp>
        <p:nvSpPr>
          <p:cNvPr id="41" name="Text 39"/>
          <p:cNvSpPr/>
          <p:nvPr/>
        </p:nvSpPr>
        <p:spPr>
          <a:xfrm>
            <a:off x="1600200" y="6007608"/>
            <a:ext cx="9784080" cy="210312"/>
          </a:xfrm>
          <a:prstGeom prst="rect">
            <a:avLst/>
          </a:prstGeom>
          <a:noFill/>
          <a:ln/>
        </p:spPr>
        <p:txBody>
          <a:bodyPr wrap="square" lIns="0" tIns="0" rIns="0" bIns="0" rtlCol="0" anchor="ctr"/>
          <a:lstStyle/>
          <a:p>
            <a:pPr indent="0" marL="0">
              <a:buNone/>
            </a:pPr>
            <a:r>
              <a:rPr lang="en-US" sz="930" dirty="0">
                <a:solidFill>
                  <a:srgbClr val="172033"/>
                </a:solidFill>
                <a:latin typeface="Segoe UI" pitchFamily="34" charset="0"/>
                <a:ea typeface="Segoe UI" pitchFamily="34" charset="-122"/>
                <a:cs typeface="Segoe UI" pitchFamily="34" charset="-120"/>
              </a:rPr>
              <a:t>Stage labels describe observed Cowork usage under template rules. They are not capability, value, quality, or performance ratings.</a:t>
            </a:r>
            <a:endParaRPr lang="en-US" sz="93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320040"/>
            <a:ext cx="8046720" cy="438912"/>
          </a:xfrm>
          <a:prstGeom prst="rect">
            <a:avLst/>
          </a:prstGeom>
          <a:noFill/>
          <a:ln/>
        </p:spPr>
        <p:txBody>
          <a:bodyPr wrap="square" lIns="0" tIns="0" rIns="0" bIns="0" rtlCol="0" anchor="ctr"/>
          <a:lstStyle/>
          <a:p>
            <a:pPr indent="0" marL="0">
              <a:buNone/>
            </a:pPr>
            <a:r>
              <a:rPr lang="en-US" sz="2600" b="1" dirty="0">
                <a:solidFill>
                  <a:srgbClr val="172033"/>
                </a:solidFill>
                <a:latin typeface="Segoe UI Semibold" pitchFamily="34" charset="0"/>
                <a:ea typeface="Segoe UI Semibold" pitchFamily="34" charset="-122"/>
                <a:cs typeface="Segoe UI Semibold" pitchFamily="34" charset="-120"/>
              </a:rPr>
              <a:t>Methodology | Habit movement</a:t>
            </a:r>
            <a:endParaRPr lang="en-US" sz="2600" dirty="0"/>
          </a:p>
        </p:txBody>
      </p:sp>
      <p:sp>
        <p:nvSpPr>
          <p:cNvPr id="3" name="Text 1"/>
          <p:cNvSpPr/>
          <p:nvPr/>
        </p:nvSpPr>
        <p:spPr>
          <a:xfrm>
            <a:off x="502920" y="795528"/>
            <a:ext cx="10881360" cy="310896"/>
          </a:xfrm>
          <a:prstGeom prst="rect">
            <a:avLst/>
          </a:prstGeom>
          <a:noFill/>
          <a:ln/>
        </p:spPr>
        <p:txBody>
          <a:bodyPr wrap="square" lIns="0" tIns="0" rIns="0" bIns="0" rtlCol="0" anchor="ctr"/>
          <a:lstStyle/>
          <a:p>
            <a:pPr indent="0" marL="0">
              <a:buNone/>
            </a:pPr>
            <a:r>
              <a:rPr lang="en-US" sz="1200" dirty="0">
                <a:solidFill>
                  <a:srgbClr val="647084"/>
                </a:solidFill>
                <a:latin typeface="Segoe UI" pitchFamily="34" charset="0"/>
                <a:ea typeface="Segoe UI" pitchFamily="34" charset="-122"/>
                <a:cs typeface="Segoe UI" pitchFamily="34" charset="-120"/>
              </a:rPr>
              <a:t>Compare adjacent windows without treating every movement as inherently good or bad</a:t>
            </a:r>
            <a:endParaRPr lang="en-US" sz="1200" dirty="0"/>
          </a:p>
        </p:txBody>
      </p:sp>
      <p:sp>
        <p:nvSpPr>
          <p:cNvPr id="4" name="Text 2"/>
          <p:cNvSpPr/>
          <p:nvPr/>
        </p:nvSpPr>
        <p:spPr>
          <a:xfrm>
            <a:off x="502920" y="6510528"/>
            <a:ext cx="3017520" cy="164592"/>
          </a:xfrm>
          <a:prstGeom prst="rect">
            <a:avLst/>
          </a:prstGeom>
          <a:noFill/>
          <a:ln/>
        </p:spPr>
        <p:txBody>
          <a:bodyPr wrap="square" lIns="0" tIns="0" rIns="0" bIns="0" rtlCol="0" anchor="ctr"/>
          <a:lstStyle/>
          <a:p>
            <a:pPr indent="0" marL="0">
              <a:buNone/>
            </a:pPr>
            <a:r>
              <a:rPr lang="en-US" sz="800" dirty="0">
                <a:solidFill>
                  <a:srgbClr val="647084"/>
                </a:solidFill>
                <a:latin typeface="Segoe UI" pitchFamily="34" charset="0"/>
                <a:ea typeface="Segoe UI" pitchFamily="34" charset="-122"/>
                <a:cs typeface="Segoe UI" pitchFamily="34" charset="-120"/>
              </a:rPr>
              <a:t>microsoft/CoworkSuperUser</a:t>
            </a:r>
            <a:endParaRPr lang="en-US" sz="800" dirty="0"/>
          </a:p>
        </p:txBody>
      </p:sp>
      <p:sp>
        <p:nvSpPr>
          <p:cNvPr id="5" name="Text 3"/>
          <p:cNvSpPr/>
          <p:nvPr/>
        </p:nvSpPr>
        <p:spPr>
          <a:xfrm>
            <a:off x="7772400" y="6510528"/>
            <a:ext cx="356616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Version 1.0 | Public | Methodology</a:t>
            </a:r>
            <a:endParaRPr lang="en-US" sz="800" dirty="0"/>
          </a:p>
        </p:txBody>
      </p:sp>
      <p:sp>
        <p:nvSpPr>
          <p:cNvPr id="6" name="Text 4"/>
          <p:cNvSpPr/>
          <p:nvPr/>
        </p:nvSpPr>
        <p:spPr>
          <a:xfrm>
            <a:off x="11384280" y="6510528"/>
            <a:ext cx="32004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20</a:t>
            </a:r>
            <a:endParaRPr lang="en-US" sz="800" dirty="0"/>
          </a:p>
        </p:txBody>
      </p:sp>
      <p:sp>
        <p:nvSpPr>
          <p:cNvPr id="7" name="Shape 5"/>
          <p:cNvSpPr/>
          <p:nvPr/>
        </p:nvSpPr>
        <p:spPr>
          <a:xfrm>
            <a:off x="685800" y="1325880"/>
            <a:ext cx="5257800" cy="1417320"/>
          </a:xfrm>
          <a:prstGeom prst="roundRect">
            <a:avLst>
              <a:gd name="adj" fmla="val 5161"/>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8" name="Shape 6"/>
          <p:cNvSpPr/>
          <p:nvPr/>
        </p:nvSpPr>
        <p:spPr>
          <a:xfrm>
            <a:off x="685800" y="1325880"/>
            <a:ext cx="64008" cy="1417320"/>
          </a:xfrm>
          <a:prstGeom prst="rect">
            <a:avLst/>
          </a:prstGeom>
          <a:solidFill>
            <a:srgbClr val="3A8F5B"/>
          </a:solidFill>
          <a:ln w="12700">
            <a:solidFill>
              <a:srgbClr val="3A8F5B"/>
            </a:solidFill>
            <a:prstDash val="solid"/>
          </a:ln>
        </p:spPr>
      </p:sp>
      <p:sp>
        <p:nvSpPr>
          <p:cNvPr id="9" name="Text 7"/>
          <p:cNvSpPr/>
          <p:nvPr/>
        </p:nvSpPr>
        <p:spPr>
          <a:xfrm>
            <a:off x="886968" y="1453896"/>
            <a:ext cx="492861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Improved</a:t>
            </a:r>
            <a:endParaRPr lang="en-US" sz="1300" dirty="0"/>
          </a:p>
        </p:txBody>
      </p:sp>
      <p:sp>
        <p:nvSpPr>
          <p:cNvPr id="10" name="Text 8"/>
          <p:cNvSpPr/>
          <p:nvPr/>
        </p:nvSpPr>
        <p:spPr>
          <a:xfrm>
            <a:off x="886968" y="1764792"/>
            <a:ext cx="4928616" cy="86868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Latest stage ranks above the previous stage.</a:t>
            </a:r>
            <a:endParaRPr lang="en-US" sz="1050" dirty="0"/>
          </a:p>
        </p:txBody>
      </p:sp>
      <p:sp>
        <p:nvSpPr>
          <p:cNvPr id="11" name="Shape 9"/>
          <p:cNvSpPr/>
          <p:nvPr/>
        </p:nvSpPr>
        <p:spPr>
          <a:xfrm>
            <a:off x="6263640" y="1325880"/>
            <a:ext cx="5257800" cy="1417320"/>
          </a:xfrm>
          <a:prstGeom prst="roundRect">
            <a:avLst>
              <a:gd name="adj" fmla="val 5161"/>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12" name="Shape 10"/>
          <p:cNvSpPr/>
          <p:nvPr/>
        </p:nvSpPr>
        <p:spPr>
          <a:xfrm>
            <a:off x="6263640" y="1325880"/>
            <a:ext cx="64008" cy="1417320"/>
          </a:xfrm>
          <a:prstGeom prst="rect">
            <a:avLst/>
          </a:prstGeom>
          <a:solidFill>
            <a:srgbClr val="4F80C1"/>
          </a:solidFill>
          <a:ln w="12700">
            <a:solidFill>
              <a:srgbClr val="4F80C1"/>
            </a:solidFill>
            <a:prstDash val="solid"/>
          </a:ln>
        </p:spPr>
      </p:sp>
      <p:sp>
        <p:nvSpPr>
          <p:cNvPr id="13" name="Text 11"/>
          <p:cNvSpPr/>
          <p:nvPr/>
        </p:nvSpPr>
        <p:spPr>
          <a:xfrm>
            <a:off x="6464808" y="1453896"/>
            <a:ext cx="492861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Stable</a:t>
            </a:r>
            <a:endParaRPr lang="en-US" sz="1300" dirty="0"/>
          </a:p>
        </p:txBody>
      </p:sp>
      <p:sp>
        <p:nvSpPr>
          <p:cNvPr id="14" name="Text 12"/>
          <p:cNvSpPr/>
          <p:nvPr/>
        </p:nvSpPr>
        <p:spPr>
          <a:xfrm>
            <a:off x="6464808" y="1764792"/>
            <a:ext cx="4928616" cy="86868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Latest and previous stages match.</a:t>
            </a:r>
            <a:endParaRPr lang="en-US" sz="1050" dirty="0"/>
          </a:p>
        </p:txBody>
      </p:sp>
      <p:sp>
        <p:nvSpPr>
          <p:cNvPr id="15" name="Shape 13"/>
          <p:cNvSpPr/>
          <p:nvPr/>
        </p:nvSpPr>
        <p:spPr>
          <a:xfrm>
            <a:off x="685800" y="3200400"/>
            <a:ext cx="5257800" cy="1417320"/>
          </a:xfrm>
          <a:prstGeom prst="roundRect">
            <a:avLst>
              <a:gd name="adj" fmla="val 5161"/>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16" name="Shape 14"/>
          <p:cNvSpPr/>
          <p:nvPr/>
        </p:nvSpPr>
        <p:spPr>
          <a:xfrm>
            <a:off x="685800" y="3200400"/>
            <a:ext cx="64008" cy="1417320"/>
          </a:xfrm>
          <a:prstGeom prst="rect">
            <a:avLst/>
          </a:prstGeom>
          <a:solidFill>
            <a:srgbClr val="D9872D"/>
          </a:solidFill>
          <a:ln w="12700">
            <a:solidFill>
              <a:srgbClr val="D9872D"/>
            </a:solidFill>
            <a:prstDash val="solid"/>
          </a:ln>
        </p:spPr>
      </p:sp>
      <p:sp>
        <p:nvSpPr>
          <p:cNvPr id="17" name="Text 15"/>
          <p:cNvSpPr/>
          <p:nvPr/>
        </p:nvSpPr>
        <p:spPr>
          <a:xfrm>
            <a:off x="886968" y="3328416"/>
            <a:ext cx="492861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Declined</a:t>
            </a:r>
            <a:endParaRPr lang="en-US" sz="1300" dirty="0"/>
          </a:p>
        </p:txBody>
      </p:sp>
      <p:sp>
        <p:nvSpPr>
          <p:cNvPr id="18" name="Text 16"/>
          <p:cNvSpPr/>
          <p:nvPr/>
        </p:nvSpPr>
        <p:spPr>
          <a:xfrm>
            <a:off x="886968" y="3639312"/>
            <a:ext cx="4928616" cy="86868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Latest stage ranks below the previous stage.</a:t>
            </a:r>
            <a:endParaRPr lang="en-US" sz="1050" dirty="0"/>
          </a:p>
        </p:txBody>
      </p:sp>
      <p:sp>
        <p:nvSpPr>
          <p:cNvPr id="19" name="Shape 17"/>
          <p:cNvSpPr/>
          <p:nvPr/>
        </p:nvSpPr>
        <p:spPr>
          <a:xfrm>
            <a:off x="6263640" y="3200400"/>
            <a:ext cx="5257800" cy="1417320"/>
          </a:xfrm>
          <a:prstGeom prst="roundRect">
            <a:avLst>
              <a:gd name="adj" fmla="val 5161"/>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20" name="Shape 18"/>
          <p:cNvSpPr/>
          <p:nvPr/>
        </p:nvSpPr>
        <p:spPr>
          <a:xfrm>
            <a:off x="6263640" y="3200400"/>
            <a:ext cx="64008" cy="1417320"/>
          </a:xfrm>
          <a:prstGeom prst="rect">
            <a:avLst/>
          </a:prstGeom>
          <a:solidFill>
            <a:srgbClr val="6B4EA2"/>
          </a:solidFill>
          <a:ln w="12700">
            <a:solidFill>
              <a:srgbClr val="6B4EA2"/>
            </a:solidFill>
            <a:prstDash val="solid"/>
          </a:ln>
        </p:spPr>
      </p:sp>
      <p:sp>
        <p:nvSpPr>
          <p:cNvPr id="21" name="Text 19"/>
          <p:cNvSpPr/>
          <p:nvPr/>
        </p:nvSpPr>
        <p:spPr>
          <a:xfrm>
            <a:off x="6464808" y="3328416"/>
            <a:ext cx="492861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Sustained retention</a:t>
            </a:r>
            <a:endParaRPr lang="en-US" sz="1300" dirty="0"/>
          </a:p>
        </p:txBody>
      </p:sp>
      <p:sp>
        <p:nvSpPr>
          <p:cNvPr id="22" name="Text 20"/>
          <p:cNvSpPr/>
          <p:nvPr/>
        </p:nvSpPr>
        <p:spPr>
          <a:xfrm>
            <a:off x="6464808" y="3639312"/>
            <a:ext cx="4928616" cy="86868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Previously sustained users who remain Power or Habitual.</a:t>
            </a:r>
            <a:endParaRPr lang="en-US" sz="1050" dirty="0"/>
          </a:p>
        </p:txBody>
      </p:sp>
      <p:sp>
        <p:nvSpPr>
          <p:cNvPr id="23" name="Text 21"/>
          <p:cNvSpPr/>
          <p:nvPr/>
        </p:nvSpPr>
        <p:spPr>
          <a:xfrm>
            <a:off x="2057400" y="5074920"/>
            <a:ext cx="8046720" cy="320040"/>
          </a:xfrm>
          <a:prstGeom prst="rect">
            <a:avLst/>
          </a:prstGeom>
          <a:noFill/>
          <a:ln/>
        </p:spPr>
        <p:txBody>
          <a:bodyPr wrap="square" lIns="0" tIns="0" rIns="0" bIns="0" rtlCol="0" anchor="ctr"/>
          <a:lstStyle/>
          <a:p>
            <a:pPr algn="ctr" indent="0" marL="0">
              <a:buNone/>
            </a:pPr>
            <a:r>
              <a:rPr lang="en-US" sz="1600" dirty="0">
                <a:solidFill>
                  <a:srgbClr val="311F5E"/>
                </a:solidFill>
                <a:latin typeface="Segoe UI Semibold" pitchFamily="34" charset="0"/>
                <a:ea typeface="Segoe UI Semibold" pitchFamily="34" charset="-122"/>
                <a:cs typeface="Segoe UI Semibold" pitchFamily="34" charset="-120"/>
              </a:rPr>
              <a:t>Interpret the direction with the starting and ending stage</a:t>
            </a:r>
            <a:endParaRPr lang="en-US" sz="1600" dirty="0"/>
          </a:p>
        </p:txBody>
      </p:sp>
      <p:sp>
        <p:nvSpPr>
          <p:cNvPr id="24" name="Shape 22"/>
          <p:cNvSpPr/>
          <p:nvPr/>
        </p:nvSpPr>
        <p:spPr>
          <a:xfrm>
            <a:off x="594360" y="5925312"/>
            <a:ext cx="11018520" cy="438912"/>
          </a:xfrm>
          <a:prstGeom prst="roundRect">
            <a:avLst>
              <a:gd name="adj" fmla="val 12500"/>
            </a:avLst>
          </a:prstGeom>
          <a:solidFill>
            <a:srgbClr val="F7EEE4"/>
          </a:solidFill>
          <a:ln w="12700">
            <a:solidFill>
              <a:srgbClr val="E4C49A"/>
            </a:solidFill>
            <a:prstDash val="solid"/>
          </a:ln>
        </p:spPr>
      </p:sp>
      <p:sp>
        <p:nvSpPr>
          <p:cNvPr id="25" name="Text 23"/>
          <p:cNvSpPr/>
          <p:nvPr/>
        </p:nvSpPr>
        <p:spPr>
          <a:xfrm>
            <a:off x="749808" y="6053328"/>
            <a:ext cx="804672" cy="146304"/>
          </a:xfrm>
          <a:prstGeom prst="rect">
            <a:avLst/>
          </a:prstGeom>
          <a:noFill/>
          <a:ln/>
        </p:spPr>
        <p:txBody>
          <a:bodyPr wrap="square" lIns="0" tIns="0" rIns="0" bIns="0" rtlCol="0" anchor="ctr"/>
          <a:lstStyle/>
          <a:p>
            <a:pPr indent="0" marL="0">
              <a:buNone/>
            </a:pPr>
            <a:r>
              <a:rPr lang="en-US" sz="850" b="1" dirty="0">
                <a:solidFill>
                  <a:srgbClr val="D9872D"/>
                </a:solidFill>
                <a:latin typeface="Segoe UI Semibold" pitchFamily="34" charset="0"/>
                <a:ea typeface="Segoe UI Semibold" pitchFamily="34" charset="-122"/>
                <a:cs typeface="Segoe UI Semibold" pitchFamily="34" charset="-120"/>
              </a:rPr>
              <a:t>GUARDRAIL</a:t>
            </a:r>
            <a:endParaRPr lang="en-US" sz="850" dirty="0"/>
          </a:p>
        </p:txBody>
      </p:sp>
      <p:sp>
        <p:nvSpPr>
          <p:cNvPr id="26" name="Text 24"/>
          <p:cNvSpPr/>
          <p:nvPr/>
        </p:nvSpPr>
        <p:spPr>
          <a:xfrm>
            <a:off x="1600200" y="6007608"/>
            <a:ext cx="9784080" cy="210312"/>
          </a:xfrm>
          <a:prstGeom prst="rect">
            <a:avLst/>
          </a:prstGeom>
          <a:noFill/>
          <a:ln/>
        </p:spPr>
        <p:txBody>
          <a:bodyPr wrap="square" lIns="0" tIns="0" rIns="0" bIns="0" rtlCol="0" anchor="ctr"/>
          <a:lstStyle/>
          <a:p>
            <a:pPr indent="0" marL="0">
              <a:buNone/>
            </a:pPr>
            <a:r>
              <a:rPr lang="en-US" sz="930" dirty="0">
                <a:solidFill>
                  <a:srgbClr val="172033"/>
                </a:solidFill>
                <a:latin typeface="Segoe UI" pitchFamily="34" charset="0"/>
                <a:ea typeface="Segoe UI" pitchFamily="34" charset="-122"/>
                <a:cs typeface="Segoe UI" pitchFamily="34" charset="-120"/>
              </a:rPr>
              <a:t>Counts and transitions below the 10-person privacy floor are suppressed; source changes can move classifications.</a:t>
            </a:r>
            <a:endParaRPr lang="en-US" sz="93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320040"/>
            <a:ext cx="8046720" cy="438912"/>
          </a:xfrm>
          <a:prstGeom prst="rect">
            <a:avLst/>
          </a:prstGeom>
          <a:noFill/>
          <a:ln/>
        </p:spPr>
        <p:txBody>
          <a:bodyPr wrap="square" lIns="0" tIns="0" rIns="0" bIns="0" rtlCol="0" anchor="ctr"/>
          <a:lstStyle/>
          <a:p>
            <a:pPr indent="0" marL="0">
              <a:buNone/>
            </a:pPr>
            <a:r>
              <a:rPr lang="en-US" sz="2600" b="1" dirty="0">
                <a:solidFill>
                  <a:srgbClr val="172033"/>
                </a:solidFill>
                <a:latin typeface="Segoe UI Semibold" pitchFamily="34" charset="0"/>
                <a:ea typeface="Segoe UI Semibold" pitchFamily="34" charset="-122"/>
                <a:cs typeface="Segoe UI Semibold" pitchFamily="34" charset="-120"/>
              </a:rPr>
              <a:t>Methodology | Potential champions</a:t>
            </a:r>
            <a:endParaRPr lang="en-US" sz="2600" dirty="0"/>
          </a:p>
        </p:txBody>
      </p:sp>
      <p:sp>
        <p:nvSpPr>
          <p:cNvPr id="3" name="Text 1"/>
          <p:cNvSpPr/>
          <p:nvPr/>
        </p:nvSpPr>
        <p:spPr>
          <a:xfrm>
            <a:off x="502920" y="795528"/>
            <a:ext cx="10881360" cy="310896"/>
          </a:xfrm>
          <a:prstGeom prst="rect">
            <a:avLst/>
          </a:prstGeom>
          <a:noFill/>
          <a:ln/>
        </p:spPr>
        <p:txBody>
          <a:bodyPr wrap="square" lIns="0" tIns="0" rIns="0" bIns="0" rtlCol="0" anchor="ctr"/>
          <a:lstStyle/>
          <a:p>
            <a:pPr indent="0" marL="0">
              <a:buNone/>
            </a:pPr>
            <a:r>
              <a:rPr lang="en-US" sz="1200" dirty="0">
                <a:solidFill>
                  <a:srgbClr val="647084"/>
                </a:solidFill>
                <a:latin typeface="Segoe UI" pitchFamily="34" charset="0"/>
                <a:ea typeface="Segoe UI" pitchFamily="34" charset="-122"/>
                <a:cs typeface="Segoe UI" pitchFamily="34" charset="-120"/>
              </a:rPr>
              <a:t>A transparent filter-sensitive ranking that always ends with human validation</a:t>
            </a:r>
            <a:endParaRPr lang="en-US" sz="1200" dirty="0"/>
          </a:p>
        </p:txBody>
      </p:sp>
      <p:sp>
        <p:nvSpPr>
          <p:cNvPr id="4" name="Text 2"/>
          <p:cNvSpPr/>
          <p:nvPr/>
        </p:nvSpPr>
        <p:spPr>
          <a:xfrm>
            <a:off x="502920" y="6510528"/>
            <a:ext cx="3017520" cy="164592"/>
          </a:xfrm>
          <a:prstGeom prst="rect">
            <a:avLst/>
          </a:prstGeom>
          <a:noFill/>
          <a:ln/>
        </p:spPr>
        <p:txBody>
          <a:bodyPr wrap="square" lIns="0" tIns="0" rIns="0" bIns="0" rtlCol="0" anchor="ctr"/>
          <a:lstStyle/>
          <a:p>
            <a:pPr indent="0" marL="0">
              <a:buNone/>
            </a:pPr>
            <a:r>
              <a:rPr lang="en-US" sz="800" dirty="0">
                <a:solidFill>
                  <a:srgbClr val="647084"/>
                </a:solidFill>
                <a:latin typeface="Segoe UI" pitchFamily="34" charset="0"/>
                <a:ea typeface="Segoe UI" pitchFamily="34" charset="-122"/>
                <a:cs typeface="Segoe UI" pitchFamily="34" charset="-120"/>
              </a:rPr>
              <a:t>microsoft/CoworkSuperUser</a:t>
            </a:r>
            <a:endParaRPr lang="en-US" sz="800" dirty="0"/>
          </a:p>
        </p:txBody>
      </p:sp>
      <p:sp>
        <p:nvSpPr>
          <p:cNvPr id="5" name="Text 3"/>
          <p:cNvSpPr/>
          <p:nvPr/>
        </p:nvSpPr>
        <p:spPr>
          <a:xfrm>
            <a:off x="7772400" y="6510528"/>
            <a:ext cx="356616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Version 1.0 | Public | Methodology</a:t>
            </a:r>
            <a:endParaRPr lang="en-US" sz="800" dirty="0"/>
          </a:p>
        </p:txBody>
      </p:sp>
      <p:sp>
        <p:nvSpPr>
          <p:cNvPr id="6" name="Text 4"/>
          <p:cNvSpPr/>
          <p:nvPr/>
        </p:nvSpPr>
        <p:spPr>
          <a:xfrm>
            <a:off x="11384280" y="6510528"/>
            <a:ext cx="32004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21</a:t>
            </a:r>
            <a:endParaRPr lang="en-US" sz="800" dirty="0"/>
          </a:p>
        </p:txBody>
      </p:sp>
      <p:sp>
        <p:nvSpPr>
          <p:cNvPr id="7" name="Shape 5"/>
          <p:cNvSpPr/>
          <p:nvPr/>
        </p:nvSpPr>
        <p:spPr>
          <a:xfrm>
            <a:off x="1508760" y="1325880"/>
            <a:ext cx="640080" cy="640080"/>
          </a:xfrm>
          <a:prstGeom prst="ellipse">
            <a:avLst/>
          </a:prstGeom>
          <a:solidFill>
            <a:srgbClr val="6B4EA2"/>
          </a:solidFill>
          <a:ln w="25400">
            <a:solidFill>
              <a:srgbClr val="FFFFFF"/>
            </a:solidFill>
            <a:prstDash val="solid"/>
          </a:ln>
        </p:spPr>
      </p:sp>
      <p:sp>
        <p:nvSpPr>
          <p:cNvPr id="8" name="Text 6"/>
          <p:cNvSpPr/>
          <p:nvPr/>
        </p:nvSpPr>
        <p:spPr>
          <a:xfrm>
            <a:off x="1508760" y="1472184"/>
            <a:ext cx="640080" cy="2286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9" name="Shape 7"/>
          <p:cNvSpPr/>
          <p:nvPr/>
        </p:nvSpPr>
        <p:spPr>
          <a:xfrm>
            <a:off x="640080" y="2194560"/>
            <a:ext cx="2377440" cy="1554480"/>
          </a:xfrm>
          <a:prstGeom prst="roundRect">
            <a:avLst>
              <a:gd name="adj" fmla="val 4706"/>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10" name="Shape 8"/>
          <p:cNvSpPr/>
          <p:nvPr/>
        </p:nvSpPr>
        <p:spPr>
          <a:xfrm>
            <a:off x="640080" y="2194560"/>
            <a:ext cx="64008" cy="1554480"/>
          </a:xfrm>
          <a:prstGeom prst="rect">
            <a:avLst/>
          </a:prstGeom>
          <a:solidFill>
            <a:srgbClr val="6B4EA2"/>
          </a:solidFill>
          <a:ln w="12700">
            <a:solidFill>
              <a:srgbClr val="6B4EA2"/>
            </a:solidFill>
            <a:prstDash val="solid"/>
          </a:ln>
        </p:spPr>
      </p:sp>
      <p:sp>
        <p:nvSpPr>
          <p:cNvPr id="11" name="Text 9"/>
          <p:cNvSpPr/>
          <p:nvPr/>
        </p:nvSpPr>
        <p:spPr>
          <a:xfrm>
            <a:off x="841248" y="2322576"/>
            <a:ext cx="204825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SUSTAINED</a:t>
            </a:r>
            <a:endParaRPr lang="en-US" sz="1300" dirty="0"/>
          </a:p>
        </p:txBody>
      </p:sp>
      <p:sp>
        <p:nvSpPr>
          <p:cNvPr id="12" name="Text 10"/>
          <p:cNvSpPr/>
          <p:nvPr/>
        </p:nvSpPr>
        <p:spPr>
          <a:xfrm>
            <a:off x="841248" y="2633472"/>
            <a:ext cx="2048256" cy="100584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Power or Habitual in the latest window</a:t>
            </a:r>
            <a:endParaRPr lang="en-US" sz="1050" dirty="0"/>
          </a:p>
        </p:txBody>
      </p:sp>
      <p:sp>
        <p:nvSpPr>
          <p:cNvPr id="13" name="Shape 11"/>
          <p:cNvSpPr/>
          <p:nvPr/>
        </p:nvSpPr>
        <p:spPr>
          <a:xfrm>
            <a:off x="4343400" y="1325880"/>
            <a:ext cx="640080" cy="640080"/>
          </a:xfrm>
          <a:prstGeom prst="ellipse">
            <a:avLst/>
          </a:prstGeom>
          <a:solidFill>
            <a:srgbClr val="4F80C1"/>
          </a:solidFill>
          <a:ln w="25400">
            <a:solidFill>
              <a:srgbClr val="FFFFFF"/>
            </a:solidFill>
            <a:prstDash val="solid"/>
          </a:ln>
        </p:spPr>
      </p:sp>
      <p:sp>
        <p:nvSpPr>
          <p:cNvPr id="14" name="Text 12"/>
          <p:cNvSpPr/>
          <p:nvPr/>
        </p:nvSpPr>
        <p:spPr>
          <a:xfrm>
            <a:off x="4343400" y="1472184"/>
            <a:ext cx="640080" cy="2286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5" name="Shape 13"/>
          <p:cNvSpPr/>
          <p:nvPr/>
        </p:nvSpPr>
        <p:spPr>
          <a:xfrm>
            <a:off x="3474720" y="2194560"/>
            <a:ext cx="2377440" cy="1554480"/>
          </a:xfrm>
          <a:prstGeom prst="roundRect">
            <a:avLst>
              <a:gd name="adj" fmla="val 4706"/>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16" name="Shape 14"/>
          <p:cNvSpPr/>
          <p:nvPr/>
        </p:nvSpPr>
        <p:spPr>
          <a:xfrm>
            <a:off x="3474720" y="2194560"/>
            <a:ext cx="64008" cy="1554480"/>
          </a:xfrm>
          <a:prstGeom prst="rect">
            <a:avLst/>
          </a:prstGeom>
          <a:solidFill>
            <a:srgbClr val="4F80C1"/>
          </a:solidFill>
          <a:ln w="12700">
            <a:solidFill>
              <a:srgbClr val="4F80C1"/>
            </a:solidFill>
            <a:prstDash val="solid"/>
          </a:ln>
        </p:spPr>
      </p:sp>
      <p:sp>
        <p:nvSpPr>
          <p:cNvPr id="17" name="Text 15"/>
          <p:cNvSpPr/>
          <p:nvPr/>
        </p:nvSpPr>
        <p:spPr>
          <a:xfrm>
            <a:off x="3675888" y="2322576"/>
            <a:ext cx="204825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RANK</a:t>
            </a:r>
            <a:endParaRPr lang="en-US" sz="1300" dirty="0"/>
          </a:p>
        </p:txBody>
      </p:sp>
      <p:sp>
        <p:nvSpPr>
          <p:cNvPr id="18" name="Text 16"/>
          <p:cNvSpPr/>
          <p:nvPr/>
        </p:nvSpPr>
        <p:spPr>
          <a:xfrm>
            <a:off x="3675888" y="2633472"/>
            <a:ext cx="2048256" cy="100584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Active weeks, then average weekly sessions</a:t>
            </a:r>
            <a:endParaRPr lang="en-US" sz="1050" dirty="0"/>
          </a:p>
        </p:txBody>
      </p:sp>
      <p:sp>
        <p:nvSpPr>
          <p:cNvPr id="19" name="Shape 17"/>
          <p:cNvSpPr/>
          <p:nvPr/>
        </p:nvSpPr>
        <p:spPr>
          <a:xfrm>
            <a:off x="7178040" y="1325880"/>
            <a:ext cx="640080" cy="640080"/>
          </a:xfrm>
          <a:prstGeom prst="ellipse">
            <a:avLst/>
          </a:prstGeom>
          <a:solidFill>
            <a:srgbClr val="168B82"/>
          </a:solidFill>
          <a:ln w="25400">
            <a:solidFill>
              <a:srgbClr val="FFFFFF"/>
            </a:solidFill>
            <a:prstDash val="solid"/>
          </a:ln>
        </p:spPr>
      </p:sp>
      <p:sp>
        <p:nvSpPr>
          <p:cNvPr id="20" name="Text 18"/>
          <p:cNvSpPr/>
          <p:nvPr/>
        </p:nvSpPr>
        <p:spPr>
          <a:xfrm>
            <a:off x="7178040" y="1472184"/>
            <a:ext cx="640080" cy="2286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21" name="Shape 19"/>
          <p:cNvSpPr/>
          <p:nvPr/>
        </p:nvSpPr>
        <p:spPr>
          <a:xfrm>
            <a:off x="6309360" y="2194560"/>
            <a:ext cx="2377440" cy="1554480"/>
          </a:xfrm>
          <a:prstGeom prst="roundRect">
            <a:avLst>
              <a:gd name="adj" fmla="val 4706"/>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22" name="Shape 20"/>
          <p:cNvSpPr/>
          <p:nvPr/>
        </p:nvSpPr>
        <p:spPr>
          <a:xfrm>
            <a:off x="6309360" y="2194560"/>
            <a:ext cx="64008" cy="1554480"/>
          </a:xfrm>
          <a:prstGeom prst="rect">
            <a:avLst/>
          </a:prstGeom>
          <a:solidFill>
            <a:srgbClr val="168B82"/>
          </a:solidFill>
          <a:ln w="12700">
            <a:solidFill>
              <a:srgbClr val="168B82"/>
            </a:solidFill>
            <a:prstDash val="solid"/>
          </a:ln>
        </p:spPr>
      </p:sp>
      <p:sp>
        <p:nvSpPr>
          <p:cNvPr id="23" name="Text 21"/>
          <p:cNvSpPr/>
          <p:nvPr/>
        </p:nvSpPr>
        <p:spPr>
          <a:xfrm>
            <a:off x="6510528" y="2322576"/>
            <a:ext cx="204825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SELECT</a:t>
            </a:r>
            <a:endParaRPr lang="en-US" sz="1300" dirty="0"/>
          </a:p>
        </p:txBody>
      </p:sp>
      <p:sp>
        <p:nvSpPr>
          <p:cNvPr id="24" name="Text 22"/>
          <p:cNvSpPr/>
          <p:nvPr/>
        </p:nvSpPr>
        <p:spPr>
          <a:xfrm>
            <a:off x="6510528" y="2633472"/>
            <a:ext cx="2048256" cy="100584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Fixed top 10% with deterministic tie-breaking</a:t>
            </a:r>
            <a:endParaRPr lang="en-US" sz="1050" dirty="0"/>
          </a:p>
        </p:txBody>
      </p:sp>
      <p:sp>
        <p:nvSpPr>
          <p:cNvPr id="25" name="Shape 23"/>
          <p:cNvSpPr/>
          <p:nvPr/>
        </p:nvSpPr>
        <p:spPr>
          <a:xfrm>
            <a:off x="10012680" y="1325880"/>
            <a:ext cx="640080" cy="640080"/>
          </a:xfrm>
          <a:prstGeom prst="ellipse">
            <a:avLst/>
          </a:prstGeom>
          <a:solidFill>
            <a:srgbClr val="3A8F5B"/>
          </a:solidFill>
          <a:ln w="25400">
            <a:solidFill>
              <a:srgbClr val="FFFFFF"/>
            </a:solidFill>
            <a:prstDash val="solid"/>
          </a:ln>
        </p:spPr>
      </p:sp>
      <p:sp>
        <p:nvSpPr>
          <p:cNvPr id="26" name="Text 24"/>
          <p:cNvSpPr/>
          <p:nvPr/>
        </p:nvSpPr>
        <p:spPr>
          <a:xfrm>
            <a:off x="10012680" y="1472184"/>
            <a:ext cx="640080" cy="2286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7" name="Shape 25"/>
          <p:cNvSpPr/>
          <p:nvPr/>
        </p:nvSpPr>
        <p:spPr>
          <a:xfrm>
            <a:off x="9144000" y="2194560"/>
            <a:ext cx="2377440" cy="1554480"/>
          </a:xfrm>
          <a:prstGeom prst="roundRect">
            <a:avLst>
              <a:gd name="adj" fmla="val 4706"/>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28" name="Shape 26"/>
          <p:cNvSpPr/>
          <p:nvPr/>
        </p:nvSpPr>
        <p:spPr>
          <a:xfrm>
            <a:off x="9144000" y="2194560"/>
            <a:ext cx="64008" cy="1554480"/>
          </a:xfrm>
          <a:prstGeom prst="rect">
            <a:avLst/>
          </a:prstGeom>
          <a:solidFill>
            <a:srgbClr val="3A8F5B"/>
          </a:solidFill>
          <a:ln w="12700">
            <a:solidFill>
              <a:srgbClr val="3A8F5B"/>
            </a:solidFill>
            <a:prstDash val="solid"/>
          </a:ln>
        </p:spPr>
      </p:sp>
      <p:sp>
        <p:nvSpPr>
          <p:cNvPr id="29" name="Text 27"/>
          <p:cNvSpPr/>
          <p:nvPr/>
        </p:nvSpPr>
        <p:spPr>
          <a:xfrm>
            <a:off x="9345168" y="2322576"/>
            <a:ext cx="204825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VALIDATE</a:t>
            </a:r>
            <a:endParaRPr lang="en-US" sz="1300" dirty="0"/>
          </a:p>
        </p:txBody>
      </p:sp>
      <p:sp>
        <p:nvSpPr>
          <p:cNvPr id="30" name="Text 28"/>
          <p:cNvSpPr/>
          <p:nvPr/>
        </p:nvSpPr>
        <p:spPr>
          <a:xfrm>
            <a:off x="9345168" y="2633472"/>
            <a:ext cx="2048256" cy="100584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Role fit, willingness, manager support, data use</a:t>
            </a:r>
            <a:endParaRPr lang="en-US" sz="1050" dirty="0"/>
          </a:p>
        </p:txBody>
      </p:sp>
      <p:sp>
        <p:nvSpPr>
          <p:cNvPr id="31" name="Shape 29"/>
          <p:cNvSpPr/>
          <p:nvPr/>
        </p:nvSpPr>
        <p:spPr>
          <a:xfrm>
            <a:off x="1097280" y="4251960"/>
            <a:ext cx="9966960" cy="1005840"/>
          </a:xfrm>
          <a:prstGeom prst="roundRect">
            <a:avLst>
              <a:gd name="adj" fmla="val 7273"/>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32" name="Shape 30"/>
          <p:cNvSpPr/>
          <p:nvPr/>
        </p:nvSpPr>
        <p:spPr>
          <a:xfrm>
            <a:off x="1097280" y="4251960"/>
            <a:ext cx="64008" cy="1005840"/>
          </a:xfrm>
          <a:prstGeom prst="rect">
            <a:avLst/>
          </a:prstGeom>
          <a:solidFill>
            <a:srgbClr val="D9872D"/>
          </a:solidFill>
          <a:ln w="12700">
            <a:solidFill>
              <a:srgbClr val="D9872D"/>
            </a:solidFill>
            <a:prstDash val="solid"/>
          </a:ln>
        </p:spPr>
      </p:sp>
      <p:sp>
        <p:nvSpPr>
          <p:cNvPr id="33" name="Text 31"/>
          <p:cNvSpPr/>
          <p:nvPr/>
        </p:nvSpPr>
        <p:spPr>
          <a:xfrm>
            <a:off x="1298448" y="4379976"/>
            <a:ext cx="963777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Stability checks</a:t>
            </a:r>
            <a:endParaRPr lang="en-US" sz="1300" dirty="0"/>
          </a:p>
        </p:txBody>
      </p:sp>
      <p:sp>
        <p:nvSpPr>
          <p:cNvPr id="34" name="Text 32"/>
          <p:cNvSpPr/>
          <p:nvPr/>
        </p:nvSpPr>
        <p:spPr>
          <a:xfrm>
            <a:off x="1298448" y="4690872"/>
            <a:ext cx="9637776" cy="45720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Organization filters narrow the displayed list but do not rerank global candidates. Department coverage excludes missing department names. Before four covered weeks, the report labels the evidence provisional.</a:t>
            </a:r>
            <a:endParaRPr lang="en-US" sz="1050" dirty="0"/>
          </a:p>
        </p:txBody>
      </p:sp>
      <p:sp>
        <p:nvSpPr>
          <p:cNvPr id="35" name="Shape 33"/>
          <p:cNvSpPr/>
          <p:nvPr/>
        </p:nvSpPr>
        <p:spPr>
          <a:xfrm>
            <a:off x="594360" y="5925312"/>
            <a:ext cx="11018520" cy="438912"/>
          </a:xfrm>
          <a:prstGeom prst="roundRect">
            <a:avLst>
              <a:gd name="adj" fmla="val 12500"/>
            </a:avLst>
          </a:prstGeom>
          <a:solidFill>
            <a:srgbClr val="F7EEE4"/>
          </a:solidFill>
          <a:ln w="12700">
            <a:solidFill>
              <a:srgbClr val="E4C49A"/>
            </a:solidFill>
            <a:prstDash val="solid"/>
          </a:ln>
        </p:spPr>
      </p:sp>
      <p:sp>
        <p:nvSpPr>
          <p:cNvPr id="36" name="Text 34"/>
          <p:cNvSpPr/>
          <p:nvPr/>
        </p:nvSpPr>
        <p:spPr>
          <a:xfrm>
            <a:off x="749808" y="6053328"/>
            <a:ext cx="804672" cy="146304"/>
          </a:xfrm>
          <a:prstGeom prst="rect">
            <a:avLst/>
          </a:prstGeom>
          <a:noFill/>
          <a:ln/>
        </p:spPr>
        <p:txBody>
          <a:bodyPr wrap="square" lIns="0" tIns="0" rIns="0" bIns="0" rtlCol="0" anchor="ctr"/>
          <a:lstStyle/>
          <a:p>
            <a:pPr indent="0" marL="0">
              <a:buNone/>
            </a:pPr>
            <a:r>
              <a:rPr lang="en-US" sz="850" b="1" dirty="0">
                <a:solidFill>
                  <a:srgbClr val="D9872D"/>
                </a:solidFill>
                <a:latin typeface="Segoe UI Semibold" pitchFamily="34" charset="0"/>
                <a:ea typeface="Segoe UI Semibold" pitchFamily="34" charset="-122"/>
                <a:cs typeface="Segoe UI Semibold" pitchFamily="34" charset="-120"/>
              </a:rPr>
              <a:t>GUARDRAIL</a:t>
            </a:r>
            <a:endParaRPr lang="en-US" sz="850" dirty="0"/>
          </a:p>
        </p:txBody>
      </p:sp>
      <p:sp>
        <p:nvSpPr>
          <p:cNvPr id="37" name="Text 35"/>
          <p:cNvSpPr/>
          <p:nvPr/>
        </p:nvSpPr>
        <p:spPr>
          <a:xfrm>
            <a:off x="1600200" y="6007608"/>
            <a:ext cx="9784080" cy="210312"/>
          </a:xfrm>
          <a:prstGeom prst="rect">
            <a:avLst/>
          </a:prstGeom>
          <a:noFill/>
          <a:ln/>
        </p:spPr>
        <p:txBody>
          <a:bodyPr wrap="square" lIns="0" tIns="0" rIns="0" bIns="0" rtlCol="0" anchor="ctr"/>
          <a:lstStyle/>
          <a:p>
            <a:pPr indent="0" marL="0">
              <a:buNone/>
            </a:pPr>
            <a:r>
              <a:rPr lang="en-US" sz="930" dirty="0">
                <a:solidFill>
                  <a:srgbClr val="172033"/>
                </a:solidFill>
                <a:latin typeface="Segoe UI" pitchFamily="34" charset="0"/>
                <a:ea typeface="Segoe UI" pitchFamily="34" charset="-122"/>
                <a:cs typeface="Segoe UI" pitchFamily="34" charset="-120"/>
              </a:rPr>
              <a:t>The candidate list is an outreach starting point - never an automatic action or a personnel decision.</a:t>
            </a:r>
            <a:endParaRPr lang="en-US" sz="93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320040"/>
            <a:ext cx="8046720" cy="438912"/>
          </a:xfrm>
          <a:prstGeom prst="rect">
            <a:avLst/>
          </a:prstGeom>
          <a:noFill/>
          <a:ln/>
        </p:spPr>
        <p:txBody>
          <a:bodyPr wrap="square" lIns="0" tIns="0" rIns="0" bIns="0" rtlCol="0" anchor="ctr"/>
          <a:lstStyle/>
          <a:p>
            <a:pPr indent="0" marL="0">
              <a:buNone/>
            </a:pPr>
            <a:r>
              <a:rPr lang="en-US" sz="2600" b="1" dirty="0">
                <a:solidFill>
                  <a:srgbClr val="172033"/>
                </a:solidFill>
                <a:latin typeface="Segoe UI Semibold" pitchFamily="34" charset="0"/>
                <a:ea typeface="Segoe UI Semibold" pitchFamily="34" charset="-122"/>
                <a:cs typeface="Segoe UI Semibold" pitchFamily="34" charset="-120"/>
              </a:rPr>
              <a:t>Methodology | Work-pattern context</a:t>
            </a:r>
            <a:endParaRPr lang="en-US" sz="2600" dirty="0"/>
          </a:p>
        </p:txBody>
      </p:sp>
      <p:sp>
        <p:nvSpPr>
          <p:cNvPr id="3" name="Text 1"/>
          <p:cNvSpPr/>
          <p:nvPr/>
        </p:nvSpPr>
        <p:spPr>
          <a:xfrm>
            <a:off x="502920" y="795528"/>
            <a:ext cx="10881360" cy="310896"/>
          </a:xfrm>
          <a:prstGeom prst="rect">
            <a:avLst/>
          </a:prstGeom>
          <a:noFill/>
          <a:ln/>
        </p:spPr>
        <p:txBody>
          <a:bodyPr wrap="square" lIns="0" tIns="0" rIns="0" bIns="0" rtlCol="0" anchor="ctr"/>
          <a:lstStyle/>
          <a:p>
            <a:pPr indent="0" marL="0">
              <a:buNone/>
            </a:pPr>
            <a:r>
              <a:rPr lang="en-US" sz="1200" dirty="0">
                <a:solidFill>
                  <a:srgbClr val="647084"/>
                </a:solidFill>
                <a:latin typeface="Segoe UI" pitchFamily="34" charset="0"/>
                <a:ea typeface="Segoe UI" pitchFamily="34" charset="-122"/>
                <a:cs typeface="Segoe UI" pitchFamily="34" charset="-120"/>
              </a:rPr>
              <a:t>Use one selected pattern and one explicit non-causal question</a:t>
            </a:r>
            <a:endParaRPr lang="en-US" sz="1200" dirty="0"/>
          </a:p>
        </p:txBody>
      </p:sp>
      <p:sp>
        <p:nvSpPr>
          <p:cNvPr id="4" name="Text 2"/>
          <p:cNvSpPr/>
          <p:nvPr/>
        </p:nvSpPr>
        <p:spPr>
          <a:xfrm>
            <a:off x="502920" y="6510528"/>
            <a:ext cx="3017520" cy="164592"/>
          </a:xfrm>
          <a:prstGeom prst="rect">
            <a:avLst/>
          </a:prstGeom>
          <a:noFill/>
          <a:ln/>
        </p:spPr>
        <p:txBody>
          <a:bodyPr wrap="square" lIns="0" tIns="0" rIns="0" bIns="0" rtlCol="0" anchor="ctr"/>
          <a:lstStyle/>
          <a:p>
            <a:pPr indent="0" marL="0">
              <a:buNone/>
            </a:pPr>
            <a:r>
              <a:rPr lang="en-US" sz="800" dirty="0">
                <a:solidFill>
                  <a:srgbClr val="647084"/>
                </a:solidFill>
                <a:latin typeface="Segoe UI" pitchFamily="34" charset="0"/>
                <a:ea typeface="Segoe UI" pitchFamily="34" charset="-122"/>
                <a:cs typeface="Segoe UI" pitchFamily="34" charset="-120"/>
              </a:rPr>
              <a:t>microsoft/CoworkSuperUser</a:t>
            </a:r>
            <a:endParaRPr lang="en-US" sz="800" dirty="0"/>
          </a:p>
        </p:txBody>
      </p:sp>
      <p:sp>
        <p:nvSpPr>
          <p:cNvPr id="5" name="Text 3"/>
          <p:cNvSpPr/>
          <p:nvPr/>
        </p:nvSpPr>
        <p:spPr>
          <a:xfrm>
            <a:off x="7772400" y="6510528"/>
            <a:ext cx="356616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Version 1.0 | Public | Methodology</a:t>
            </a:r>
            <a:endParaRPr lang="en-US" sz="800" dirty="0"/>
          </a:p>
        </p:txBody>
      </p:sp>
      <p:sp>
        <p:nvSpPr>
          <p:cNvPr id="6" name="Text 4"/>
          <p:cNvSpPr/>
          <p:nvPr/>
        </p:nvSpPr>
        <p:spPr>
          <a:xfrm>
            <a:off x="11384280" y="6510528"/>
            <a:ext cx="32004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22</a:t>
            </a:r>
            <a:endParaRPr lang="en-US" sz="800" dirty="0"/>
          </a:p>
        </p:txBody>
      </p:sp>
      <p:sp>
        <p:nvSpPr>
          <p:cNvPr id="7" name="Shape 5"/>
          <p:cNvSpPr/>
          <p:nvPr/>
        </p:nvSpPr>
        <p:spPr>
          <a:xfrm>
            <a:off x="685800" y="1325880"/>
            <a:ext cx="5257800" cy="1828800"/>
          </a:xfrm>
          <a:prstGeom prst="roundRect">
            <a:avLst>
              <a:gd name="adj" fmla="val 4000"/>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8" name="Shape 6"/>
          <p:cNvSpPr/>
          <p:nvPr/>
        </p:nvSpPr>
        <p:spPr>
          <a:xfrm>
            <a:off x="685800" y="1325880"/>
            <a:ext cx="64008" cy="1828800"/>
          </a:xfrm>
          <a:prstGeom prst="rect">
            <a:avLst/>
          </a:prstGeom>
          <a:solidFill>
            <a:srgbClr val="4F80C1"/>
          </a:solidFill>
          <a:ln w="12700">
            <a:solidFill>
              <a:srgbClr val="4F80C1"/>
            </a:solidFill>
            <a:prstDash val="solid"/>
          </a:ln>
        </p:spPr>
      </p:sp>
      <p:sp>
        <p:nvSpPr>
          <p:cNvPr id="9" name="Text 7"/>
          <p:cNvSpPr/>
          <p:nvPr/>
        </p:nvSpPr>
        <p:spPr>
          <a:xfrm>
            <a:off x="886968" y="1453896"/>
            <a:ext cx="492861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Collaboration network</a:t>
            </a:r>
            <a:endParaRPr lang="en-US" sz="1300" dirty="0"/>
          </a:p>
        </p:txBody>
      </p:sp>
      <p:sp>
        <p:nvSpPr>
          <p:cNvPr id="10" name="Text 8"/>
          <p:cNvSpPr/>
          <p:nvPr/>
        </p:nvSpPr>
        <p:spPr>
          <a:xfrm>
            <a:off x="886968" y="1764792"/>
            <a:ext cx="4928616" cy="128016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Internal network size</a:t>
            </a: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External network size</a:t>
            </a: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Network outside organization</a:t>
            </a:r>
            <a:endParaRPr lang="en-US" sz="1050" dirty="0"/>
          </a:p>
          <a:p>
            <a:pPr indent="0" marL="0">
              <a:buNone/>
            </a:pP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Question: do stages differ descriptively in the size or mix of reciprocal connections?</a:t>
            </a:r>
            <a:endParaRPr lang="en-US" sz="1050" dirty="0"/>
          </a:p>
        </p:txBody>
      </p:sp>
      <p:sp>
        <p:nvSpPr>
          <p:cNvPr id="11" name="Shape 9"/>
          <p:cNvSpPr/>
          <p:nvPr/>
        </p:nvSpPr>
        <p:spPr>
          <a:xfrm>
            <a:off x="6245352" y="1325880"/>
            <a:ext cx="5257800" cy="1828800"/>
          </a:xfrm>
          <a:prstGeom prst="roundRect">
            <a:avLst>
              <a:gd name="adj" fmla="val 4000"/>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12" name="Shape 10"/>
          <p:cNvSpPr/>
          <p:nvPr/>
        </p:nvSpPr>
        <p:spPr>
          <a:xfrm>
            <a:off x="6245352" y="1325880"/>
            <a:ext cx="64008" cy="1828800"/>
          </a:xfrm>
          <a:prstGeom prst="rect">
            <a:avLst/>
          </a:prstGeom>
          <a:solidFill>
            <a:srgbClr val="168B82"/>
          </a:solidFill>
          <a:ln w="12700">
            <a:solidFill>
              <a:srgbClr val="168B82"/>
            </a:solidFill>
            <a:prstDash val="solid"/>
          </a:ln>
        </p:spPr>
      </p:sp>
      <p:sp>
        <p:nvSpPr>
          <p:cNvPr id="13" name="Text 11"/>
          <p:cNvSpPr/>
          <p:nvPr/>
        </p:nvSpPr>
        <p:spPr>
          <a:xfrm>
            <a:off x="6446520" y="1453896"/>
            <a:ext cx="492861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Beyond-hours work</a:t>
            </a:r>
            <a:endParaRPr lang="en-US" sz="1300" dirty="0"/>
          </a:p>
        </p:txBody>
      </p:sp>
      <p:sp>
        <p:nvSpPr>
          <p:cNvPr id="14" name="Text 12"/>
          <p:cNvSpPr/>
          <p:nvPr/>
        </p:nvSpPr>
        <p:spPr>
          <a:xfrm>
            <a:off x="6446520" y="1764792"/>
            <a:ext cx="4928616" cy="128016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After-hours collaboration</a:t>
            </a: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Weekend collaboration</a:t>
            </a: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Collaboration span</a:t>
            </a:r>
            <a:endParaRPr lang="en-US" sz="1050" dirty="0"/>
          </a:p>
          <a:p>
            <a:pPr indent="0" marL="0">
              <a:buNone/>
            </a:pPr>
            <a:endParaRPr lang="en-US" sz="1050" dirty="0"/>
          </a:p>
          <a:p>
            <a:pPr indent="0" marL="0">
              <a:buNone/>
            </a:pPr>
            <a:r>
              <a:rPr lang="en-US" sz="1050" dirty="0">
                <a:solidFill>
                  <a:srgbClr val="647084"/>
                </a:solidFill>
                <a:latin typeface="Segoe UI" pitchFamily="34" charset="0"/>
                <a:ea typeface="Segoe UI" pitchFamily="34" charset="-122"/>
                <a:cs typeface="Segoe UI" pitchFamily="34" charset="-120"/>
              </a:rPr>
              <a:t>Question: do stages differ descriptively in when collaboration occurs?</a:t>
            </a:r>
            <a:endParaRPr lang="en-US" sz="1050" dirty="0"/>
          </a:p>
        </p:txBody>
      </p:sp>
      <p:sp>
        <p:nvSpPr>
          <p:cNvPr id="15" name="Shape 13"/>
          <p:cNvSpPr/>
          <p:nvPr/>
        </p:nvSpPr>
        <p:spPr>
          <a:xfrm>
            <a:off x="685800" y="3520440"/>
            <a:ext cx="5257800" cy="1325880"/>
          </a:xfrm>
          <a:prstGeom prst="roundRect">
            <a:avLst>
              <a:gd name="adj" fmla="val 5517"/>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16" name="Shape 14"/>
          <p:cNvSpPr/>
          <p:nvPr/>
        </p:nvSpPr>
        <p:spPr>
          <a:xfrm>
            <a:off x="685800" y="3520440"/>
            <a:ext cx="64008" cy="1325880"/>
          </a:xfrm>
          <a:prstGeom prst="rect">
            <a:avLst/>
          </a:prstGeom>
          <a:solidFill>
            <a:srgbClr val="6B4EA2"/>
          </a:solidFill>
          <a:ln w="12700">
            <a:solidFill>
              <a:srgbClr val="6B4EA2"/>
            </a:solidFill>
            <a:prstDash val="solid"/>
          </a:ln>
        </p:spPr>
      </p:sp>
      <p:sp>
        <p:nvSpPr>
          <p:cNvPr id="17" name="Text 15"/>
          <p:cNvSpPr/>
          <p:nvPr/>
        </p:nvSpPr>
        <p:spPr>
          <a:xfrm>
            <a:off x="886968" y="3648456"/>
            <a:ext cx="492861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Stage comparison</a:t>
            </a:r>
            <a:endParaRPr lang="en-US" sz="1300" dirty="0"/>
          </a:p>
        </p:txBody>
      </p:sp>
      <p:sp>
        <p:nvSpPr>
          <p:cNvPr id="18" name="Text 16"/>
          <p:cNvSpPr/>
          <p:nvPr/>
        </p:nvSpPr>
        <p:spPr>
          <a:xfrm>
            <a:off x="886968" y="3959352"/>
            <a:ext cx="4928616" cy="77724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Selected stage average minus the Non-user average, divided by the Non-user average. Both groups must meet the privacy floor.</a:t>
            </a:r>
            <a:endParaRPr lang="en-US" sz="1050" dirty="0"/>
          </a:p>
        </p:txBody>
      </p:sp>
      <p:sp>
        <p:nvSpPr>
          <p:cNvPr id="19" name="Shape 17"/>
          <p:cNvSpPr/>
          <p:nvPr/>
        </p:nvSpPr>
        <p:spPr>
          <a:xfrm>
            <a:off x="6245352" y="3520440"/>
            <a:ext cx="5257800" cy="1325880"/>
          </a:xfrm>
          <a:prstGeom prst="roundRect">
            <a:avLst>
              <a:gd name="adj" fmla="val 5517"/>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20" name="Shape 18"/>
          <p:cNvSpPr/>
          <p:nvPr/>
        </p:nvSpPr>
        <p:spPr>
          <a:xfrm>
            <a:off x="6245352" y="3520440"/>
            <a:ext cx="64008" cy="1325880"/>
          </a:xfrm>
          <a:prstGeom prst="rect">
            <a:avLst/>
          </a:prstGeom>
          <a:solidFill>
            <a:srgbClr val="3A8F5B"/>
          </a:solidFill>
          <a:ln w="12700">
            <a:solidFill>
              <a:srgbClr val="3A8F5B"/>
            </a:solidFill>
            <a:prstDash val="solid"/>
          </a:ln>
        </p:spPr>
      </p:sp>
      <p:sp>
        <p:nvSpPr>
          <p:cNvPr id="21" name="Text 19"/>
          <p:cNvSpPr/>
          <p:nvPr/>
        </p:nvSpPr>
        <p:spPr>
          <a:xfrm>
            <a:off x="6446520" y="3648456"/>
            <a:ext cx="492861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Weekly trend</a:t>
            </a:r>
            <a:endParaRPr lang="en-US" sz="1300" dirty="0"/>
          </a:p>
        </p:txBody>
      </p:sp>
      <p:sp>
        <p:nvSpPr>
          <p:cNvPr id="22" name="Text 20"/>
          <p:cNvSpPr/>
          <p:nvPr/>
        </p:nvSpPr>
        <p:spPr>
          <a:xfrm>
            <a:off x="6446520" y="3959352"/>
            <a:ext cx="4928616" cy="77724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The selected pattern and Cowork session intensity use separate axes. Compare direction and timing - not absolute magnitudes.</a:t>
            </a:r>
            <a:endParaRPr lang="en-US" sz="1050" dirty="0"/>
          </a:p>
        </p:txBody>
      </p:sp>
      <p:sp>
        <p:nvSpPr>
          <p:cNvPr id="23" name="Shape 21"/>
          <p:cNvSpPr/>
          <p:nvPr/>
        </p:nvSpPr>
        <p:spPr>
          <a:xfrm>
            <a:off x="594360" y="5925312"/>
            <a:ext cx="11018520" cy="438912"/>
          </a:xfrm>
          <a:prstGeom prst="roundRect">
            <a:avLst>
              <a:gd name="adj" fmla="val 12500"/>
            </a:avLst>
          </a:prstGeom>
          <a:solidFill>
            <a:srgbClr val="F7EEE4"/>
          </a:solidFill>
          <a:ln w="12700">
            <a:solidFill>
              <a:srgbClr val="E4C49A"/>
            </a:solidFill>
            <a:prstDash val="solid"/>
          </a:ln>
        </p:spPr>
      </p:sp>
      <p:sp>
        <p:nvSpPr>
          <p:cNvPr id="24" name="Text 22"/>
          <p:cNvSpPr/>
          <p:nvPr/>
        </p:nvSpPr>
        <p:spPr>
          <a:xfrm>
            <a:off x="749808" y="6053328"/>
            <a:ext cx="804672" cy="146304"/>
          </a:xfrm>
          <a:prstGeom prst="rect">
            <a:avLst/>
          </a:prstGeom>
          <a:noFill/>
          <a:ln/>
        </p:spPr>
        <p:txBody>
          <a:bodyPr wrap="square" lIns="0" tIns="0" rIns="0" bIns="0" rtlCol="0" anchor="ctr"/>
          <a:lstStyle/>
          <a:p>
            <a:pPr indent="0" marL="0">
              <a:buNone/>
            </a:pPr>
            <a:r>
              <a:rPr lang="en-US" sz="850" b="1" dirty="0">
                <a:solidFill>
                  <a:srgbClr val="D9872D"/>
                </a:solidFill>
                <a:latin typeface="Segoe UI Semibold" pitchFamily="34" charset="0"/>
                <a:ea typeface="Segoe UI Semibold" pitchFamily="34" charset="-122"/>
                <a:cs typeface="Segoe UI Semibold" pitchFamily="34" charset="-120"/>
              </a:rPr>
              <a:t>GUARDRAIL</a:t>
            </a:r>
            <a:endParaRPr lang="en-US" sz="850" dirty="0"/>
          </a:p>
        </p:txBody>
      </p:sp>
      <p:sp>
        <p:nvSpPr>
          <p:cNvPr id="25" name="Text 23"/>
          <p:cNvSpPr/>
          <p:nvPr/>
        </p:nvSpPr>
        <p:spPr>
          <a:xfrm>
            <a:off x="1600200" y="6007608"/>
            <a:ext cx="9784080" cy="210312"/>
          </a:xfrm>
          <a:prstGeom prst="rect">
            <a:avLst/>
          </a:prstGeom>
          <a:noFill/>
          <a:ln/>
        </p:spPr>
        <p:txBody>
          <a:bodyPr wrap="square" lIns="0" tIns="0" rIns="0" bIns="0" rtlCol="0" anchor="ctr"/>
          <a:lstStyle/>
          <a:p>
            <a:pPr indent="0" marL="0">
              <a:buNone/>
            </a:pPr>
            <a:r>
              <a:rPr lang="en-US" sz="930" dirty="0">
                <a:solidFill>
                  <a:srgbClr val="172033"/>
                </a:solidFill>
                <a:latin typeface="Segoe UI" pitchFamily="34" charset="0"/>
                <a:ea typeface="Segoe UI" pitchFamily="34" charset="-122"/>
                <a:cs typeface="Segoe UI" pitchFamily="34" charset="-120"/>
              </a:rPr>
              <a:t>No work-pattern measure establishes Cowork impact. Treat every difference as a prompt for local investigation.</a:t>
            </a:r>
            <a:endParaRPr lang="en-US" sz="93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02920" y="320040"/>
            <a:ext cx="8046720" cy="438912"/>
          </a:xfrm>
          <a:prstGeom prst="rect">
            <a:avLst/>
          </a:prstGeom>
          <a:noFill/>
          <a:ln/>
        </p:spPr>
        <p:txBody>
          <a:bodyPr wrap="square" lIns="0" tIns="0" rIns="0" bIns="0" rtlCol="0" anchor="ctr"/>
          <a:lstStyle/>
          <a:p>
            <a:pPr indent="0" marL="0">
              <a:buNone/>
            </a:pPr>
            <a:r>
              <a:rPr lang="en-US" sz="2600" b="1" dirty="0">
                <a:solidFill>
                  <a:srgbClr val="172033"/>
                </a:solidFill>
                <a:latin typeface="Segoe UI Semibold" pitchFamily="34" charset="0"/>
                <a:ea typeface="Segoe UI Semibold" pitchFamily="34" charset="-122"/>
                <a:cs typeface="Segoe UI Semibold" pitchFamily="34" charset="-120"/>
              </a:rPr>
              <a:t>Data pipeline | Build, connect, validate</a:t>
            </a:r>
            <a:endParaRPr lang="en-US" sz="2600" dirty="0"/>
          </a:p>
        </p:txBody>
      </p:sp>
      <p:sp>
        <p:nvSpPr>
          <p:cNvPr id="3" name="Text 1"/>
          <p:cNvSpPr/>
          <p:nvPr/>
        </p:nvSpPr>
        <p:spPr>
          <a:xfrm>
            <a:off x="502920" y="795528"/>
            <a:ext cx="10881360" cy="310896"/>
          </a:xfrm>
          <a:prstGeom prst="rect">
            <a:avLst/>
          </a:prstGeom>
          <a:noFill/>
          <a:ln/>
        </p:spPr>
        <p:txBody>
          <a:bodyPr wrap="square" lIns="0" tIns="0" rIns="0" bIns="0" rtlCol="0" anchor="ctr"/>
          <a:lstStyle/>
          <a:p>
            <a:pPr indent="0" marL="0">
              <a:buNone/>
            </a:pPr>
            <a:r>
              <a:rPr lang="en-US" sz="1200" dirty="0">
                <a:solidFill>
                  <a:srgbClr val="647084"/>
                </a:solidFill>
                <a:latin typeface="Segoe UI" pitchFamily="34" charset="0"/>
                <a:ea typeface="Segoe UI" pitchFamily="34" charset="-122"/>
                <a:cs typeface="Segoe UI" pitchFamily="34" charset="-120"/>
              </a:rPr>
              <a:t>One shared partition, two completed analyses, and a repeatable refresh gate</a:t>
            </a:r>
            <a:endParaRPr lang="en-US" sz="1200" dirty="0"/>
          </a:p>
        </p:txBody>
      </p:sp>
      <p:sp>
        <p:nvSpPr>
          <p:cNvPr id="4" name="Text 2"/>
          <p:cNvSpPr/>
          <p:nvPr/>
        </p:nvSpPr>
        <p:spPr>
          <a:xfrm>
            <a:off x="502920" y="6510528"/>
            <a:ext cx="3017520" cy="164592"/>
          </a:xfrm>
          <a:prstGeom prst="rect">
            <a:avLst/>
          </a:prstGeom>
          <a:noFill/>
          <a:ln/>
        </p:spPr>
        <p:txBody>
          <a:bodyPr wrap="square" lIns="0" tIns="0" rIns="0" bIns="0" rtlCol="0" anchor="ctr"/>
          <a:lstStyle/>
          <a:p>
            <a:pPr indent="0" marL="0">
              <a:buNone/>
            </a:pPr>
            <a:r>
              <a:rPr lang="en-US" sz="800" dirty="0">
                <a:solidFill>
                  <a:srgbClr val="647084"/>
                </a:solidFill>
                <a:latin typeface="Segoe UI" pitchFamily="34" charset="0"/>
                <a:ea typeface="Segoe UI" pitchFamily="34" charset="-122"/>
                <a:cs typeface="Segoe UI" pitchFamily="34" charset="-120"/>
              </a:rPr>
              <a:t>microsoft/CoworkSuperUser</a:t>
            </a:r>
            <a:endParaRPr lang="en-US" sz="800" dirty="0"/>
          </a:p>
        </p:txBody>
      </p:sp>
      <p:sp>
        <p:nvSpPr>
          <p:cNvPr id="5" name="Text 3"/>
          <p:cNvSpPr/>
          <p:nvPr/>
        </p:nvSpPr>
        <p:spPr>
          <a:xfrm>
            <a:off x="7772400" y="6510528"/>
            <a:ext cx="356616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Version 1.0 | Public | Operations</a:t>
            </a:r>
            <a:endParaRPr lang="en-US" sz="800" dirty="0"/>
          </a:p>
        </p:txBody>
      </p:sp>
      <p:sp>
        <p:nvSpPr>
          <p:cNvPr id="6" name="Text 4"/>
          <p:cNvSpPr/>
          <p:nvPr/>
        </p:nvSpPr>
        <p:spPr>
          <a:xfrm>
            <a:off x="11384280" y="6510528"/>
            <a:ext cx="32004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23</a:t>
            </a:r>
            <a:endParaRPr lang="en-US" sz="800" dirty="0"/>
          </a:p>
        </p:txBody>
      </p:sp>
      <p:sp>
        <p:nvSpPr>
          <p:cNvPr id="7" name="Shape 5"/>
          <p:cNvSpPr/>
          <p:nvPr/>
        </p:nvSpPr>
        <p:spPr>
          <a:xfrm>
            <a:off x="1161288" y="1280160"/>
            <a:ext cx="566928" cy="566928"/>
          </a:xfrm>
          <a:prstGeom prst="ellipse">
            <a:avLst/>
          </a:prstGeom>
          <a:solidFill>
            <a:srgbClr val="4F80C1"/>
          </a:solidFill>
          <a:ln w="25400">
            <a:solidFill>
              <a:srgbClr val="FFFFFF"/>
            </a:solidFill>
            <a:prstDash val="solid"/>
          </a:ln>
        </p:spPr>
      </p:sp>
      <p:sp>
        <p:nvSpPr>
          <p:cNvPr id="8" name="Text 6"/>
          <p:cNvSpPr/>
          <p:nvPr/>
        </p:nvSpPr>
        <p:spPr>
          <a:xfrm>
            <a:off x="1161288" y="1408176"/>
            <a:ext cx="566928" cy="20116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Shape 7"/>
          <p:cNvSpPr/>
          <p:nvPr/>
        </p:nvSpPr>
        <p:spPr>
          <a:xfrm>
            <a:off x="411480" y="2084832"/>
            <a:ext cx="2103120" cy="2103120"/>
          </a:xfrm>
          <a:prstGeom prst="roundRect">
            <a:avLst>
              <a:gd name="adj" fmla="val 3478"/>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10" name="Shape 8"/>
          <p:cNvSpPr/>
          <p:nvPr/>
        </p:nvSpPr>
        <p:spPr>
          <a:xfrm>
            <a:off x="411480" y="2084832"/>
            <a:ext cx="64008" cy="2103120"/>
          </a:xfrm>
          <a:prstGeom prst="rect">
            <a:avLst/>
          </a:prstGeom>
          <a:solidFill>
            <a:srgbClr val="4F80C1"/>
          </a:solidFill>
          <a:ln w="12700">
            <a:solidFill>
              <a:srgbClr val="4F80C1"/>
            </a:solidFill>
            <a:prstDash val="solid"/>
          </a:ln>
        </p:spPr>
      </p:sp>
      <p:sp>
        <p:nvSpPr>
          <p:cNvPr id="11" name="Text 9"/>
          <p:cNvSpPr/>
          <p:nvPr/>
        </p:nvSpPr>
        <p:spPr>
          <a:xfrm>
            <a:off x="612648" y="2212848"/>
            <a:ext cx="177393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Person Query</a:t>
            </a:r>
            <a:endParaRPr lang="en-US" sz="1300" dirty="0"/>
          </a:p>
        </p:txBody>
      </p:sp>
      <p:sp>
        <p:nvSpPr>
          <p:cNvPr id="12" name="Text 10"/>
          <p:cNvSpPr/>
          <p:nvPr/>
        </p:nvSpPr>
        <p:spPr>
          <a:xfrm>
            <a:off x="612648" y="2523744"/>
            <a:ext cx="1773936" cy="155448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Week grouping, active population, organization attributes, and complete work-pattern metrics.</a:t>
            </a:r>
            <a:endParaRPr lang="en-US" sz="1050" dirty="0"/>
          </a:p>
        </p:txBody>
      </p:sp>
      <p:sp>
        <p:nvSpPr>
          <p:cNvPr id="13" name="Shape 11"/>
          <p:cNvSpPr/>
          <p:nvPr/>
        </p:nvSpPr>
        <p:spPr>
          <a:xfrm>
            <a:off x="2496312" y="1417320"/>
            <a:ext cx="320040" cy="320040"/>
          </a:xfrm>
          <a:prstGeom prst="chevron">
            <a:avLst/>
          </a:prstGeom>
          <a:solidFill>
            <a:srgbClr val="B9AEC8"/>
          </a:solidFill>
          <a:ln w="12700">
            <a:solidFill>
              <a:srgbClr val="B9AEC8"/>
            </a:solidFill>
            <a:prstDash val="solid"/>
          </a:ln>
        </p:spPr>
      </p:sp>
      <p:sp>
        <p:nvSpPr>
          <p:cNvPr id="14" name="Shape 12"/>
          <p:cNvSpPr/>
          <p:nvPr/>
        </p:nvSpPr>
        <p:spPr>
          <a:xfrm>
            <a:off x="3493008" y="1280160"/>
            <a:ext cx="566928" cy="566928"/>
          </a:xfrm>
          <a:prstGeom prst="ellipse">
            <a:avLst/>
          </a:prstGeom>
          <a:solidFill>
            <a:srgbClr val="168B82"/>
          </a:solidFill>
          <a:ln w="25400">
            <a:solidFill>
              <a:srgbClr val="FFFFFF"/>
            </a:solidFill>
            <a:prstDash val="solid"/>
          </a:ln>
        </p:spPr>
      </p:sp>
      <p:sp>
        <p:nvSpPr>
          <p:cNvPr id="15" name="Text 13"/>
          <p:cNvSpPr/>
          <p:nvPr/>
        </p:nvSpPr>
        <p:spPr>
          <a:xfrm>
            <a:off x="3493008" y="1408176"/>
            <a:ext cx="566928" cy="20116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6" name="Shape 14"/>
          <p:cNvSpPr/>
          <p:nvPr/>
        </p:nvSpPr>
        <p:spPr>
          <a:xfrm>
            <a:off x="2743200" y="2084832"/>
            <a:ext cx="2103120" cy="2103120"/>
          </a:xfrm>
          <a:prstGeom prst="roundRect">
            <a:avLst>
              <a:gd name="adj" fmla="val 3478"/>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17" name="Shape 15"/>
          <p:cNvSpPr/>
          <p:nvPr/>
        </p:nvSpPr>
        <p:spPr>
          <a:xfrm>
            <a:off x="2743200" y="2084832"/>
            <a:ext cx="64008" cy="2103120"/>
          </a:xfrm>
          <a:prstGeom prst="rect">
            <a:avLst/>
          </a:prstGeom>
          <a:solidFill>
            <a:srgbClr val="168B82"/>
          </a:solidFill>
          <a:ln w="12700">
            <a:solidFill>
              <a:srgbClr val="168B82"/>
            </a:solidFill>
            <a:prstDash val="solid"/>
          </a:ln>
        </p:spPr>
      </p:sp>
      <p:sp>
        <p:nvSpPr>
          <p:cNvPr id="18" name="Text 16"/>
          <p:cNvSpPr/>
          <p:nvPr/>
        </p:nvSpPr>
        <p:spPr>
          <a:xfrm>
            <a:off x="2944368" y="2212848"/>
            <a:ext cx="177393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Consumption query</a:t>
            </a:r>
            <a:endParaRPr lang="en-US" sz="1300" dirty="0"/>
          </a:p>
        </p:txBody>
      </p:sp>
      <p:sp>
        <p:nvSpPr>
          <p:cNvPr id="19" name="Text 17"/>
          <p:cNvSpPr/>
          <p:nvPr/>
        </p:nvSpPr>
        <p:spPr>
          <a:xfrm>
            <a:off x="2944368" y="2523744"/>
            <a:ext cx="1773936" cy="155448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Day grouping, Service Name = Cowork, sessions, credits, and policy limits.</a:t>
            </a:r>
            <a:endParaRPr lang="en-US" sz="1050" dirty="0"/>
          </a:p>
        </p:txBody>
      </p:sp>
      <p:sp>
        <p:nvSpPr>
          <p:cNvPr id="20" name="Shape 18"/>
          <p:cNvSpPr/>
          <p:nvPr/>
        </p:nvSpPr>
        <p:spPr>
          <a:xfrm>
            <a:off x="4828032" y="1417320"/>
            <a:ext cx="320040" cy="320040"/>
          </a:xfrm>
          <a:prstGeom prst="chevron">
            <a:avLst/>
          </a:prstGeom>
          <a:solidFill>
            <a:srgbClr val="B9AEC8"/>
          </a:solidFill>
          <a:ln w="12700">
            <a:solidFill>
              <a:srgbClr val="B9AEC8"/>
            </a:solidFill>
            <a:prstDash val="solid"/>
          </a:ln>
        </p:spPr>
      </p:sp>
      <p:sp>
        <p:nvSpPr>
          <p:cNvPr id="21" name="Shape 19"/>
          <p:cNvSpPr/>
          <p:nvPr/>
        </p:nvSpPr>
        <p:spPr>
          <a:xfrm>
            <a:off x="5824728" y="1280160"/>
            <a:ext cx="566928" cy="566928"/>
          </a:xfrm>
          <a:prstGeom prst="ellipse">
            <a:avLst/>
          </a:prstGeom>
          <a:solidFill>
            <a:srgbClr val="3A8F5B"/>
          </a:solidFill>
          <a:ln w="25400">
            <a:solidFill>
              <a:srgbClr val="FFFFFF"/>
            </a:solidFill>
            <a:prstDash val="solid"/>
          </a:ln>
        </p:spPr>
      </p:sp>
      <p:sp>
        <p:nvSpPr>
          <p:cNvPr id="22" name="Text 20"/>
          <p:cNvSpPr/>
          <p:nvPr/>
        </p:nvSpPr>
        <p:spPr>
          <a:xfrm>
            <a:off x="5824728" y="1408176"/>
            <a:ext cx="566928" cy="20116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3" name="Shape 21"/>
          <p:cNvSpPr/>
          <p:nvPr/>
        </p:nvSpPr>
        <p:spPr>
          <a:xfrm>
            <a:off x="5074920" y="2084832"/>
            <a:ext cx="2103120" cy="2103120"/>
          </a:xfrm>
          <a:prstGeom prst="roundRect">
            <a:avLst>
              <a:gd name="adj" fmla="val 3478"/>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24" name="Shape 22"/>
          <p:cNvSpPr/>
          <p:nvPr/>
        </p:nvSpPr>
        <p:spPr>
          <a:xfrm>
            <a:off x="5074920" y="2084832"/>
            <a:ext cx="64008" cy="2103120"/>
          </a:xfrm>
          <a:prstGeom prst="rect">
            <a:avLst/>
          </a:prstGeom>
          <a:solidFill>
            <a:srgbClr val="3A8F5B"/>
          </a:solidFill>
          <a:ln w="12700">
            <a:solidFill>
              <a:srgbClr val="3A8F5B"/>
            </a:solidFill>
            <a:prstDash val="solid"/>
          </a:ln>
        </p:spPr>
      </p:sp>
      <p:sp>
        <p:nvSpPr>
          <p:cNvPr id="25" name="Text 23"/>
          <p:cNvSpPr/>
          <p:nvPr/>
        </p:nvSpPr>
        <p:spPr>
          <a:xfrm>
            <a:off x="5276088" y="2212848"/>
            <a:ext cx="177393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Wait for Success</a:t>
            </a:r>
            <a:endParaRPr lang="en-US" sz="1300" dirty="0"/>
          </a:p>
        </p:txBody>
      </p:sp>
      <p:sp>
        <p:nvSpPr>
          <p:cNvPr id="26" name="Text 24"/>
          <p:cNvSpPr/>
          <p:nvPr/>
        </p:nvSpPr>
        <p:spPr>
          <a:xfrm>
            <a:off x="5276088" y="2523744"/>
            <a:ext cx="1773936" cy="155448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Never connect or export a result that is still processing.</a:t>
            </a:r>
            <a:endParaRPr lang="en-US" sz="1050" dirty="0"/>
          </a:p>
        </p:txBody>
      </p:sp>
      <p:sp>
        <p:nvSpPr>
          <p:cNvPr id="27" name="Shape 25"/>
          <p:cNvSpPr/>
          <p:nvPr/>
        </p:nvSpPr>
        <p:spPr>
          <a:xfrm>
            <a:off x="7159752" y="1417320"/>
            <a:ext cx="320040" cy="320040"/>
          </a:xfrm>
          <a:prstGeom prst="chevron">
            <a:avLst/>
          </a:prstGeom>
          <a:solidFill>
            <a:srgbClr val="B9AEC8"/>
          </a:solidFill>
          <a:ln w="12700">
            <a:solidFill>
              <a:srgbClr val="B9AEC8"/>
            </a:solidFill>
            <a:prstDash val="solid"/>
          </a:ln>
        </p:spPr>
      </p:sp>
      <p:sp>
        <p:nvSpPr>
          <p:cNvPr id="28" name="Shape 26"/>
          <p:cNvSpPr/>
          <p:nvPr/>
        </p:nvSpPr>
        <p:spPr>
          <a:xfrm>
            <a:off x="8156448" y="1280160"/>
            <a:ext cx="566928" cy="566928"/>
          </a:xfrm>
          <a:prstGeom prst="ellipse">
            <a:avLst/>
          </a:prstGeom>
          <a:solidFill>
            <a:srgbClr val="6B4EA2"/>
          </a:solidFill>
          <a:ln w="25400">
            <a:solidFill>
              <a:srgbClr val="FFFFFF"/>
            </a:solidFill>
            <a:prstDash val="solid"/>
          </a:ln>
        </p:spPr>
      </p:sp>
      <p:sp>
        <p:nvSpPr>
          <p:cNvPr id="29" name="Text 27"/>
          <p:cNvSpPr/>
          <p:nvPr/>
        </p:nvSpPr>
        <p:spPr>
          <a:xfrm>
            <a:off x="8156448" y="1408176"/>
            <a:ext cx="566928" cy="20116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30" name="Shape 28"/>
          <p:cNvSpPr/>
          <p:nvPr/>
        </p:nvSpPr>
        <p:spPr>
          <a:xfrm>
            <a:off x="7406640" y="2084832"/>
            <a:ext cx="2103120" cy="2103120"/>
          </a:xfrm>
          <a:prstGeom prst="roundRect">
            <a:avLst>
              <a:gd name="adj" fmla="val 3478"/>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31" name="Shape 29"/>
          <p:cNvSpPr/>
          <p:nvPr/>
        </p:nvSpPr>
        <p:spPr>
          <a:xfrm>
            <a:off x="7406640" y="2084832"/>
            <a:ext cx="64008" cy="2103120"/>
          </a:xfrm>
          <a:prstGeom prst="rect">
            <a:avLst/>
          </a:prstGeom>
          <a:solidFill>
            <a:srgbClr val="6B4EA2"/>
          </a:solidFill>
          <a:ln w="12700">
            <a:solidFill>
              <a:srgbClr val="6B4EA2"/>
            </a:solidFill>
            <a:prstDash val="solid"/>
          </a:ln>
        </p:spPr>
      </p:sp>
      <p:sp>
        <p:nvSpPr>
          <p:cNvPr id="32" name="Text 30"/>
          <p:cNvSpPr/>
          <p:nvPr/>
        </p:nvSpPr>
        <p:spPr>
          <a:xfrm>
            <a:off x="7607808" y="2212848"/>
            <a:ext cx="177393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Connect</a:t>
            </a:r>
            <a:endParaRPr lang="en-US" sz="1300" dirty="0"/>
          </a:p>
        </p:txBody>
      </p:sp>
      <p:sp>
        <p:nvSpPr>
          <p:cNvPr id="33" name="Text 31"/>
          <p:cNvSpPr/>
          <p:nvPr/>
        </p:nvSpPr>
        <p:spPr>
          <a:xfrm>
            <a:off x="7607808" y="2523744"/>
            <a:ext cx="1773936" cy="155448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Enter raw GUIDs in Direct Query or export Cowork CSV for Optimized Export.</a:t>
            </a:r>
            <a:endParaRPr lang="en-US" sz="1050" dirty="0"/>
          </a:p>
        </p:txBody>
      </p:sp>
      <p:sp>
        <p:nvSpPr>
          <p:cNvPr id="34" name="Shape 32"/>
          <p:cNvSpPr/>
          <p:nvPr/>
        </p:nvSpPr>
        <p:spPr>
          <a:xfrm>
            <a:off x="9491472" y="1417320"/>
            <a:ext cx="320040" cy="320040"/>
          </a:xfrm>
          <a:prstGeom prst="chevron">
            <a:avLst/>
          </a:prstGeom>
          <a:solidFill>
            <a:srgbClr val="B9AEC8"/>
          </a:solidFill>
          <a:ln w="12700">
            <a:solidFill>
              <a:srgbClr val="B9AEC8"/>
            </a:solidFill>
            <a:prstDash val="solid"/>
          </a:ln>
        </p:spPr>
      </p:sp>
      <p:sp>
        <p:nvSpPr>
          <p:cNvPr id="35" name="Shape 33"/>
          <p:cNvSpPr/>
          <p:nvPr/>
        </p:nvSpPr>
        <p:spPr>
          <a:xfrm>
            <a:off x="10488168" y="1280160"/>
            <a:ext cx="566928" cy="566928"/>
          </a:xfrm>
          <a:prstGeom prst="ellipse">
            <a:avLst/>
          </a:prstGeom>
          <a:solidFill>
            <a:srgbClr val="D9872D"/>
          </a:solidFill>
          <a:ln w="25400">
            <a:solidFill>
              <a:srgbClr val="FFFFFF"/>
            </a:solidFill>
            <a:prstDash val="solid"/>
          </a:ln>
        </p:spPr>
      </p:sp>
      <p:sp>
        <p:nvSpPr>
          <p:cNvPr id="36" name="Text 34"/>
          <p:cNvSpPr/>
          <p:nvPr/>
        </p:nvSpPr>
        <p:spPr>
          <a:xfrm>
            <a:off x="10488168" y="1408176"/>
            <a:ext cx="566928" cy="20116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7" name="Shape 35"/>
          <p:cNvSpPr/>
          <p:nvPr/>
        </p:nvSpPr>
        <p:spPr>
          <a:xfrm>
            <a:off x="9738360" y="2084832"/>
            <a:ext cx="2103120" cy="2103120"/>
          </a:xfrm>
          <a:prstGeom prst="roundRect">
            <a:avLst>
              <a:gd name="adj" fmla="val 3478"/>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38" name="Shape 36"/>
          <p:cNvSpPr/>
          <p:nvPr/>
        </p:nvSpPr>
        <p:spPr>
          <a:xfrm>
            <a:off x="9738360" y="2084832"/>
            <a:ext cx="64008" cy="2103120"/>
          </a:xfrm>
          <a:prstGeom prst="rect">
            <a:avLst/>
          </a:prstGeom>
          <a:solidFill>
            <a:srgbClr val="D9872D"/>
          </a:solidFill>
          <a:ln w="12700">
            <a:solidFill>
              <a:srgbClr val="D9872D"/>
            </a:solidFill>
            <a:prstDash val="solid"/>
          </a:ln>
        </p:spPr>
      </p:sp>
      <p:sp>
        <p:nvSpPr>
          <p:cNvPr id="39" name="Text 37"/>
          <p:cNvSpPr/>
          <p:nvPr/>
        </p:nvSpPr>
        <p:spPr>
          <a:xfrm>
            <a:off x="9939528" y="2212848"/>
            <a:ext cx="177393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Validate</a:t>
            </a:r>
            <a:endParaRPr lang="en-US" sz="1300" dirty="0"/>
          </a:p>
        </p:txBody>
      </p:sp>
      <p:sp>
        <p:nvSpPr>
          <p:cNvPr id="40" name="Text 38"/>
          <p:cNvSpPr/>
          <p:nvPr/>
        </p:nvSpPr>
        <p:spPr>
          <a:xfrm>
            <a:off x="9939528" y="2523744"/>
            <a:ext cx="1773936" cy="155448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Population, weeks, sessions, organization coverage, work patterns, privacy, and no errors.</a:t>
            </a:r>
            <a:endParaRPr lang="en-US" sz="1050" dirty="0"/>
          </a:p>
        </p:txBody>
      </p:sp>
      <p:sp>
        <p:nvSpPr>
          <p:cNvPr id="41" name="Shape 39"/>
          <p:cNvSpPr/>
          <p:nvPr/>
        </p:nvSpPr>
        <p:spPr>
          <a:xfrm>
            <a:off x="1051560" y="4709160"/>
            <a:ext cx="10058400" cy="777240"/>
          </a:xfrm>
          <a:prstGeom prst="roundRect">
            <a:avLst>
              <a:gd name="adj" fmla="val 9412"/>
            </a:avLst>
          </a:prstGeom>
          <a:solidFill>
            <a:srgbClr val="FFFFFF"/>
          </a:solidFill>
          <a:ln w="12700">
            <a:solidFill>
              <a:srgbClr val="D9D3E6"/>
            </a:solidFill>
            <a:prstDash val="solid"/>
          </a:ln>
          <a:effectLst>
            <a:outerShdw sx="100000" sy="100000" kx="0" ky="0" algn="bl" rotWithShape="0" blurRad="19050" dist="50800" dir="2700000">
              <a:srgbClr val="B5AEC3">
                <a:alpha val="15000"/>
              </a:srgbClr>
            </a:outerShdw>
          </a:effectLst>
        </p:spPr>
      </p:sp>
      <p:sp>
        <p:nvSpPr>
          <p:cNvPr id="42" name="Shape 40"/>
          <p:cNvSpPr/>
          <p:nvPr/>
        </p:nvSpPr>
        <p:spPr>
          <a:xfrm>
            <a:off x="1051560" y="4709160"/>
            <a:ext cx="64008" cy="777240"/>
          </a:xfrm>
          <a:prstGeom prst="rect">
            <a:avLst/>
          </a:prstGeom>
          <a:solidFill>
            <a:srgbClr val="311F5E"/>
          </a:solidFill>
          <a:ln w="12700">
            <a:solidFill>
              <a:srgbClr val="311F5E"/>
            </a:solidFill>
            <a:prstDash val="solid"/>
          </a:ln>
        </p:spPr>
      </p:sp>
      <p:sp>
        <p:nvSpPr>
          <p:cNvPr id="43" name="Text 41"/>
          <p:cNvSpPr/>
          <p:nvPr/>
        </p:nvSpPr>
        <p:spPr>
          <a:xfrm>
            <a:off x="1252728" y="4837176"/>
            <a:ext cx="9729216" cy="256032"/>
          </a:xfrm>
          <a:prstGeom prst="rect">
            <a:avLst/>
          </a:prstGeom>
          <a:noFill/>
          <a:ln/>
        </p:spPr>
        <p:txBody>
          <a:bodyPr wrap="square" lIns="0" tIns="0" rIns="0" bIns="0" rtlCol="0" anchor="ctr"/>
          <a:lstStyle/>
          <a:p>
            <a:pPr indent="0" marL="0">
              <a:buNone/>
            </a:pPr>
            <a:r>
              <a:rPr lang="en-US" sz="1300" b="1" dirty="0">
                <a:solidFill>
                  <a:srgbClr val="172033"/>
                </a:solidFill>
                <a:latin typeface="Segoe UI Semibold" pitchFamily="34" charset="0"/>
                <a:ea typeface="Segoe UI Semibold" pitchFamily="34" charset="-122"/>
                <a:cs typeface="Segoe UI Semibold" pitchFamily="34" charset="-120"/>
              </a:rPr>
              <a:t>Recommended query period</a:t>
            </a:r>
            <a:endParaRPr lang="en-US" sz="1300" dirty="0"/>
          </a:p>
        </p:txBody>
      </p:sp>
      <p:sp>
        <p:nvSpPr>
          <p:cNvPr id="44" name="Text 42"/>
          <p:cNvSpPr/>
          <p:nvPr/>
        </p:nvSpPr>
        <p:spPr>
          <a:xfrm>
            <a:off x="1252728" y="5148072"/>
            <a:ext cx="9729216" cy="228600"/>
          </a:xfrm>
          <a:prstGeom prst="rect">
            <a:avLst/>
          </a:prstGeom>
          <a:noFill/>
          <a:ln/>
        </p:spPr>
        <p:txBody>
          <a:bodyPr wrap="square" lIns="254" tIns="254" rIns="254" bIns="254" rtlCol="0" anchor="t"/>
          <a:lstStyle/>
          <a:p>
            <a:pPr indent="0" marL="0">
              <a:buNone/>
            </a:pPr>
            <a:r>
              <a:rPr lang="en-US" sz="1050" dirty="0">
                <a:solidFill>
                  <a:srgbClr val="647084"/>
                </a:solidFill>
                <a:latin typeface="Segoe UI" pitchFamily="34" charset="0"/>
                <a:ea typeface="Segoe UI" pitchFamily="34" charset="-122"/>
                <a:cs typeface="Segoe UI" pitchFamily="34" charset="-120"/>
              </a:rPr>
              <a:t>Use a rolling six-month Person Query when possible. Shorter histories load, but longer history produces stronger 12-week stage and movement context.</a:t>
            </a:r>
            <a:endParaRPr lang="en-US" sz="1050" dirty="0"/>
          </a:p>
        </p:txBody>
      </p:sp>
      <p:sp>
        <p:nvSpPr>
          <p:cNvPr id="45" name="Shape 43"/>
          <p:cNvSpPr/>
          <p:nvPr/>
        </p:nvSpPr>
        <p:spPr>
          <a:xfrm>
            <a:off x="594360" y="5925312"/>
            <a:ext cx="11018520" cy="438912"/>
          </a:xfrm>
          <a:prstGeom prst="roundRect">
            <a:avLst>
              <a:gd name="adj" fmla="val 12500"/>
            </a:avLst>
          </a:prstGeom>
          <a:solidFill>
            <a:srgbClr val="F7EEE4"/>
          </a:solidFill>
          <a:ln w="12700">
            <a:solidFill>
              <a:srgbClr val="E4C49A"/>
            </a:solidFill>
            <a:prstDash val="solid"/>
          </a:ln>
        </p:spPr>
      </p:sp>
      <p:sp>
        <p:nvSpPr>
          <p:cNvPr id="46" name="Text 44"/>
          <p:cNvSpPr/>
          <p:nvPr/>
        </p:nvSpPr>
        <p:spPr>
          <a:xfrm>
            <a:off x="749808" y="6053328"/>
            <a:ext cx="804672" cy="146304"/>
          </a:xfrm>
          <a:prstGeom prst="rect">
            <a:avLst/>
          </a:prstGeom>
          <a:noFill/>
          <a:ln/>
        </p:spPr>
        <p:txBody>
          <a:bodyPr wrap="square" lIns="0" tIns="0" rIns="0" bIns="0" rtlCol="0" anchor="ctr"/>
          <a:lstStyle/>
          <a:p>
            <a:pPr indent="0" marL="0">
              <a:buNone/>
            </a:pPr>
            <a:r>
              <a:rPr lang="en-US" sz="850" b="1" dirty="0">
                <a:solidFill>
                  <a:srgbClr val="D9872D"/>
                </a:solidFill>
                <a:latin typeface="Segoe UI Semibold" pitchFamily="34" charset="0"/>
                <a:ea typeface="Segoe UI Semibold" pitchFamily="34" charset="-122"/>
                <a:cs typeface="Segoe UI Semibold" pitchFamily="34" charset="-120"/>
              </a:rPr>
              <a:t>GUARDRAIL</a:t>
            </a:r>
            <a:endParaRPr lang="en-US" sz="850" dirty="0"/>
          </a:p>
        </p:txBody>
      </p:sp>
      <p:sp>
        <p:nvSpPr>
          <p:cNvPr id="47" name="Text 45"/>
          <p:cNvSpPr/>
          <p:nvPr/>
        </p:nvSpPr>
        <p:spPr>
          <a:xfrm>
            <a:off x="1600200" y="6007608"/>
            <a:ext cx="9784080" cy="210312"/>
          </a:xfrm>
          <a:prstGeom prst="rect">
            <a:avLst/>
          </a:prstGeom>
          <a:noFill/>
          <a:ln/>
        </p:spPr>
        <p:txBody>
          <a:bodyPr wrap="square" lIns="0" tIns="0" rIns="0" bIns="0" rtlCol="0" anchor="ctr"/>
          <a:lstStyle/>
          <a:p>
            <a:pPr indent="0" marL="0">
              <a:buNone/>
            </a:pPr>
            <a:r>
              <a:rPr lang="en-US" sz="930" dirty="0">
                <a:solidFill>
                  <a:srgbClr val="172033"/>
                </a:solidFill>
                <a:latin typeface="Segoe UI" pitchFamily="34" charset="0"/>
                <a:ea typeface="Segoe UI" pitchFamily="34" charset="-122"/>
                <a:cs typeface="Segoe UI" pitchFamily="34" charset="-120"/>
              </a:rPr>
              <a:t>Both analyses must use the same partition and overlapping dates. Do not remove required columns after export.</a:t>
            </a:r>
            <a:endParaRPr lang="en-US" sz="93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320040"/>
            <a:ext cx="8046720" cy="438912"/>
          </a:xfrm>
          <a:prstGeom prst="rect">
            <a:avLst/>
          </a:prstGeom>
          <a:noFill/>
          <a:ln/>
        </p:spPr>
        <p:txBody>
          <a:bodyPr wrap="square" lIns="0" tIns="0" rIns="0" bIns="0" rtlCol="0" anchor="ctr"/>
          <a:lstStyle/>
          <a:p>
            <a:pPr indent="0" marL="0">
              <a:buNone/>
            </a:pPr>
            <a:r>
              <a:rPr lang="en-US" sz="2600" b="1" dirty="0">
                <a:solidFill>
                  <a:srgbClr val="172033"/>
                </a:solidFill>
                <a:latin typeface="Segoe UI Semibold" pitchFamily="34" charset="0"/>
                <a:ea typeface="Segoe UI Semibold" pitchFamily="34" charset="-122"/>
                <a:cs typeface="Segoe UI Semibold" pitchFamily="34" charset="-120"/>
              </a:rPr>
              <a:t>Defensible decision language</a:t>
            </a:r>
            <a:endParaRPr lang="en-US" sz="2600" dirty="0"/>
          </a:p>
        </p:txBody>
      </p:sp>
      <p:sp>
        <p:nvSpPr>
          <p:cNvPr id="3" name="Text 1"/>
          <p:cNvSpPr/>
          <p:nvPr/>
        </p:nvSpPr>
        <p:spPr>
          <a:xfrm>
            <a:off x="502920" y="795528"/>
            <a:ext cx="10881360" cy="310896"/>
          </a:xfrm>
          <a:prstGeom prst="rect">
            <a:avLst/>
          </a:prstGeom>
          <a:noFill/>
          <a:ln/>
        </p:spPr>
        <p:txBody>
          <a:bodyPr wrap="square" lIns="0" tIns="0" rIns="0" bIns="0" rtlCol="0" anchor="ctr"/>
          <a:lstStyle/>
          <a:p>
            <a:pPr indent="0" marL="0">
              <a:buNone/>
            </a:pPr>
            <a:r>
              <a:rPr lang="en-US" sz="1200" dirty="0">
                <a:solidFill>
                  <a:srgbClr val="647084"/>
                </a:solidFill>
                <a:latin typeface="Segoe UI" pitchFamily="34" charset="0"/>
                <a:ea typeface="Segoe UI" pitchFamily="34" charset="-122"/>
                <a:cs typeface="Segoe UI" pitchFamily="34" charset="-120"/>
              </a:rPr>
              <a:t>End with the evidence, the boundary, and an owned next step</a:t>
            </a:r>
            <a:endParaRPr lang="en-US" sz="1200" dirty="0"/>
          </a:p>
        </p:txBody>
      </p:sp>
      <p:sp>
        <p:nvSpPr>
          <p:cNvPr id="4" name="Text 2"/>
          <p:cNvSpPr/>
          <p:nvPr/>
        </p:nvSpPr>
        <p:spPr>
          <a:xfrm>
            <a:off x="502920" y="6510528"/>
            <a:ext cx="3017520" cy="164592"/>
          </a:xfrm>
          <a:prstGeom prst="rect">
            <a:avLst/>
          </a:prstGeom>
          <a:noFill/>
          <a:ln/>
        </p:spPr>
        <p:txBody>
          <a:bodyPr wrap="square" lIns="0" tIns="0" rIns="0" bIns="0" rtlCol="0" anchor="ctr"/>
          <a:lstStyle/>
          <a:p>
            <a:pPr indent="0" marL="0">
              <a:buNone/>
            </a:pPr>
            <a:r>
              <a:rPr lang="en-US" sz="800" dirty="0">
                <a:solidFill>
                  <a:srgbClr val="647084"/>
                </a:solidFill>
                <a:latin typeface="Segoe UI" pitchFamily="34" charset="0"/>
                <a:ea typeface="Segoe UI" pitchFamily="34" charset="-122"/>
                <a:cs typeface="Segoe UI" pitchFamily="34" charset="-120"/>
              </a:rPr>
              <a:t>microsoft/CoworkSuperUser</a:t>
            </a:r>
            <a:endParaRPr lang="en-US" sz="800" dirty="0"/>
          </a:p>
        </p:txBody>
      </p:sp>
      <p:sp>
        <p:nvSpPr>
          <p:cNvPr id="5" name="Text 3"/>
          <p:cNvSpPr/>
          <p:nvPr/>
        </p:nvSpPr>
        <p:spPr>
          <a:xfrm>
            <a:off x="7772400" y="6510528"/>
            <a:ext cx="356616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Version 1.0 | Public | Interpretation Guide</a:t>
            </a:r>
            <a:endParaRPr lang="en-US" sz="800" dirty="0"/>
          </a:p>
        </p:txBody>
      </p:sp>
      <p:sp>
        <p:nvSpPr>
          <p:cNvPr id="6" name="Text 4"/>
          <p:cNvSpPr/>
          <p:nvPr/>
        </p:nvSpPr>
        <p:spPr>
          <a:xfrm>
            <a:off x="11384280" y="6510528"/>
            <a:ext cx="320040" cy="164592"/>
          </a:xfrm>
          <a:prstGeom prst="rect">
            <a:avLst/>
          </a:prstGeom>
          <a:noFill/>
          <a:ln/>
        </p:spPr>
        <p:txBody>
          <a:bodyPr wrap="square" lIns="0" tIns="0" rIns="0" bIns="0" rtlCol="0" anchor="ctr"/>
          <a:lstStyle/>
          <a:p>
            <a:pPr algn="r" indent="0" marL="0">
              <a:buNone/>
            </a:pPr>
            <a:r>
              <a:rPr lang="en-US" sz="800" dirty="0">
                <a:solidFill>
                  <a:srgbClr val="647084"/>
                </a:solidFill>
                <a:latin typeface="Segoe UI" pitchFamily="34" charset="0"/>
                <a:ea typeface="Segoe UI" pitchFamily="34" charset="-122"/>
                <a:cs typeface="Segoe UI" pitchFamily="34" charset="-120"/>
              </a:rPr>
              <a:t>24</a:t>
            </a:r>
            <a:endParaRPr lang="en-US" sz="800" dirty="0"/>
          </a:p>
        </p:txBody>
      </p:sp>
      <p:sp>
        <p:nvSpPr>
          <p:cNvPr id="7" name="Shape 5"/>
          <p:cNvSpPr/>
          <p:nvPr/>
        </p:nvSpPr>
        <p:spPr>
          <a:xfrm>
            <a:off x="594360" y="1234440"/>
            <a:ext cx="2240280" cy="530352"/>
          </a:xfrm>
          <a:prstGeom prst="roundRect">
            <a:avLst>
              <a:gd name="adj" fmla="val 8621"/>
            </a:avLst>
          </a:prstGeom>
          <a:solidFill>
            <a:srgbClr val="EAF4F3"/>
          </a:solidFill>
          <a:ln w="12700">
            <a:solidFill>
              <a:srgbClr val="D9D3E6"/>
            </a:solidFill>
            <a:prstDash val="solid"/>
          </a:ln>
        </p:spPr>
      </p:sp>
      <p:sp>
        <p:nvSpPr>
          <p:cNvPr id="8" name="Text 6"/>
          <p:cNvSpPr/>
          <p:nvPr/>
        </p:nvSpPr>
        <p:spPr>
          <a:xfrm>
            <a:off x="777240" y="1389888"/>
            <a:ext cx="1874520" cy="164592"/>
          </a:xfrm>
          <a:prstGeom prst="rect">
            <a:avLst/>
          </a:prstGeom>
          <a:noFill/>
          <a:ln/>
        </p:spPr>
        <p:txBody>
          <a:bodyPr wrap="square" lIns="0" tIns="0" rIns="0" bIns="0" rtlCol="0" anchor="ctr"/>
          <a:lstStyle/>
          <a:p>
            <a:pPr indent="0" marL="0">
              <a:buNone/>
            </a:pPr>
            <a:r>
              <a:rPr lang="en-US" sz="1050" b="1" dirty="0">
                <a:solidFill>
                  <a:srgbClr val="172033"/>
                </a:solidFill>
                <a:latin typeface="Segoe UI Semibold" pitchFamily="34" charset="0"/>
                <a:ea typeface="Segoe UI Semibold" pitchFamily="34" charset="-122"/>
                <a:cs typeface="Segoe UI Semibold" pitchFamily="34" charset="-120"/>
              </a:rPr>
              <a:t>Reach broadening</a:t>
            </a:r>
            <a:endParaRPr lang="en-US" sz="1050" dirty="0"/>
          </a:p>
        </p:txBody>
      </p:sp>
      <p:sp>
        <p:nvSpPr>
          <p:cNvPr id="9" name="Shape 7"/>
          <p:cNvSpPr/>
          <p:nvPr/>
        </p:nvSpPr>
        <p:spPr>
          <a:xfrm>
            <a:off x="2999232" y="1234440"/>
            <a:ext cx="8577072" cy="530352"/>
          </a:xfrm>
          <a:prstGeom prst="roundRect">
            <a:avLst>
              <a:gd name="adj" fmla="val 8621"/>
            </a:avLst>
          </a:prstGeom>
          <a:solidFill>
            <a:srgbClr val="FFFFFF"/>
          </a:solidFill>
          <a:ln w="12700">
            <a:solidFill>
              <a:srgbClr val="D9D3E6"/>
            </a:solidFill>
            <a:prstDash val="solid"/>
          </a:ln>
        </p:spPr>
      </p:sp>
      <p:sp>
        <p:nvSpPr>
          <p:cNvPr id="10" name="Text 8"/>
          <p:cNvSpPr/>
          <p:nvPr/>
        </p:nvSpPr>
        <p:spPr>
          <a:xfrm>
            <a:off x="3200400" y="1362456"/>
            <a:ext cx="8183880" cy="219456"/>
          </a:xfrm>
          <a:prstGeom prst="rect">
            <a:avLst/>
          </a:prstGeom>
          <a:noFill/>
          <a:ln/>
        </p:spPr>
        <p:txBody>
          <a:bodyPr wrap="square" lIns="0" tIns="0" rIns="0" bIns="0" rtlCol="0" anchor="ctr"/>
          <a:lstStyle/>
          <a:p>
            <a:pPr indent="0" marL="0">
              <a:buNone/>
            </a:pPr>
            <a:r>
              <a:rPr lang="en-US" sz="1030" dirty="0">
                <a:solidFill>
                  <a:srgbClr val="172033"/>
                </a:solidFill>
                <a:latin typeface="Segoe UI" pitchFamily="34" charset="0"/>
                <a:ea typeface="Segoe UI" pitchFamily="34" charset="-122"/>
                <a:cs typeface="Segoe UI" pitchFamily="34" charset="-120"/>
              </a:rPr>
              <a:t>"Observed Cowork reach increased in the selected population and period."</a:t>
            </a:r>
            <a:endParaRPr lang="en-US" sz="1030" dirty="0"/>
          </a:p>
        </p:txBody>
      </p:sp>
      <p:sp>
        <p:nvSpPr>
          <p:cNvPr id="11" name="Shape 9"/>
          <p:cNvSpPr/>
          <p:nvPr/>
        </p:nvSpPr>
        <p:spPr>
          <a:xfrm>
            <a:off x="594360" y="1947672"/>
            <a:ext cx="2240280" cy="530352"/>
          </a:xfrm>
          <a:prstGeom prst="roundRect">
            <a:avLst>
              <a:gd name="adj" fmla="val 8621"/>
            </a:avLst>
          </a:prstGeom>
          <a:solidFill>
            <a:srgbClr val="EDE8F7"/>
          </a:solidFill>
          <a:ln w="12700">
            <a:solidFill>
              <a:srgbClr val="D9D3E6"/>
            </a:solidFill>
            <a:prstDash val="solid"/>
          </a:ln>
        </p:spPr>
      </p:sp>
      <p:sp>
        <p:nvSpPr>
          <p:cNvPr id="12" name="Text 10"/>
          <p:cNvSpPr/>
          <p:nvPr/>
        </p:nvSpPr>
        <p:spPr>
          <a:xfrm>
            <a:off x="777240" y="2103120"/>
            <a:ext cx="1874520" cy="164592"/>
          </a:xfrm>
          <a:prstGeom prst="rect">
            <a:avLst/>
          </a:prstGeom>
          <a:noFill/>
          <a:ln/>
        </p:spPr>
        <p:txBody>
          <a:bodyPr wrap="square" lIns="0" tIns="0" rIns="0" bIns="0" rtlCol="0" anchor="ctr"/>
          <a:lstStyle/>
          <a:p>
            <a:pPr indent="0" marL="0">
              <a:buNone/>
            </a:pPr>
            <a:r>
              <a:rPr lang="en-US" sz="1050" b="1" dirty="0">
                <a:solidFill>
                  <a:srgbClr val="172033"/>
                </a:solidFill>
                <a:latin typeface="Segoe UI Semibold" pitchFamily="34" charset="0"/>
                <a:ea typeface="Segoe UI Semibold" pitchFamily="34" charset="-122"/>
                <a:cs typeface="Segoe UI Semibold" pitchFamily="34" charset="-120"/>
              </a:rPr>
              <a:t>Sustained use</a:t>
            </a:r>
            <a:endParaRPr lang="en-US" sz="1050" dirty="0"/>
          </a:p>
        </p:txBody>
      </p:sp>
      <p:sp>
        <p:nvSpPr>
          <p:cNvPr id="13" name="Shape 11"/>
          <p:cNvSpPr/>
          <p:nvPr/>
        </p:nvSpPr>
        <p:spPr>
          <a:xfrm>
            <a:off x="2999232" y="1947672"/>
            <a:ext cx="8577072" cy="530352"/>
          </a:xfrm>
          <a:prstGeom prst="roundRect">
            <a:avLst>
              <a:gd name="adj" fmla="val 8621"/>
            </a:avLst>
          </a:prstGeom>
          <a:solidFill>
            <a:srgbClr val="FFFFFF"/>
          </a:solidFill>
          <a:ln w="12700">
            <a:solidFill>
              <a:srgbClr val="D9D3E6"/>
            </a:solidFill>
            <a:prstDash val="solid"/>
          </a:ln>
        </p:spPr>
      </p:sp>
      <p:sp>
        <p:nvSpPr>
          <p:cNvPr id="14" name="Text 12"/>
          <p:cNvSpPr/>
          <p:nvPr/>
        </p:nvSpPr>
        <p:spPr>
          <a:xfrm>
            <a:off x="3200400" y="2075688"/>
            <a:ext cx="8183880" cy="219456"/>
          </a:xfrm>
          <a:prstGeom prst="rect">
            <a:avLst/>
          </a:prstGeom>
          <a:noFill/>
          <a:ln/>
        </p:spPr>
        <p:txBody>
          <a:bodyPr wrap="square" lIns="0" tIns="0" rIns="0" bIns="0" rtlCol="0" anchor="ctr"/>
          <a:lstStyle/>
          <a:p>
            <a:pPr indent="0" marL="0">
              <a:buNone/>
            </a:pPr>
            <a:r>
              <a:rPr lang="en-US" sz="1030" dirty="0">
                <a:solidFill>
                  <a:srgbClr val="172033"/>
                </a:solidFill>
                <a:latin typeface="Segoe UI" pitchFamily="34" charset="0"/>
                <a:ea typeface="Segoe UI" pitchFamily="34" charset="-122"/>
                <a:cs typeface="Segoe UI" pitchFamily="34" charset="-120"/>
              </a:rPr>
              <a:t>"The report calculates a larger Power or Habitual share under the selected window rules."</a:t>
            </a:r>
            <a:endParaRPr lang="en-US" sz="1030" dirty="0"/>
          </a:p>
        </p:txBody>
      </p:sp>
      <p:sp>
        <p:nvSpPr>
          <p:cNvPr id="15" name="Shape 13"/>
          <p:cNvSpPr/>
          <p:nvPr/>
        </p:nvSpPr>
        <p:spPr>
          <a:xfrm>
            <a:off x="594360" y="2660904"/>
            <a:ext cx="2240280" cy="530352"/>
          </a:xfrm>
          <a:prstGeom prst="roundRect">
            <a:avLst>
              <a:gd name="adj" fmla="val 8621"/>
            </a:avLst>
          </a:prstGeom>
          <a:solidFill>
            <a:srgbClr val="EAF4F3"/>
          </a:solidFill>
          <a:ln w="12700">
            <a:solidFill>
              <a:srgbClr val="D9D3E6"/>
            </a:solidFill>
            <a:prstDash val="solid"/>
          </a:ln>
        </p:spPr>
      </p:sp>
      <p:sp>
        <p:nvSpPr>
          <p:cNvPr id="16" name="Text 14"/>
          <p:cNvSpPr/>
          <p:nvPr/>
        </p:nvSpPr>
        <p:spPr>
          <a:xfrm>
            <a:off x="777240" y="2816352"/>
            <a:ext cx="1874520" cy="164592"/>
          </a:xfrm>
          <a:prstGeom prst="rect">
            <a:avLst/>
          </a:prstGeom>
          <a:noFill/>
          <a:ln/>
        </p:spPr>
        <p:txBody>
          <a:bodyPr wrap="square" lIns="0" tIns="0" rIns="0" bIns="0" rtlCol="0" anchor="ctr"/>
          <a:lstStyle/>
          <a:p>
            <a:pPr indent="0" marL="0">
              <a:buNone/>
            </a:pPr>
            <a:r>
              <a:rPr lang="en-US" sz="1050" b="1" dirty="0">
                <a:solidFill>
                  <a:srgbClr val="172033"/>
                </a:solidFill>
                <a:latin typeface="Segoe UI Semibold" pitchFamily="34" charset="0"/>
                <a:ea typeface="Segoe UI Semibold" pitchFamily="34" charset="-122"/>
                <a:cs typeface="Segoe UI Semibold" pitchFamily="34" charset="-120"/>
              </a:rPr>
              <a:t>Department difference</a:t>
            </a:r>
            <a:endParaRPr lang="en-US" sz="1050" dirty="0"/>
          </a:p>
        </p:txBody>
      </p:sp>
      <p:sp>
        <p:nvSpPr>
          <p:cNvPr id="17" name="Shape 15"/>
          <p:cNvSpPr/>
          <p:nvPr/>
        </p:nvSpPr>
        <p:spPr>
          <a:xfrm>
            <a:off x="2999232" y="2660904"/>
            <a:ext cx="8577072" cy="530352"/>
          </a:xfrm>
          <a:prstGeom prst="roundRect">
            <a:avLst>
              <a:gd name="adj" fmla="val 8621"/>
            </a:avLst>
          </a:prstGeom>
          <a:solidFill>
            <a:srgbClr val="FFFFFF"/>
          </a:solidFill>
          <a:ln w="12700">
            <a:solidFill>
              <a:srgbClr val="D9D3E6"/>
            </a:solidFill>
            <a:prstDash val="solid"/>
          </a:ln>
        </p:spPr>
      </p:sp>
      <p:sp>
        <p:nvSpPr>
          <p:cNvPr id="18" name="Text 16"/>
          <p:cNvSpPr/>
          <p:nvPr/>
        </p:nvSpPr>
        <p:spPr>
          <a:xfrm>
            <a:off x="3200400" y="2788920"/>
            <a:ext cx="8183880" cy="219456"/>
          </a:xfrm>
          <a:prstGeom prst="rect">
            <a:avLst/>
          </a:prstGeom>
          <a:noFill/>
          <a:ln/>
        </p:spPr>
        <p:txBody>
          <a:bodyPr wrap="square" lIns="0" tIns="0" rIns="0" bIns="0" rtlCol="0" anchor="ctr"/>
          <a:lstStyle/>
          <a:p>
            <a:pPr indent="0" marL="0">
              <a:buNone/>
            </a:pPr>
            <a:r>
              <a:rPr lang="en-US" sz="1030" dirty="0">
                <a:solidFill>
                  <a:srgbClr val="172033"/>
                </a:solidFill>
                <a:latin typeface="Segoe UI" pitchFamily="34" charset="0"/>
                <a:ea typeface="Segoe UI" pitchFamily="34" charset="-122"/>
                <a:cs typeface="Segoe UI" pitchFamily="34" charset="-120"/>
              </a:rPr>
              <a:t>"The displayed group differs from the company benchmark; role and rollout context should be checked."</a:t>
            </a:r>
            <a:endParaRPr lang="en-US" sz="1030" dirty="0"/>
          </a:p>
        </p:txBody>
      </p:sp>
      <p:sp>
        <p:nvSpPr>
          <p:cNvPr id="19" name="Shape 17"/>
          <p:cNvSpPr/>
          <p:nvPr/>
        </p:nvSpPr>
        <p:spPr>
          <a:xfrm>
            <a:off x="594360" y="3374136"/>
            <a:ext cx="2240280" cy="530352"/>
          </a:xfrm>
          <a:prstGeom prst="roundRect">
            <a:avLst>
              <a:gd name="adj" fmla="val 8621"/>
            </a:avLst>
          </a:prstGeom>
          <a:solidFill>
            <a:srgbClr val="EDE8F7"/>
          </a:solidFill>
          <a:ln w="12700">
            <a:solidFill>
              <a:srgbClr val="D9D3E6"/>
            </a:solidFill>
            <a:prstDash val="solid"/>
          </a:ln>
        </p:spPr>
      </p:sp>
      <p:sp>
        <p:nvSpPr>
          <p:cNvPr id="20" name="Text 18"/>
          <p:cNvSpPr/>
          <p:nvPr/>
        </p:nvSpPr>
        <p:spPr>
          <a:xfrm>
            <a:off x="777240" y="3529584"/>
            <a:ext cx="1874520" cy="164592"/>
          </a:xfrm>
          <a:prstGeom prst="rect">
            <a:avLst/>
          </a:prstGeom>
          <a:noFill/>
          <a:ln/>
        </p:spPr>
        <p:txBody>
          <a:bodyPr wrap="square" lIns="0" tIns="0" rIns="0" bIns="0" rtlCol="0" anchor="ctr"/>
          <a:lstStyle/>
          <a:p>
            <a:pPr indent="0" marL="0">
              <a:buNone/>
            </a:pPr>
            <a:r>
              <a:rPr lang="en-US" sz="1050" b="1" dirty="0">
                <a:solidFill>
                  <a:srgbClr val="172033"/>
                </a:solidFill>
                <a:latin typeface="Segoe UI Semibold" pitchFamily="34" charset="0"/>
                <a:ea typeface="Segoe UI Semibold" pitchFamily="34" charset="-122"/>
                <a:cs typeface="Segoe UI Semibold" pitchFamily="34" charset="-120"/>
              </a:rPr>
              <a:t>Champion outreach</a:t>
            </a:r>
            <a:endParaRPr lang="en-US" sz="1050" dirty="0"/>
          </a:p>
        </p:txBody>
      </p:sp>
      <p:sp>
        <p:nvSpPr>
          <p:cNvPr id="21" name="Shape 19"/>
          <p:cNvSpPr/>
          <p:nvPr/>
        </p:nvSpPr>
        <p:spPr>
          <a:xfrm>
            <a:off x="2999232" y="3374136"/>
            <a:ext cx="8577072" cy="530352"/>
          </a:xfrm>
          <a:prstGeom prst="roundRect">
            <a:avLst>
              <a:gd name="adj" fmla="val 8621"/>
            </a:avLst>
          </a:prstGeom>
          <a:solidFill>
            <a:srgbClr val="FFFFFF"/>
          </a:solidFill>
          <a:ln w="12700">
            <a:solidFill>
              <a:srgbClr val="D9D3E6"/>
            </a:solidFill>
            <a:prstDash val="solid"/>
          </a:ln>
        </p:spPr>
      </p:sp>
      <p:sp>
        <p:nvSpPr>
          <p:cNvPr id="22" name="Text 20"/>
          <p:cNvSpPr/>
          <p:nvPr/>
        </p:nvSpPr>
        <p:spPr>
          <a:xfrm>
            <a:off x="3200400" y="3502152"/>
            <a:ext cx="8183880" cy="219456"/>
          </a:xfrm>
          <a:prstGeom prst="rect">
            <a:avLst/>
          </a:prstGeom>
          <a:noFill/>
          <a:ln/>
        </p:spPr>
        <p:txBody>
          <a:bodyPr wrap="square" lIns="0" tIns="0" rIns="0" bIns="0" rtlCol="0" anchor="ctr"/>
          <a:lstStyle/>
          <a:p>
            <a:pPr indent="0" marL="0">
              <a:buNone/>
            </a:pPr>
            <a:r>
              <a:rPr lang="en-US" sz="1030" dirty="0">
                <a:solidFill>
                  <a:srgbClr val="172033"/>
                </a:solidFill>
                <a:latin typeface="Segoe UI" pitchFamily="34" charset="0"/>
                <a:ea typeface="Segoe UI" pitchFamily="34" charset="-122"/>
                <a:cs typeface="Segoe UI" pitchFamily="34" charset="-120"/>
              </a:rPr>
              <a:t>"These users meet the sustained-use evidence rule; role fit and willingness still require confirmation."</a:t>
            </a:r>
            <a:endParaRPr lang="en-US" sz="1030" dirty="0"/>
          </a:p>
        </p:txBody>
      </p:sp>
      <p:sp>
        <p:nvSpPr>
          <p:cNvPr id="23" name="Shape 21"/>
          <p:cNvSpPr/>
          <p:nvPr/>
        </p:nvSpPr>
        <p:spPr>
          <a:xfrm>
            <a:off x="594360" y="4087368"/>
            <a:ext cx="2240280" cy="530352"/>
          </a:xfrm>
          <a:prstGeom prst="roundRect">
            <a:avLst>
              <a:gd name="adj" fmla="val 8621"/>
            </a:avLst>
          </a:prstGeom>
          <a:solidFill>
            <a:srgbClr val="EAF4F3"/>
          </a:solidFill>
          <a:ln w="12700">
            <a:solidFill>
              <a:srgbClr val="D9D3E6"/>
            </a:solidFill>
            <a:prstDash val="solid"/>
          </a:ln>
        </p:spPr>
      </p:sp>
      <p:sp>
        <p:nvSpPr>
          <p:cNvPr id="24" name="Text 22"/>
          <p:cNvSpPr/>
          <p:nvPr/>
        </p:nvSpPr>
        <p:spPr>
          <a:xfrm>
            <a:off x="777240" y="4242816"/>
            <a:ext cx="1874520" cy="164592"/>
          </a:xfrm>
          <a:prstGeom prst="rect">
            <a:avLst/>
          </a:prstGeom>
          <a:noFill/>
          <a:ln/>
        </p:spPr>
        <p:txBody>
          <a:bodyPr wrap="square" lIns="0" tIns="0" rIns="0" bIns="0" rtlCol="0" anchor="ctr"/>
          <a:lstStyle/>
          <a:p>
            <a:pPr indent="0" marL="0">
              <a:buNone/>
            </a:pPr>
            <a:r>
              <a:rPr lang="en-US" sz="1050" b="1" dirty="0">
                <a:solidFill>
                  <a:srgbClr val="172033"/>
                </a:solidFill>
                <a:latin typeface="Segoe UI Semibold" pitchFamily="34" charset="0"/>
                <a:ea typeface="Segoe UI Semibold" pitchFamily="34" charset="-122"/>
                <a:cs typeface="Segoe UI Semibold" pitchFamily="34" charset="-120"/>
              </a:rPr>
              <a:t>Consumption change</a:t>
            </a:r>
            <a:endParaRPr lang="en-US" sz="1050" dirty="0"/>
          </a:p>
        </p:txBody>
      </p:sp>
      <p:sp>
        <p:nvSpPr>
          <p:cNvPr id="25" name="Shape 23"/>
          <p:cNvSpPr/>
          <p:nvPr/>
        </p:nvSpPr>
        <p:spPr>
          <a:xfrm>
            <a:off x="2999232" y="4087368"/>
            <a:ext cx="8577072" cy="530352"/>
          </a:xfrm>
          <a:prstGeom prst="roundRect">
            <a:avLst>
              <a:gd name="adj" fmla="val 8621"/>
            </a:avLst>
          </a:prstGeom>
          <a:solidFill>
            <a:srgbClr val="FFFFFF"/>
          </a:solidFill>
          <a:ln w="12700">
            <a:solidFill>
              <a:srgbClr val="D9D3E6"/>
            </a:solidFill>
            <a:prstDash val="solid"/>
          </a:ln>
        </p:spPr>
      </p:sp>
      <p:sp>
        <p:nvSpPr>
          <p:cNvPr id="26" name="Text 24"/>
          <p:cNvSpPr/>
          <p:nvPr/>
        </p:nvSpPr>
        <p:spPr>
          <a:xfrm>
            <a:off x="3200400" y="4215384"/>
            <a:ext cx="8183880" cy="219456"/>
          </a:xfrm>
          <a:prstGeom prst="rect">
            <a:avLst/>
          </a:prstGeom>
          <a:noFill/>
          <a:ln/>
        </p:spPr>
        <p:txBody>
          <a:bodyPr wrap="square" lIns="0" tIns="0" rIns="0" bIns="0" rtlCol="0" anchor="ctr"/>
          <a:lstStyle/>
          <a:p>
            <a:pPr indent="0" marL="0">
              <a:buNone/>
            </a:pPr>
            <a:r>
              <a:rPr lang="en-US" sz="1030" dirty="0">
                <a:solidFill>
                  <a:srgbClr val="172033"/>
                </a:solidFill>
                <a:latin typeface="Segoe UI" pitchFamily="34" charset="0"/>
                <a:ea typeface="Segoe UI" pitchFamily="34" charset="-122"/>
                <a:cs typeface="Segoe UI" pitchFamily="34" charset="-120"/>
              </a:rPr>
              <a:t>"Observed sessions or credits changed; this describes usage, not value or productivity."</a:t>
            </a:r>
            <a:endParaRPr lang="en-US" sz="1030" dirty="0"/>
          </a:p>
        </p:txBody>
      </p:sp>
      <p:sp>
        <p:nvSpPr>
          <p:cNvPr id="27" name="Shape 25"/>
          <p:cNvSpPr/>
          <p:nvPr/>
        </p:nvSpPr>
        <p:spPr>
          <a:xfrm>
            <a:off x="594360" y="4800600"/>
            <a:ext cx="2240280" cy="530352"/>
          </a:xfrm>
          <a:prstGeom prst="roundRect">
            <a:avLst>
              <a:gd name="adj" fmla="val 8621"/>
            </a:avLst>
          </a:prstGeom>
          <a:solidFill>
            <a:srgbClr val="EDE8F7"/>
          </a:solidFill>
          <a:ln w="12700">
            <a:solidFill>
              <a:srgbClr val="D9D3E6"/>
            </a:solidFill>
            <a:prstDash val="solid"/>
          </a:ln>
        </p:spPr>
      </p:sp>
      <p:sp>
        <p:nvSpPr>
          <p:cNvPr id="28" name="Text 26"/>
          <p:cNvSpPr/>
          <p:nvPr/>
        </p:nvSpPr>
        <p:spPr>
          <a:xfrm>
            <a:off x="777240" y="4956048"/>
            <a:ext cx="1874520" cy="164592"/>
          </a:xfrm>
          <a:prstGeom prst="rect">
            <a:avLst/>
          </a:prstGeom>
          <a:noFill/>
          <a:ln/>
        </p:spPr>
        <p:txBody>
          <a:bodyPr wrap="square" lIns="0" tIns="0" rIns="0" bIns="0" rtlCol="0" anchor="ctr"/>
          <a:lstStyle/>
          <a:p>
            <a:pPr indent="0" marL="0">
              <a:buNone/>
            </a:pPr>
            <a:r>
              <a:rPr lang="en-US" sz="1050" b="1" dirty="0">
                <a:solidFill>
                  <a:srgbClr val="172033"/>
                </a:solidFill>
                <a:latin typeface="Segoe UI Semibold" pitchFamily="34" charset="0"/>
                <a:ea typeface="Segoe UI Semibold" pitchFamily="34" charset="-122"/>
                <a:cs typeface="Segoe UI Semibold" pitchFamily="34" charset="-120"/>
              </a:rPr>
              <a:t>Work-pattern difference</a:t>
            </a:r>
            <a:endParaRPr lang="en-US" sz="1050" dirty="0"/>
          </a:p>
        </p:txBody>
      </p:sp>
      <p:sp>
        <p:nvSpPr>
          <p:cNvPr id="29" name="Shape 27"/>
          <p:cNvSpPr/>
          <p:nvPr/>
        </p:nvSpPr>
        <p:spPr>
          <a:xfrm>
            <a:off x="2999232" y="4800600"/>
            <a:ext cx="8577072" cy="530352"/>
          </a:xfrm>
          <a:prstGeom prst="roundRect">
            <a:avLst>
              <a:gd name="adj" fmla="val 8621"/>
            </a:avLst>
          </a:prstGeom>
          <a:solidFill>
            <a:srgbClr val="FFFFFF"/>
          </a:solidFill>
          <a:ln w="12700">
            <a:solidFill>
              <a:srgbClr val="D9D3E6"/>
            </a:solidFill>
            <a:prstDash val="solid"/>
          </a:ln>
        </p:spPr>
      </p:sp>
      <p:sp>
        <p:nvSpPr>
          <p:cNvPr id="30" name="Text 28"/>
          <p:cNvSpPr/>
          <p:nvPr/>
        </p:nvSpPr>
        <p:spPr>
          <a:xfrm>
            <a:off x="3200400" y="4928616"/>
            <a:ext cx="8183880" cy="219456"/>
          </a:xfrm>
          <a:prstGeom prst="rect">
            <a:avLst/>
          </a:prstGeom>
          <a:noFill/>
          <a:ln/>
        </p:spPr>
        <p:txBody>
          <a:bodyPr wrap="square" lIns="0" tIns="0" rIns="0" bIns="0" rtlCol="0" anchor="ctr"/>
          <a:lstStyle/>
          <a:p>
            <a:pPr indent="0" marL="0">
              <a:buNone/>
            </a:pPr>
            <a:r>
              <a:rPr lang="en-US" sz="1030" dirty="0">
                <a:solidFill>
                  <a:srgbClr val="172033"/>
                </a:solidFill>
                <a:latin typeface="Segoe UI" pitchFamily="34" charset="0"/>
                <a:ea typeface="Segoe UI" pitchFamily="34" charset="-122"/>
                <a:cs typeface="Segoe UI" pitchFamily="34" charset="-120"/>
              </a:rPr>
              <a:t>"The stages differ descriptively on this pattern; no causal claim is supported."</a:t>
            </a:r>
            <a:endParaRPr lang="en-US" sz="1030" dirty="0"/>
          </a:p>
        </p:txBody>
      </p:sp>
      <p:sp>
        <p:nvSpPr>
          <p:cNvPr id="31" name="Shape 29"/>
          <p:cNvSpPr/>
          <p:nvPr/>
        </p:nvSpPr>
        <p:spPr>
          <a:xfrm>
            <a:off x="594360" y="5532120"/>
            <a:ext cx="10972800" cy="594360"/>
          </a:xfrm>
          <a:prstGeom prst="roundRect">
            <a:avLst>
              <a:gd name="adj" fmla="val 9231"/>
            </a:avLst>
          </a:prstGeom>
          <a:solidFill>
            <a:srgbClr val="311F5E"/>
          </a:solidFill>
          <a:ln w="12700">
            <a:solidFill>
              <a:srgbClr val="311F5E"/>
            </a:solidFill>
            <a:prstDash val="solid"/>
          </a:ln>
        </p:spPr>
      </p:sp>
      <p:sp>
        <p:nvSpPr>
          <p:cNvPr id="32" name="Text 30"/>
          <p:cNvSpPr/>
          <p:nvPr/>
        </p:nvSpPr>
        <p:spPr>
          <a:xfrm>
            <a:off x="914400" y="5715000"/>
            <a:ext cx="10332720" cy="201168"/>
          </a:xfrm>
          <a:prstGeom prst="rect">
            <a:avLst/>
          </a:prstGeom>
          <a:noFill/>
          <a:ln/>
        </p:spPr>
        <p:txBody>
          <a:bodyPr wrap="square" lIns="0" tIns="0" rIns="0" bIns="0" rtlCol="0" anchor="ctr"/>
          <a:lstStyle/>
          <a:p>
            <a:pPr algn="ctr" indent="0" marL="0">
              <a:buNone/>
            </a:pPr>
            <a:r>
              <a:rPr lang="en-US" sz="1300" b="1" dirty="0">
                <a:solidFill>
                  <a:srgbClr val="FFFFFF"/>
                </a:solidFill>
                <a:latin typeface="Segoe UI Semibold" pitchFamily="34" charset="0"/>
                <a:ea typeface="Segoe UI Semibold" pitchFamily="34" charset="-122"/>
                <a:cs typeface="Segoe UI Semibold" pitchFamily="34" charset="-120"/>
              </a:rPr>
              <a:t>Do not claim causality, realized savings, employee performance, or a cross-tenant benchmark.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CoworkSuperUser Interpretation Storyboard</dc:title>
  <dc:subject>CoworkSuperUser interpretation guide</dc:subject>
  <dc:creator>Microsoft</dc:creator>
  <cp:lastModifiedBy>Microsoft</cp:lastModifiedBy>
  <cp:revision>1</cp:revision>
  <dcterms:created xsi:type="dcterms:W3CDTF">2026-09-25T02:21:03Z</dcterms:created>
  <dcterms:modified xsi:type="dcterms:W3CDTF">2026-09-25T02:21:03Z</dcterms:modified>
</cp:coreProperties>
</file>